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7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프리젠테이션 Bold" charset="1" panose="00000000000000000000"/>
      <p:regular r:id="rId37"/>
    </p:embeddedFont>
    <p:embeddedFont>
      <p:font typeface="프리젠테이션 Semi-Bold" charset="1" panose="00000000000000000000"/>
      <p:regular r:id="rId39"/>
    </p:embeddedFont>
    <p:embeddedFont>
      <p:font typeface="프리젠테이션" charset="1" panose="00000000000000000000"/>
      <p:regular r:id="rId40"/>
    </p:embeddedFont>
    <p:embeddedFont>
      <p:font typeface="Arimo Bold" charset="1" panose="020B0704020202020204"/>
      <p:regular r:id="rId48"/>
    </p:embeddedFont>
    <p:embeddedFont>
      <p:font typeface="Arimo" charset="1" panose="020B0604020202020204"/>
      <p:regular r:id="rId49"/>
    </p:embeddedFont>
    <p:embeddedFont>
      <p:font typeface="DIN Next Bold" charset="1" panose="020B0803020203050203"/>
      <p:regular r:id="rId60"/>
    </p:embeddedFont>
    <p:embeddedFont>
      <p:font typeface="프리젠테이션 Ultra-Bold" charset="1" panose="00000000000000000000"/>
      <p:regular r:id="rId6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notesMaster" Target="notesMasters/notesMaster1.xml"/><Relationship Id="rId35" Type="http://schemas.openxmlformats.org/officeDocument/2006/relationships/theme" Target="theme/theme2.xml"/><Relationship Id="rId36" Type="http://schemas.openxmlformats.org/officeDocument/2006/relationships/notesSlide" Target="notesSlides/notesSlide1.xml"/><Relationship Id="rId37" Type="http://schemas.openxmlformats.org/officeDocument/2006/relationships/font" Target="fonts/font37.fntdata"/><Relationship Id="rId38" Type="http://schemas.openxmlformats.org/officeDocument/2006/relationships/notesSlide" Target="notesSlides/notesSlide2.xml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notesSlide" Target="notesSlides/notesSlide3.xml"/><Relationship Id="rId42" Type="http://schemas.openxmlformats.org/officeDocument/2006/relationships/notesSlide" Target="notesSlides/notesSlide4.xml"/><Relationship Id="rId43" Type="http://schemas.openxmlformats.org/officeDocument/2006/relationships/notesSlide" Target="notesSlides/notesSlide5.xml"/><Relationship Id="rId44" Type="http://schemas.openxmlformats.org/officeDocument/2006/relationships/notesSlide" Target="notesSlides/notesSlide6.xml"/><Relationship Id="rId45" Type="http://schemas.openxmlformats.org/officeDocument/2006/relationships/notesSlide" Target="notesSlides/notesSlide7.xml"/><Relationship Id="rId46" Type="http://schemas.openxmlformats.org/officeDocument/2006/relationships/notesSlide" Target="notesSlides/notesSlide8.xml"/><Relationship Id="rId47" Type="http://schemas.openxmlformats.org/officeDocument/2006/relationships/notesSlide" Target="notesSlides/notesSlide9.xml"/><Relationship Id="rId48" Type="http://schemas.openxmlformats.org/officeDocument/2006/relationships/font" Target="fonts/font48.fntdata"/><Relationship Id="rId49" Type="http://schemas.openxmlformats.org/officeDocument/2006/relationships/font" Target="fonts/font49.fntdata"/><Relationship Id="rId50" Type="http://schemas.openxmlformats.org/officeDocument/2006/relationships/notesSlide" Target="notesSlides/notesSlide10.xml"/><Relationship Id="rId51" Type="http://schemas.openxmlformats.org/officeDocument/2006/relationships/notesSlide" Target="notesSlides/notesSlide11.xml"/><Relationship Id="rId52" Type="http://schemas.openxmlformats.org/officeDocument/2006/relationships/notesSlide" Target="notesSlides/notesSlide12.xml"/><Relationship Id="rId53" Type="http://schemas.openxmlformats.org/officeDocument/2006/relationships/notesSlide" Target="notesSlides/notesSlide13.xml"/><Relationship Id="rId54" Type="http://schemas.openxmlformats.org/officeDocument/2006/relationships/notesSlide" Target="notesSlides/notesSlide14.xml"/><Relationship Id="rId55" Type="http://schemas.openxmlformats.org/officeDocument/2006/relationships/notesSlide" Target="notesSlides/notesSlide15.xml"/><Relationship Id="rId56" Type="http://schemas.openxmlformats.org/officeDocument/2006/relationships/notesSlide" Target="notesSlides/notesSlide16.xml"/><Relationship Id="rId57" Type="http://schemas.openxmlformats.org/officeDocument/2006/relationships/notesSlide" Target="notesSlides/notesSlide17.xml"/><Relationship Id="rId58" Type="http://schemas.openxmlformats.org/officeDocument/2006/relationships/notesSlide" Target="notesSlides/notesSlide18.xml"/><Relationship Id="rId59" Type="http://schemas.openxmlformats.org/officeDocument/2006/relationships/notesSlide" Target="notesSlides/notesSlide19.xml"/><Relationship Id="rId60" Type="http://schemas.openxmlformats.org/officeDocument/2006/relationships/font" Target="fonts/font60.fntdata"/><Relationship Id="rId61" Type="http://schemas.openxmlformats.org/officeDocument/2006/relationships/notesSlide" Target="notesSlides/notesSlide20.xml"/><Relationship Id="rId62" Type="http://schemas.openxmlformats.org/officeDocument/2006/relationships/notesSlide" Target="notesSlides/notesSlide21.xml"/><Relationship Id="rId63" Type="http://schemas.openxmlformats.org/officeDocument/2006/relationships/notesSlide" Target="notesSlides/notesSlide22.xml"/><Relationship Id="rId64" Type="http://schemas.openxmlformats.org/officeDocument/2006/relationships/notesSlide" Target="notesSlides/notesSlide23.xml"/><Relationship Id="rId65" Type="http://schemas.openxmlformats.org/officeDocument/2006/relationships/notesSlide" Target="notesSlides/notesSlide24.xml"/><Relationship Id="rId66" Type="http://schemas.openxmlformats.org/officeDocument/2006/relationships/notesSlide" Target="notesSlides/notesSlide25.xml"/><Relationship Id="rId67" Type="http://schemas.openxmlformats.org/officeDocument/2006/relationships/notesSlide" Target="notesSlides/notesSlide26.xml"/><Relationship Id="rId68" Type="http://schemas.openxmlformats.org/officeDocument/2006/relationships/font" Target="fonts/font68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안녕하세요, 여러분! 바이브코딩 기초반 2차시에 오신 걸 환영합니다.</a:t>
            </a:r>
          </a:p>
          <a:p>
            <a:r>
              <a:t>오늘의 주제는 Markdown이에요.</a:t>
            </a:r>
          </a:p>
          <a:p>
            <a:r>
              <a:t>Markdown은 우리가 AI에게 일을 시킬 때도, AI가 결과를 돌려줄 때도 가장 많이 쓰는 문서 형식입니다.</a:t>
            </a:r>
          </a:p>
          <a:p>
            <a:r>
              <a:t>오늘은 Markdown이 무엇인지 이해하고, 직접 문법을 실습한 뒤, HTML과 비교까지 해 볼 거예요.</a:t>
            </a:r>
          </a:p>
          <a:p>
            <a:r>
              <a:t>실습에서 쓸 수 있도록 지난 시간에 만든 my-intro 폴더를 미리 열어 두세요.</a:t>
            </a:r>
          </a:p>
          <a:p>
            <a:r>
              <a:t>오늘도 즐겁게 따라와 주세요.</a:t>
            </a:r>
          </a:p>
          <a:p>
            <a:r>
              <a:t>그럼 오늘 수업 순서부터 살펴볼게요.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오늘 수업은 90분 동안 네 파트로 진행됩니다.</a:t>
            </a:r>
          </a:p>
          <a:p>
            <a:r>
              <a:t>첫 번째는 Markdown 문서의 이해예요. Markdown이 무엇이고 왜 쓰는지 알아봅니다.</a:t>
            </a:r>
          </a:p>
          <a:p>
            <a:r>
              <a:t>두 번째는 문법 실습이에요. 나만의 README 문서를 직접 완성해 볼 거예요.</a:t>
            </a:r>
          </a:p>
          <a:p>
            <a:r>
              <a:t>세 번째는 Markdown과 HTML을 비교하면서, AI 결과물을 어떤 형식으로 받으면 좋을지 이야기해요.</a:t>
            </a:r>
          </a:p>
          <a:p>
            <a:r>
              <a:t>마지막은 마무리와 질의응답입니다.</a:t>
            </a:r>
          </a:p>
          <a:p>
            <a:r>
              <a:t>파트 사이마다 10분씩 쉬는 시간이 있어요.</a:t>
            </a:r>
          </a:p>
          <a:p>
            <a:r>
              <a:t>순서대로 차근차근 진행할 테니 편하게 따라와 주세요. 그럼 첫 번째 파트로 가 볼게요.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Markdown은 한마디로 '기호로 꾸미는 문서'예요.</a:t>
            </a:r>
          </a:p>
          <a:p>
            <a:r>
              <a:t>2004년에 존 그루버가 만들었고, Mark, 즉 '표시'라는 말에서 나온 이름처럼 가벼운 문법이에요.</a:t>
            </a:r>
          </a:p>
          <a:p>
            <a:r>
              <a:t>글자 앞뒤에 샵, 하이픈, 별표 같은 기호를 붙이면 제목, 목록, 굵은 글씨로 바뀝니다.</a:t>
            </a:r>
          </a:p>
          <a:p>
            <a:r>
              <a:t>원본은 그냥 텍스트라 메모장으로도 열리고, 파일 이름은 README.md처럼 .md로 끝나요.</a:t>
            </a:r>
          </a:p>
          <a:p>
            <a:r>
              <a:t>사실 ChatGPT나 Claude 답변의 굵은 글씨와 목록도 Markdown이에요.</a:t>
            </a:r>
          </a:p>
          <a:p>
            <a:r>
              <a:t>다음 장에서 왜 Markdown을 쓰는지 알아볼게요.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그렇다면 왜 Markdown을 쓸까요? 이유는 세 가지예요.</a:t>
            </a:r>
          </a:p>
          <a:p>
            <a:r>
              <a:t>첫째, 사람이 읽기 쉬워요. 미리보기 없이 원본만 봐도 제목과 목록 구조가 한눈에 들어옵니다.</a:t>
            </a:r>
          </a:p>
          <a:p>
            <a:r>
              <a:t>둘째, AI가 잘 이해해요. LLM은 기본적으로 Markdown으로 답하고, 우리가 Markdown으로 부탁하면 구조를 더 잘 파악해요.</a:t>
            </a:r>
          </a:p>
          <a:p>
            <a:r>
              <a:t>셋째, 어디서나 쓰여요. GitHub, Notion, Obsidian, 블로그 등 대부분의 도구가 지원합니다.</a:t>
            </a:r>
          </a:p>
          <a:p>
            <a:r>
              <a:t>한 번 배워 두면 계속 쓸 수 있는 셈이죠.</a:t>
            </a:r>
          </a:p>
          <a:p>
            <a:r>
              <a:t>다음 장에서 문법을 살펴볼게요.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이제 문법을 한눈에 볼게요. 가장 많이 쓰는 네 가지만 먼저 보여 드릴게요.</a:t>
            </a:r>
          </a:p>
          <a:p>
            <a:r>
              <a:t>제목은 샵 기호를 붙이는데, 샵이 많을수록 글자가 작아져요.</a:t>
            </a:r>
          </a:p>
          <a:p>
            <a:r>
              <a:t>목록은 하이픈으로 시작하고, 1. 처럼 쓰면 번호 목록이 됩니다.</a:t>
            </a:r>
          </a:p>
          <a:p>
            <a:r>
              <a:t>강조는 별표 두 개로 감싸면 굵게, 하나로 감싸면 기울임이에요.</a:t>
            </a:r>
          </a:p>
          <a:p>
            <a:r>
              <a:t>링크는 대괄호 안에 보일 글자, 소괄호 안에 주소를 넣어요.</a:t>
            </a:r>
          </a:p>
          <a:p>
            <a:r>
              <a:t>처음엔 낯설어도, 몇 번만 써 보면 기호가 금방 손에 익어요.</a:t>
            </a:r>
          </a:p>
          <a:p>
            <a:r>
              <a:t>인용, 코드, 이미지, 표 같은 나머지 문법은 실습에서 하나씩 직접 써 볼 거예요.</a:t>
            </a:r>
          </a:p>
          <a:p>
            <a:r>
              <a:t>※ 강사용: 파란 글자가 실제로 입력하는 부분임을 짚어 주세요.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그럼 Antigravity에서 .md 파일은 어떻게 쓸까요? 딱 3단계면 끝나요.</a:t>
            </a:r>
          </a:p>
          <a:p>
            <a:r>
              <a:t>먼저 IDE에서 새 파일을 만들고 이름을 README.md로 정합니다.</a:t>
            </a:r>
          </a:p>
          <a:p>
            <a:r>
              <a:t>그다음 Markdown 문법으로 내용을 작성해요.</a:t>
            </a:r>
          </a:p>
          <a:p>
            <a:r>
              <a:t>마지막으로 Ctrl+Shift+V를 누르면 새 탭에서 미리보기가 열립니다.</a:t>
            </a:r>
          </a:p>
          <a:p>
            <a:r>
              <a:t>Ctrl+K를 누른 뒤 V를 누르면 오른쪽에 나란히 띄울 수 있어요. Mac은 Ctrl 대신 Cmd예요.</a:t>
            </a:r>
          </a:p>
          <a:p>
            <a:r>
              <a:t>참고로 Antigravity 2.0의 채팅 답변이나 에이전트가 쓰는 계획서도 모두 Markdown이에요.</a:t>
            </a:r>
          </a:p>
          <a:p>
            <a:r>
              <a:t>※ 강사용: 왼쪽 박스는 실제 화면 캡처로 교체하세요.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첫 번째 파트가 끝났습니다. 10분 쉬어 갈게요.</a:t>
            </a:r>
          </a:p>
          <a:p>
            <a:r>
              <a:t>19시 30분에 다시 시작합니다.</a:t>
            </a:r>
          </a:p>
          <a:p>
            <a:r>
              <a:t>다음 파트는 IDE에서 직접 입력하는 문법 실습이에요.</a:t>
            </a:r>
          </a:p>
          <a:p>
            <a:r>
              <a:t>그래서 쉬는 동안 Antigravity IDE에서 지난 시간에 만든 my-intro 폴더를 열어 두세요.</a:t>
            </a:r>
          </a:p>
          <a:p>
            <a:r>
              <a:t>혹시 폴더가 없는 분은 바탕화면에 새 영문 폴더를 만들어서 열어도 괜찮아요.</a:t>
            </a:r>
          </a:p>
          <a:p>
            <a:r>
              <a:t>준비가 끝났다면 물도 한 잔 드시고, 편하게 쉬다 오세요!</a:t>
            </a:r>
          </a:p>
          <a:p>
            <a:r>
              <a:t>쉬는 동안 궁금했던 점이 있으면 운영진에게 편하게 물어봐 주세요. 19시 30분에 문법 실습으로 다시 만나요.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다시 시작하겠습니다. 두 번째 파트는 문법 실습이에요.</a:t>
            </a:r>
          </a:p>
          <a:p>
            <a:r>
              <a:t>약 30분 동안 my-intro 폴더에 README.md를 만들고, 나만의 소개 문서를 완성해 봅니다.</a:t>
            </a:r>
          </a:p>
          <a:p>
            <a:r>
              <a:t>구조, 스타일, 링크와 이미지, 표와 수식, 이렇게 4단계로 문법을 하나씩 추가해 나갈 거예요.</a:t>
            </a:r>
          </a:p>
          <a:p>
            <a:r>
              <a:t>모든 단계에서 Ctrl+K, V로 미리보기를 옆에 띄워 두고, 쓰자마자 바로 확인해 주세요.</a:t>
            </a:r>
          </a:p>
          <a:p>
            <a:r>
              <a:t>틀려도 괜찮아요. 미리보기로 바로 확인하고 고치면 됩니다.</a:t>
            </a:r>
          </a:p>
          <a:p>
            <a:r>
              <a:t>직접 써 보면 문법이 금방 손에 익을 거예요. 그럼 실습 1부터 시작해 볼게요.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실습 1은 문서 구조 만들기예요.</a:t>
            </a:r>
          </a:p>
          <a:p>
            <a:r>
              <a:t>IDE에서 my-intro 폴더에 README.md 파일을 만들고, 예시 내용을 직접 타이핑해 보세요. 복사보다 직접 치는 게 훨씬 잘 익어요.</a:t>
            </a:r>
          </a:p>
          <a:p>
            <a:r>
              <a:t>규칙은 네 가지예요. 샵 개수가 제목 크기, 하이픈이나 1.은 목록, 꺾쇠는 인용구, 빈 줄은 단락 나누기입니다.</a:t>
            </a:r>
          </a:p>
          <a:p>
            <a:r>
              <a:t>샵 뒤에는 꼭 한 칸 띄우고, 하위 목록은 스페이스 두 칸으로 들여 써요.</a:t>
            </a:r>
          </a:p>
          <a:p>
            <a:r>
              <a:t>이름과 내용은 내 정보로 바꿔 주세요.</a:t>
            </a:r>
          </a:p>
          <a:p>
            <a:r>
              <a:t>다 쓰면 미리보기에서 제목 크기와 목록이 잘 보이는지 확인해 보세요.</a:t>
            </a:r>
          </a:p>
          <a:p>
            <a:r>
              <a:t>※ 강사용: 약 7분. # 뒤 띄어쓰기를 빼면 어떻게 되는지도 실험해 보게 하세요.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실습 2는 텍스트 꾸미기예요. 기호로 글자 양쪽을 감싸는 방식이에요.</a:t>
            </a:r>
          </a:p>
          <a:p>
            <a:r>
              <a:t>별표 두 개는 굵게, 하나는 기울임, 물결표 두 개는 취소선, 백틱은 코드 표시예요.</a:t>
            </a:r>
          </a:p>
          <a:p>
            <a:r>
              <a:t>백틱이 많이 헷갈리는데, 숫자 1 왼쪽에 있는 키예요.</a:t>
            </a:r>
          </a:p>
          <a:p>
            <a:r>
              <a:t>백틱 세 개로 감싸면 여러 줄 코드 블록이 되고, 뒤에 python처럼 언어 이름을 쓰면 색이 칠해져요.</a:t>
            </a:r>
          </a:p>
          <a:p>
            <a:r>
              <a:t>이 코드 블록은 나중에 AI가 코드를 보여줄 때 쓰는 형식과 같아요.</a:t>
            </a:r>
          </a:p>
          <a:p>
            <a:r>
              <a:t>README.md에 이어서 써 보세요.</a:t>
            </a:r>
          </a:p>
          <a:p>
            <a:r>
              <a:t>다 쓰면 미리보기에서 글자 모양이 잘 바뀌었는지 확인해 주세요.</a:t>
            </a:r>
          </a:p>
          <a:p>
            <a:r>
              <a:t>※ 강사용: 약 7분. 백틱 키 위치를 키보드로 직접 보여 주세요.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실습 3은 링크와 이미지예요.</a:t>
            </a:r>
          </a:p>
          <a:p>
            <a:r>
              <a:t>링크는 대괄호에 보일 글자, 소괄호에 주소를 써요.</a:t>
            </a:r>
          </a:p>
          <a:p>
            <a:r>
              <a:t>이미지도 모양이 거의 같은데, 맨 앞에 느낌표 하나가 붙는다는 차이뿐이에요.</a:t>
            </a:r>
          </a:p>
          <a:p>
            <a:r>
              <a:t>대괄호 안 설명은 이미지가 안 뜰 때 대신 보이는 글자예요.</a:t>
            </a:r>
          </a:p>
          <a:p>
            <a:r>
              <a:t>내 사진을 my-intro 폴더에 넣고 이름을 me.png로 바꾸면 바로 보입니다.</a:t>
            </a:r>
          </a:p>
          <a:p>
            <a:r>
              <a:t>사진이 없다면 picsum.photos 주소로 임의 풍경 사진을 띄워 보세요.</a:t>
            </a:r>
          </a:p>
          <a:p>
            <a:r>
              <a:t>웹 이미지는 주소를 그대로 넣으면 돼요.</a:t>
            </a:r>
          </a:p>
          <a:p>
            <a:r>
              <a:t>미리보기에서 링크를 클릭해 이동하는지도 확인해 보세요.</a:t>
            </a:r>
          </a:p>
          <a:p>
            <a:r>
              <a:t>※ 강사용: 약 7분.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실습 4는 표와 수식이에요.</a:t>
            </a:r>
          </a:p>
          <a:p>
            <a:r>
              <a:t>표는 세로선으로 칸을 나누고, 두 번째 줄의 하이픈 세 개가 머리행과 내용을 구분해요.</a:t>
            </a:r>
          </a:p>
          <a:p>
            <a:r>
              <a:t>콜론 위치로 정렬을 바꿀 수 있어요. 양쪽에 콜론이면 가운데, 오른쪽에만 있으면 오른쪽 정렬이에요.</a:t>
            </a:r>
          </a:p>
          <a:p>
            <a:r>
              <a:t>수식은 달러 기호로 감싸는 LaTeX 문법이에요. 두 개로 감싸면 가운데 큰 수식이 됩니다.</a:t>
            </a:r>
          </a:p>
          <a:p>
            <a:r>
              <a:t>어렵게 느껴지면 '이런 것도 된다' 정도로만 알아 두세요. 표나 수식은 AI에게 맡겨도 괜찮아요.</a:t>
            </a:r>
          </a:p>
          <a:p>
            <a:r>
              <a:t>다 쓰면 미리보기에서 표 정렬이 어떻게 바뀌는지 확인해 보세요.</a:t>
            </a:r>
          </a:p>
          <a:p>
            <a:r>
              <a:t>※ 강사용: 약 7분. 수식은 미리보기로 결과만 확인시켜도 충분합니다.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시간이 남는 분을 위한 보너스예요. 직접 쓴 README를 AI에게 다듬어 달라고 해 봅시다.</a:t>
            </a:r>
          </a:p>
          <a:p>
            <a:r>
              <a:t>Antigravity 2.0 채팅창에 화면의 프롬프트를 입력하고, 바뀐 부분을 IDE에서 확인해 보세요.</a:t>
            </a:r>
          </a:p>
          <a:p>
            <a:r>
              <a:t>핵심은 마지막 줄이에요. "사용한 문법을 하나씩 설명해줘"라고 하면 AI를 선생님처럼 쓸 수 있어요.</a:t>
            </a:r>
          </a:p>
          <a:p>
            <a:r>
              <a:t>시작 전에 원본은 미리 복사해 두고, 마음에 안 들면 되돌려 달라고 요청하면 됩니다.</a:t>
            </a:r>
          </a:p>
          <a:p>
            <a:r>
              <a:t>IDE에서 바뀐 줄을 비교해 보면 새로운 문법도 자연스럽게 배울 수 있어요.</a:t>
            </a:r>
          </a:p>
          <a:p>
            <a:r>
              <a:t>완성본은 단톡방에 공유해 주세요!</a:t>
            </a:r>
          </a:p>
          <a:p>
            <a:r>
              <a:t>※ 강사용: 남는 시간에 진행하는 선택 실습입니다.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오늘 실습한 문법을 한 장으로 정리한 치트시트예요.</a:t>
            </a:r>
          </a:p>
          <a:p>
            <a:r>
              <a:t>첫째, 문서 구조는 샵 제목, 꺾쇠 인용, 하이픈과 번호 목록이에요.</a:t>
            </a:r>
          </a:p>
          <a:p>
            <a:r>
              <a:t>둘째, 텍스트 스타일은 굵게, 기울임, 취소선, 코드와 코드 블록이고요.</a:t>
            </a:r>
          </a:p>
          <a:p>
            <a:r>
              <a:t>셋째, 링크와 이미지는 느낌표 하나 차이, 넷째, 표는 세로선과 하이픈, 수식은 달러 기호예요.</a:t>
            </a:r>
          </a:p>
          <a:p>
            <a:r>
              <a:t>이 슬라이드는 캡처해 두셔도 좋고, 노션 교재에서도 다시 볼 수 있어요.</a:t>
            </a:r>
          </a:p>
          <a:p>
            <a:r>
              <a:t>다 외울 필요는 없어요. 기억이 안 나면 AI에게 물어보면 됩니다.</a:t>
            </a:r>
          </a:p>
          <a:p>
            <a:r>
              <a:t>그럼 여기서 두 번째 파트를 마치고 잠시 쉬어 갈게요.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모두 수고하셨어요! 10분 쉬어 가겠습니다.</a:t>
            </a:r>
          </a:p>
          <a:p>
            <a:r>
              <a:t>20시 10분에 다시 시작할게요.</a:t>
            </a:r>
          </a:p>
          <a:p>
            <a:r>
              <a:t>다음 파트는 Markdown과 HTML을 비교하는 토론 시간이에요.</a:t>
            </a:r>
          </a:p>
          <a:p>
            <a:r>
              <a:t>쉬는 동안 한 가지만 생각해 봐 주세요. AI가 만든 결과물을 나는 어떤 형식으로 받고 싶은지요.</a:t>
            </a:r>
          </a:p>
          <a:p>
            <a:r>
              <a:t>토론에는 정답이 없으니 부담 없이 떠올려 보세요.</a:t>
            </a:r>
          </a:p>
          <a:p>
            <a:r>
              <a:t>README를 아직 다 못 끝낸 분은 이 시간에 마무리하셔도 좋아요.</a:t>
            </a:r>
          </a:p>
          <a:p>
            <a:r>
              <a:t>막힌 부분이 있으면 편하게 물어봐 주세요.</a:t>
            </a:r>
          </a:p>
          <a:p>
            <a:r>
              <a:t>쉬는 동안 옆 사람과 생각을 나눠 봐도 좋아요. 그럼 잠시 후에 토론 파트로 다시 만나요.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다시 시작하겠습니다. 세 번째 파트는 Markdown vs HTML이에요.</a:t>
            </a:r>
          </a:p>
          <a:p>
            <a:r>
              <a:t>약 10분 동안 토론과 HTML 보고서 데모를 진행합니다.</a:t>
            </a:r>
          </a:p>
          <a:p>
            <a:r>
              <a:t>주제는 'AI 결과물은 어떤 형식으로 받을까?'예요.</a:t>
            </a:r>
          </a:p>
          <a:p>
            <a:r>
              <a:t>이건 정답이 있는 주제가 아니에요. 먼저 여러분의 의견을 들어 보고, 그다음 제 생각과 실제로 쓰는 HTML 보고서 예시를 보여 드릴게요.</a:t>
            </a:r>
          </a:p>
          <a:p>
            <a:r>
              <a:t>편하게 자기 생각을 말해 주시면 돼요.</a:t>
            </a:r>
          </a:p>
          <a:p>
            <a:r>
              <a:t>여러분이 평소 AI 답변을 어떤 형태로 받아 왔는지 떠올려 보면 좋아요.</a:t>
            </a:r>
          </a:p>
          <a:p>
            <a:r>
              <a:t>그럼 두 가지 선택지부터 살펴볼게요.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AI 에이전트가 일을 끝내면 계획서, 보고서, 정리 문서 같은 결과물을 남겨요.</a:t>
            </a:r>
          </a:p>
          <a:p>
            <a:r>
              <a:t>이 결과물을 받는 형식은 크게 두 가지예요.</a:t>
            </a:r>
          </a:p>
          <a:p>
            <a:r>
              <a:t>하나는 Markdown, 즉 .md 텍스트 문서이고, 다른 하나는 HTML, 즉 .html 웹페이지 보고서예요.</a:t>
            </a:r>
          </a:p>
          <a:p>
            <a:r>
              <a:t>사실 AI는 둘 다 잘 만들어요.</a:t>
            </a:r>
          </a:p>
          <a:p>
            <a:r>
              <a:t>그래서 관건은 '누가, 얼마나' 읽느냐예요. 나 혼자 보는지, 팀이 보는지, AI가 다시 읽는지에 따라 달라지죠.</a:t>
            </a:r>
          </a:p>
          <a:p>
            <a:r>
              <a:t>결국 상황에 따라 골라 쓰는 게 핵심이에요.</a:t>
            </a:r>
          </a:p>
          <a:p>
            <a:r>
              <a:t>그럼 두 형식을 항목별로 비교해 볼게요.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두 형식을 항목별로 비교해 볼게요.</a:t>
            </a:r>
          </a:p>
          <a:p>
            <a:r>
              <a:t>사람이 읽기에는 Markdown은 원본만 봐도 괜찮지만, HTML은 브라우저로 열어야 보기 좋아요.</a:t>
            </a:r>
          </a:p>
          <a:p>
            <a:r>
              <a:t>AI가 다루기에는 Markdown이 가볍고 정확해요. HTML은 태그가 많아 길고 무거워요.</a:t>
            </a:r>
          </a:p>
          <a:p>
            <a:r>
              <a:t>변경 추적도 Markdown은 한 줄씩 비교하기 쉽지만, HTML은 코드가 섞여 Git으로 비교하기 어렵습니다.</a:t>
            </a:r>
          </a:p>
          <a:p>
            <a:r>
              <a:t>반면 시각적 보고는 카드, 색, 차트를 쓸 수 있는 HTML이 훨씬 강해요.</a:t>
            </a:r>
          </a:p>
          <a:p>
            <a:r>
              <a:t>즉, 기록과 추적에는 Markdown, 시각적 보고에는 HTML이 강하다고 정리할 수 있어요.</a:t>
            </a:r>
          </a:p>
          <a:p>
            <a:r>
              <a:t>※ 강사용: Git은 7차시에서 다시 나오니 '파일 변경 이력을 기록하는 도구' 정도로만 소개하세요.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이제 토론 타임이에요. AI 결과물, Markdown과 HTML 중 여러분의 선택은 무엇인가요?</a:t>
            </a:r>
          </a:p>
          <a:p>
            <a:r>
              <a:t>나는 어떤 상황에서 어떤 형식이 좋을지 옆 사람과 1분 정도 이야기해 보세요.</a:t>
            </a:r>
          </a:p>
          <a:p>
            <a:r>
              <a:t>예를 들어 팀장님께 보고한다면 어떨까요? 내 공부 노트라면요? AI에게 다시 읽힐 문서라면요?</a:t>
            </a:r>
          </a:p>
          <a:p>
            <a:r>
              <a:t>상황을 바꿔 보면 답이 달라질 거예요.</a:t>
            </a:r>
          </a:p>
          <a:p>
            <a:r>
              <a:t>같은 사람이라도 읽는 사람과 목적에 따라 선택이 바뀔 수 있어요.</a:t>
            </a:r>
          </a:p>
          <a:p>
            <a:r>
              <a:t>정답은 없으니 편하게 이야기해 주세요.</a:t>
            </a:r>
          </a:p>
          <a:p>
            <a:r>
              <a:t>1분 뒤에 두세 분께 의견을 들어 볼게요.</a:t>
            </a:r>
          </a:p>
          <a:p>
            <a:r>
              <a:t>그럼 1분 시작할게요!</a:t>
            </a:r>
          </a:p>
          <a:p>
            <a:r>
              <a:t>※ 강사용: 토론은 약 4분. 발표는 2~3명만 받습니다.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이제 제 생각을 말씀드릴게요. 한 줄 결론은 '평소 기록과 추적은 Markdown, 양이 많은 결과 보고는 HTML'이에요.</a:t>
            </a:r>
          </a:p>
          <a:p>
            <a:r>
              <a:t>첫째, 기록과 추적은 Markdown이 좋아요. 사람과 AI 모두 읽기 좋고 Git으로 변경 추적도 쉬워요.</a:t>
            </a:r>
          </a:p>
          <a:p>
            <a:r>
              <a:t>둘째, 가벼운 노트도 Markdown이에요. Obsidian 같은 Markdown 기반 노트 앱은 AI가 최소한으로 관여하는 작업에 딱 맞아요.</a:t>
            </a:r>
          </a:p>
          <a:p>
            <a:r>
              <a:t>셋째, 결과물이 너무 많아 다 읽기 힘들 때는 HTML 한 장으로 요약해 받는 게 좋습니다.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그럼 HTML 보고서는 어떻게 구성하면 좋을까요? 제가 실제로 쓰는 방식이에요.</a:t>
            </a:r>
          </a:p>
          <a:p>
            <a:r>
              <a:t>첫째, AI가 작업한 파일 목록을 요약하고 핵심 키워드를 뽑아 재료를 만들어요.</a:t>
            </a:r>
          </a:p>
          <a:p>
            <a:r>
              <a:t>둘째, 맨 위 큰 영역인 히어로 섹션에 핵심 내용을 3줄로 요약해요.</a:t>
            </a:r>
          </a:p>
          <a:p>
            <a:r>
              <a:t>셋째, 키워드를 그룹으로 묶어 카드 그리드로 배치합니다.</a:t>
            </a:r>
          </a:p>
          <a:p>
            <a:r>
              <a:t>넷째, 추가, 수정, 삭제된 파일을 맨 아래 리스트로 정리해요.</a:t>
            </a:r>
          </a:p>
          <a:p>
            <a:r>
              <a:t>핵심은 보는 사람이 한눈에 파악할 수 있도록 시각적으로 구성하는 거예요.</a:t>
            </a:r>
          </a:p>
          <a:p>
            <a:r>
              <a:t>다음 장에서 이 구성을 실제 프롬프트로 바꿔 볼게요.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방금 본 구성을 그대로 프롬프트로 옮기면 이렇게 돼요.</a:t>
            </a:r>
          </a:p>
          <a:p>
            <a:r>
              <a:t>작업이 끝나면 에이전트에게 오늘 작업한 내용을 report.html 한 파일로 정리해 달라고 요청해요.</a:t>
            </a:r>
          </a:p>
          <a:p>
            <a:r>
              <a:t>히어로 요약, 키워드 카드, 파일 목록 표까지 앞의 4단계가 그대로 들어가 있죠.</a:t>
            </a:r>
          </a:p>
          <a:p>
            <a:r>
              <a:t>완성된 report.html은 브라우저로 열어 보고, 세부 내용은 .md 파일로 확인하면 됩니다.</a:t>
            </a:r>
          </a:p>
          <a:p>
            <a:r>
              <a:t>보고용은 HTML, 기록용은 Markdown이에요. 원본 .md는 지우지 말고 보관하세요.</a:t>
            </a:r>
          </a:p>
          <a:p>
            <a:r>
              <a:t>8차시 미니 프로젝트에서도 활용할 거예요.</a:t>
            </a:r>
          </a:p>
          <a:p>
            <a:r>
              <a:t>※ 강사용: 미리 작업해 둔 프로젝트에서 실행해 보여 주고, 시간이 부족하면 미리 만든 예시 파일로 대체하세요.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오늘 배운 것을 정리해 볼게요.</a:t>
            </a:r>
          </a:p>
          <a:p>
            <a:r>
              <a:t>첫째, Markdown은 샵, 별표, 하이픈, 괄호 같은 기호로 꾸미는 문서예요.</a:t>
            </a:r>
          </a:p>
          <a:p>
            <a:r>
              <a:t>둘째, 구조, 스타일, 링크, 표의 4단계로 나만의 README.md를 완성했어요.</a:t>
            </a:r>
          </a:p>
          <a:p>
            <a:r>
              <a:t>오늘 만든 README.md는 앞으로 모든 프로젝트의 기본 문서가 될 거예요.</a:t>
            </a:r>
          </a:p>
          <a:p>
            <a:r>
              <a:t>셋째, AI 결과물은 상황에 맞게 골라요. 기록과 추적은 Markdown, 양이 많은 보고는 HTML이에요.</a:t>
            </a:r>
          </a:p>
          <a:p>
            <a:r>
              <a:t>이 세 가지만 기억해도 오늘 수업은 성공입니다.</a:t>
            </a:r>
          </a:p>
          <a:p>
            <a:r>
              <a:t>다음 장에서 3차시 내용을 미리 살펴볼게요.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다음 3차시 예고입니다. 주제는 AI에게 '잘' 시키는 방법이에요.</a:t>
            </a:r>
          </a:p>
          <a:p>
            <a:r>
              <a:t>첫째, 프롬프트 엔지니어링은 무엇을 어떻게 말할지 배우는 거예요.</a:t>
            </a:r>
          </a:p>
          <a:p>
            <a:r>
              <a:t>둘째, 컨텍스트 엔지니어링은 AI에게 어떤 자료를 줄지 다뤄요.</a:t>
            </a:r>
          </a:p>
          <a:p>
            <a:r>
              <a:t>셋째, 하네스와 루프 엔지니어링은 AI가 스스로 반복하며 일하도록 구조를 짜는 법이에요.</a:t>
            </a:r>
          </a:p>
          <a:p>
            <a:r>
              <a:t>프롬프트와 규칙 파일은 대부분 Markdown으로 쓰기 때문에 오늘 배운 문법이 바로 쓰여요.</a:t>
            </a:r>
          </a:p>
          <a:p>
            <a:r>
              <a:t>3차시부터는 AI를 훨씬 더 똑똑하게 활용할 수 있게 될 거예요.</a:t>
            </a:r>
          </a:p>
          <a:p>
            <a:r>
              <a:t>약 90분 수업이고, 노트북을 꼭 가져와 주세요.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이제 질의응답 시간입니다. 오늘 수업에서 궁금한 점이 있으면 편하게 질문해 주세요.</a:t>
            </a:r>
          </a:p>
          <a:p>
            <a:r>
              <a:t>실습하면서 README가 미리보기에서 깨졌던 부분이나, 표와 수식 문법처럼 헷갈렸던 부분도 좋아요.</a:t>
            </a:r>
          </a:p>
          <a:p>
            <a:r>
              <a:t>사소한 질문도 괜찮아요. 내가 궁금한 건 옆 사람도 궁금한 경우가 많거든요.</a:t>
            </a:r>
          </a:p>
          <a:p>
            <a:r>
              <a:t>지금 묻기 어렵다면 수업이 끝난 뒤 단톡방에 언제든 남겨 주세요.</a:t>
            </a:r>
          </a:p>
          <a:p>
            <a:r>
              <a:t>오늘 강의 자료는 노션과 GitHub에서 다시 볼 수 있어요.</a:t>
            </a:r>
          </a:p>
          <a:p>
            <a:r>
              <a:t>혹시 README 작업이 아직 남았다면 해크닉 전에 함께 봐 드릴게요.</a:t>
            </a:r>
          </a:p>
          <a:p>
            <a:r>
              <a:t>질문이 끝나면 오늘 수업을 마무리할게요.</a:t>
            </a:r>
          </a:p>
          <a:p>
            <a:r>
              <a:t>※ 강사용: 약 5분. 질문이 없으면 '오늘 가장 유용했던 문법 하나'를 2~3명에게 물어보세요.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오늘 수업은 여기까지입니다. 90분 동안 정말 수고 많으셨어요!</a:t>
            </a:r>
          </a:p>
          <a:p>
            <a:r>
              <a:t>오늘은 기호 몇 개로 문서를 꾸미는 Markdown을 배우고, 나만의 README.md까지 직접 완성했어요.</a:t>
            </a:r>
          </a:p>
          <a:p>
            <a:r>
              <a:t>처음엔 기호가 낯설었겠지만, 이제 AI의 답변이 어떻게 만들어지는지 조금은 보이실 거예요.</a:t>
            </a:r>
          </a:p>
          <a:p>
            <a:r>
              <a:t>완성한 README.md나 미리보기 화면을 캡처해서 단톡방에 공유해 주세요. 서로의 결과물을 보는 것도 좋은 공부가 돼요.</a:t>
            </a:r>
          </a:p>
          <a:p>
            <a:r>
              <a:t>이제 해크닉 시간이에요! 편하게 즐겨 주세요.</a:t>
            </a:r>
          </a:p>
          <a:p>
            <a:r>
              <a:t>그럼 3차시에 만나요. 감사합니다!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그럼 첫 번째 파트, Markdown 이해부터 시작하겠습니다.</a:t>
            </a:r>
          </a:p>
          <a:p>
            <a:r>
              <a:t>이 파트는 약 20분 동안 진행해요.</a:t>
            </a:r>
          </a:p>
          <a:p>
            <a:r>
              <a:t>먼저 Markdown이 무엇인지, 그리고 왜 요즘 이렇게 많이 쓰이는지 알아볼게요.</a:t>
            </a:r>
          </a:p>
          <a:p>
            <a:r>
              <a:t>그다음 자주 쓰는 문법을 한눈에 정리해 보고, Antigravity에서 Markdown 파일을 쓰고 미리 보는 방법까지 확인합니다.</a:t>
            </a:r>
          </a:p>
          <a:p>
            <a:r>
              <a:t>여기서 배운 내용을 다음 파트 실습에서 바로 써먹을 거예요.</a:t>
            </a:r>
          </a:p>
          <a:p>
            <a:r>
              <a:t>문법이 처음이라도 걱정하지 마세요. 생각보다 훨씬 간단해요.</a:t>
            </a:r>
          </a:p>
          <a:p>
            <a:r>
              <a:t>그럼 먼저 오늘의 시간표부터 확인해 볼게요.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오늘의 시간표를 볼게요.</a:t>
            </a:r>
          </a:p>
          <a:p>
            <a:r>
              <a:t>19시부터 20분 동안 Markdown이 무엇인지 배우고, 10분 쉬어 갑니다.</a:t>
            </a:r>
          </a:p>
          <a:p>
            <a:r>
              <a:t>19시 30분부터 30분 동안은 나의 README.md를 완성하는 문법 실습을 해요. 구조, 스타일, 링크, 표 순서로 진행합니다.</a:t>
            </a:r>
          </a:p>
          <a:p>
            <a:r>
              <a:t>다시 10분 쉬고, 20시 10분부터 Markdown과 HTML을 비교하는 토론과 HTML 보고서 데모를 봐요.</a:t>
            </a:r>
          </a:p>
          <a:p>
            <a:r>
              <a:t>마지막 10분은 질의응답이고, 수업이 끝나면 해크닉이 이어집니다!</a:t>
            </a:r>
          </a:p>
          <a:p>
            <a:r>
              <a:t>지금은 전체 흐름만 기억해 두시면 돼요. 그럼 Markdown이 무엇인지부터 알아볼게요.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notesSlide" Target="../notesSlides/notesSlide2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2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jpe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image" Target="../media/image14.png"/><Relationship Id="rId9" Type="http://schemas.openxmlformats.org/officeDocument/2006/relationships/image" Target="../media/image1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16.png"/><Relationship Id="rId6" Type="http://schemas.openxmlformats.org/officeDocument/2006/relationships/image" Target="../media/image17.svg"/><Relationship Id="rId7" Type="http://schemas.openxmlformats.org/officeDocument/2006/relationships/image" Target="../media/image18.png"/><Relationship Id="rId8" Type="http://schemas.openxmlformats.org/officeDocument/2006/relationships/image" Target="../media/image19.svg"/><Relationship Id="rId9" Type="http://schemas.openxmlformats.org/officeDocument/2006/relationships/image" Target="../media/image20.png"/><Relationship Id="rId10" Type="http://schemas.openxmlformats.org/officeDocument/2006/relationships/image" Target="../media/image21.svg"/><Relationship Id="rId11" Type="http://schemas.openxmlformats.org/officeDocument/2006/relationships/image" Target="../media/image22.png"/><Relationship Id="rId12" Type="http://schemas.openxmlformats.org/officeDocument/2006/relationships/image" Target="../media/image23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2.png"/><Relationship Id="rId6" Type="http://schemas.openxmlformats.org/officeDocument/2006/relationships/image" Target="../media/image13.svg"/><Relationship Id="rId7" Type="http://schemas.openxmlformats.org/officeDocument/2006/relationships/image" Target="../media/image14.png"/><Relationship Id="rId8" Type="http://schemas.openxmlformats.org/officeDocument/2006/relationships/image" Target="../media/image15.svg"/><Relationship Id="rId9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25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2.png"/><Relationship Id="rId6" Type="http://schemas.openxmlformats.org/officeDocument/2006/relationships/image" Target="../media/image13.svg"/><Relationship Id="rId7" Type="http://schemas.openxmlformats.org/officeDocument/2006/relationships/image" Target="../media/image14.png"/><Relationship Id="rId8" Type="http://schemas.openxmlformats.org/officeDocument/2006/relationships/image" Target="../media/image15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2.png"/><Relationship Id="rId6" Type="http://schemas.openxmlformats.org/officeDocument/2006/relationships/image" Target="../media/image13.svg"/><Relationship Id="rId7" Type="http://schemas.openxmlformats.org/officeDocument/2006/relationships/image" Target="../media/image14.png"/><Relationship Id="rId8" Type="http://schemas.openxmlformats.org/officeDocument/2006/relationships/image" Target="../media/image15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2.png"/><Relationship Id="rId6" Type="http://schemas.openxmlformats.org/officeDocument/2006/relationships/image" Target="../media/image13.svg"/><Relationship Id="rId7" Type="http://schemas.openxmlformats.org/officeDocument/2006/relationships/image" Target="../media/image14.png"/><Relationship Id="rId8" Type="http://schemas.openxmlformats.org/officeDocument/2006/relationships/image" Target="../media/image15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2.png"/><Relationship Id="rId6" Type="http://schemas.openxmlformats.org/officeDocument/2006/relationships/image" Target="../media/image13.svg"/><Relationship Id="rId7" Type="http://schemas.openxmlformats.org/officeDocument/2006/relationships/image" Target="../media/image14.png"/><Relationship Id="rId8" Type="http://schemas.openxmlformats.org/officeDocument/2006/relationships/image" Target="../media/image15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2.png"/><Relationship Id="rId6" Type="http://schemas.openxmlformats.org/officeDocument/2006/relationships/image" Target="../media/image13.svg"/><Relationship Id="rId7" Type="http://schemas.openxmlformats.org/officeDocument/2006/relationships/image" Target="../media/image14.png"/><Relationship Id="rId8" Type="http://schemas.openxmlformats.org/officeDocument/2006/relationships/image" Target="../media/image15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26.png"/><Relationship Id="rId6" Type="http://schemas.openxmlformats.org/officeDocument/2006/relationships/image" Target="../media/image27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25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28.jpe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image" Target="../media/image14.png"/><Relationship Id="rId9" Type="http://schemas.openxmlformats.org/officeDocument/2006/relationships/image" Target="../media/image15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29.png"/><Relationship Id="rId6" Type="http://schemas.openxmlformats.org/officeDocument/2006/relationships/image" Target="../media/image30.svg"/><Relationship Id="rId7" Type="http://schemas.openxmlformats.org/officeDocument/2006/relationships/image" Target="../media/image31.png"/><Relationship Id="rId8" Type="http://schemas.openxmlformats.org/officeDocument/2006/relationships/image" Target="../media/image32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33.png"/><Relationship Id="rId6" Type="http://schemas.openxmlformats.org/officeDocument/2006/relationships/image" Target="../media/image34.svg"/><Relationship Id="rId7" Type="http://schemas.openxmlformats.org/officeDocument/2006/relationships/image" Target="../media/image35.png"/><Relationship Id="rId8" Type="http://schemas.openxmlformats.org/officeDocument/2006/relationships/image" Target="../media/image36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26.png"/><Relationship Id="rId6" Type="http://schemas.openxmlformats.org/officeDocument/2006/relationships/image" Target="../media/image27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2.png"/><Relationship Id="rId6" Type="http://schemas.openxmlformats.org/officeDocument/2006/relationships/image" Target="../media/image13.svg"/><Relationship Id="rId7" Type="http://schemas.openxmlformats.org/officeDocument/2006/relationships/image" Target="../media/image14.png"/><Relationship Id="rId8" Type="http://schemas.openxmlformats.org/officeDocument/2006/relationships/image" Target="../media/image15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16.png"/><Relationship Id="rId6" Type="http://schemas.openxmlformats.org/officeDocument/2006/relationships/image" Target="../media/image17.svg"/><Relationship Id="rId7" Type="http://schemas.openxmlformats.org/officeDocument/2006/relationships/image" Target="../media/image18.png"/><Relationship Id="rId8" Type="http://schemas.openxmlformats.org/officeDocument/2006/relationships/image" Target="../media/image19.svg"/><Relationship Id="rId9" Type="http://schemas.openxmlformats.org/officeDocument/2006/relationships/image" Target="../media/image20.png"/><Relationship Id="rId10" Type="http://schemas.openxmlformats.org/officeDocument/2006/relationships/image" Target="../media/image21.svg"/><Relationship Id="rId11" Type="http://schemas.openxmlformats.org/officeDocument/2006/relationships/image" Target="../media/image22.png"/><Relationship Id="rId12" Type="http://schemas.openxmlformats.org/officeDocument/2006/relationships/image" Target="../media/image23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37.jpe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image" Target="../media/image14.png"/><Relationship Id="rId9" Type="http://schemas.openxmlformats.org/officeDocument/2006/relationships/image" Target="../media/image15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29.png"/><Relationship Id="rId6" Type="http://schemas.openxmlformats.org/officeDocument/2006/relationships/image" Target="../media/image30.svg"/><Relationship Id="rId7" Type="http://schemas.openxmlformats.org/officeDocument/2006/relationships/image" Target="../media/image31.png"/><Relationship Id="rId8" Type="http://schemas.openxmlformats.org/officeDocument/2006/relationships/image" Target="../media/image32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566049"/>
            <a:ext cx="17218292" cy="9186097"/>
            <a:chOff x="0" y="0"/>
            <a:chExt cx="22957723" cy="1224812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835531"/>
              <a:ext cx="22957723" cy="11412598"/>
              <a:chOff x="0" y="0"/>
              <a:chExt cx="4777465" cy="237494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374943"/>
              </a:xfrm>
              <a:custGeom>
                <a:avLst/>
                <a:gdLst/>
                <a:ahLst/>
                <a:cxnLst/>
                <a:rect r="r" b="b" t="t" l="l"/>
                <a:pathLst>
                  <a:path h="2374943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352012"/>
                    </a:lnTo>
                    <a:cubicBezTo>
                      <a:pt x="4777465" y="2358094"/>
                      <a:pt x="4775049" y="2363926"/>
                      <a:pt x="4770749" y="2368227"/>
                    </a:cubicBezTo>
                    <a:cubicBezTo>
                      <a:pt x="4766449" y="2372527"/>
                      <a:pt x="4760616" y="2374943"/>
                      <a:pt x="4754534" y="2374943"/>
                    </a:cubicBezTo>
                    <a:lnTo>
                      <a:pt x="22931" y="2374943"/>
                    </a:lnTo>
                    <a:cubicBezTo>
                      <a:pt x="10267" y="2374943"/>
                      <a:pt x="0" y="2364677"/>
                      <a:pt x="0" y="2352012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413043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4517287" y="0"/>
              <a:ext cx="18440436" cy="3397582"/>
              <a:chOff x="0" y="0"/>
              <a:chExt cx="3837425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837425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3837425">
                    <a:moveTo>
                      <a:pt x="28549" y="0"/>
                    </a:moveTo>
                    <a:lnTo>
                      <a:pt x="3808877" y="0"/>
                    </a:lnTo>
                    <a:cubicBezTo>
                      <a:pt x="3824644" y="0"/>
                      <a:pt x="3837425" y="12782"/>
                      <a:pt x="3837425" y="28549"/>
                    </a:cubicBezTo>
                    <a:lnTo>
                      <a:pt x="3837425" y="678483"/>
                    </a:lnTo>
                    <a:cubicBezTo>
                      <a:pt x="3837425" y="686054"/>
                      <a:pt x="3834418" y="693316"/>
                      <a:pt x="3829064" y="698670"/>
                    </a:cubicBezTo>
                    <a:cubicBezTo>
                      <a:pt x="3823710" y="704024"/>
                      <a:pt x="3816448" y="707031"/>
                      <a:pt x="3808877" y="707031"/>
                    </a:cubicBezTo>
                    <a:lnTo>
                      <a:pt x="28549" y="707031"/>
                    </a:lnTo>
                    <a:cubicBezTo>
                      <a:pt x="12782" y="707031"/>
                      <a:pt x="0" y="694250"/>
                      <a:pt x="0" y="678483"/>
                    </a:cubicBezTo>
                    <a:lnTo>
                      <a:pt x="0" y="28549"/>
                    </a:lnTo>
                    <a:cubicBezTo>
                      <a:pt x="0" y="20977"/>
                      <a:pt x="3008" y="13716"/>
                      <a:pt x="8362" y="8362"/>
                    </a:cubicBezTo>
                    <a:cubicBezTo>
                      <a:pt x="13716" y="3008"/>
                      <a:pt x="20977" y="0"/>
                      <a:pt x="28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3837425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081187" y="442770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2091821" y="-102735"/>
            <a:ext cx="1878623" cy="1295432"/>
            <a:chOff x="0" y="0"/>
            <a:chExt cx="521251" cy="3594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1251" cy="359436"/>
            </a:xfrm>
            <a:custGeom>
              <a:avLst/>
              <a:gdLst/>
              <a:ahLst/>
              <a:cxnLst/>
              <a:rect r="r" b="b" t="t" l="l"/>
              <a:pathLst>
                <a:path h="359436" w="521251">
                  <a:moveTo>
                    <a:pt x="179718" y="0"/>
                  </a:moveTo>
                  <a:lnTo>
                    <a:pt x="341533" y="0"/>
                  </a:lnTo>
                  <a:cubicBezTo>
                    <a:pt x="440789" y="0"/>
                    <a:pt x="521251" y="80463"/>
                    <a:pt x="521251" y="179718"/>
                  </a:cubicBezTo>
                  <a:lnTo>
                    <a:pt x="521251" y="179718"/>
                  </a:lnTo>
                  <a:cubicBezTo>
                    <a:pt x="521251" y="227382"/>
                    <a:pt x="502317" y="273094"/>
                    <a:pt x="468613" y="306798"/>
                  </a:cubicBezTo>
                  <a:cubicBezTo>
                    <a:pt x="434909" y="340502"/>
                    <a:pt x="389197" y="359436"/>
                    <a:pt x="341533" y="359436"/>
                  </a:cubicBezTo>
                  <a:lnTo>
                    <a:pt x="179718" y="359436"/>
                  </a:lnTo>
                  <a:cubicBezTo>
                    <a:pt x="132054" y="359436"/>
                    <a:pt x="86342" y="340502"/>
                    <a:pt x="52638" y="306798"/>
                  </a:cubicBezTo>
                  <a:cubicBezTo>
                    <a:pt x="18935" y="273094"/>
                    <a:pt x="0" y="227382"/>
                    <a:pt x="0" y="179718"/>
                  </a:cubicBezTo>
                  <a:lnTo>
                    <a:pt x="0" y="179718"/>
                  </a:lnTo>
                  <a:cubicBezTo>
                    <a:pt x="0" y="132054"/>
                    <a:pt x="18935" y="86342"/>
                    <a:pt x="52638" y="52638"/>
                  </a:cubicBezTo>
                  <a:cubicBezTo>
                    <a:pt x="86342" y="18935"/>
                    <a:pt x="132054" y="0"/>
                    <a:pt x="179718" y="0"/>
                  </a:cubicBezTo>
                  <a:close/>
                </a:path>
              </a:pathLst>
            </a:custGeom>
            <a:solidFill>
              <a:srgbClr val="5170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21251" cy="397536"/>
            </a:xfrm>
            <a:prstGeom prst="rect">
              <a:avLst/>
            </a:prstGeom>
          </p:spPr>
          <p:txBody>
            <a:bodyPr anchor="ctr" rtlCol="false" tIns="48220" lIns="48220" bIns="48220" rIns="48220"/>
            <a:lstStyle/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5400000">
            <a:off x="16995628" y="862350"/>
            <a:ext cx="82863" cy="368281"/>
          </a:xfrm>
          <a:custGeom>
            <a:avLst/>
            <a:gdLst/>
            <a:ahLst/>
            <a:cxnLst/>
            <a:rect r="r" b="b" t="t" l="l"/>
            <a:pathLst>
              <a:path h="368281" w="82863">
                <a:moveTo>
                  <a:pt x="0" y="0"/>
                </a:moveTo>
                <a:lnTo>
                  <a:pt x="82863" y="0"/>
                </a:lnTo>
                <a:lnTo>
                  <a:pt x="82863" y="368281"/>
                </a:lnTo>
                <a:lnTo>
                  <a:pt x="0" y="3682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3540110" y="6593084"/>
            <a:ext cx="3312808" cy="2401786"/>
          </a:xfrm>
          <a:custGeom>
            <a:avLst/>
            <a:gdLst/>
            <a:ahLst/>
            <a:cxnLst/>
            <a:rect r="r" b="b" t="t" l="l"/>
            <a:pathLst>
              <a:path h="2401786" w="3312808">
                <a:moveTo>
                  <a:pt x="0" y="0"/>
                </a:moveTo>
                <a:lnTo>
                  <a:pt x="3312809" y="0"/>
                </a:lnTo>
                <a:lnTo>
                  <a:pt x="3312809" y="2401786"/>
                </a:lnTo>
                <a:lnTo>
                  <a:pt x="0" y="24017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59283" y="679939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77195" y="2557664"/>
            <a:ext cx="14882105" cy="1533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193"/>
              </a:lnSpc>
              <a:spcBef>
                <a:spcPct val="0"/>
              </a:spcBef>
            </a:pPr>
            <a:r>
              <a:rPr lang="en-US" b="true" sz="9601" strike="noStrike" u="non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VIBE CODING 기초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77195" y="3813005"/>
            <a:ext cx="7161075" cy="1533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193"/>
              </a:lnSpc>
              <a:spcBef>
                <a:spcPct val="0"/>
              </a:spcBef>
            </a:pPr>
            <a:r>
              <a:rPr lang="en-US" b="true" sz="9601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2차시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61238" y="6029828"/>
            <a:ext cx="10520872" cy="34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1"/>
              </a:lnSpc>
              <a:spcBef>
                <a:spcPct val="0"/>
              </a:spcBef>
            </a:pPr>
            <a:r>
              <a:rPr lang="en-US" b="true" sz="1799" spc="-17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Markdown 이해 · 문법 실습 · Markdown vs HTML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43870" y="5460741"/>
            <a:ext cx="7287980" cy="45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67"/>
              </a:lnSpc>
              <a:spcBef>
                <a:spcPct val="0"/>
              </a:spcBef>
            </a:pPr>
            <a:r>
              <a:rPr lang="en-US" b="true" sz="2799" spc="-114" strike="noStrike" u="none">
                <a:solidFill>
                  <a:srgbClr val="000000">
                    <a:alpha val="93725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Markdown 이해와 실습</a:t>
            </a:r>
          </a:p>
        </p:txBody>
      </p:sp>
      <p:sp>
        <p:nvSpPr>
          <p:cNvPr name="AutoShape 22" id="22"/>
          <p:cNvSpPr/>
          <p:nvPr/>
        </p:nvSpPr>
        <p:spPr>
          <a:xfrm flipH="true" flipV="true">
            <a:off x="4613382" y="7266893"/>
            <a:ext cx="0" cy="212812"/>
          </a:xfrm>
          <a:prstGeom prst="line">
            <a:avLst/>
          </a:prstGeom>
          <a:ln cap="flat" w="9525">
            <a:solidFill>
              <a:srgbClr val="222222">
                <a:alpha val="2274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2443870" y="7187244"/>
            <a:ext cx="2074261" cy="33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20"/>
              </a:lnSpc>
              <a:spcBef>
                <a:spcPct val="0"/>
              </a:spcBef>
            </a:pPr>
            <a:r>
              <a:rPr lang="en-US" b="true" sz="2000" spc="-80" strike="noStrike" u="none">
                <a:solidFill>
                  <a:srgbClr val="222222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교육운영진 </a:t>
            </a:r>
            <a:r>
              <a:rPr lang="en-US" b="true" sz="2000" spc="-80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허진수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873801" y="7278683"/>
            <a:ext cx="2358365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60"/>
              </a:lnSpc>
              <a:spcBef>
                <a:spcPct val="0"/>
              </a:spcBef>
            </a:pPr>
            <a:r>
              <a:rPr lang="en-US" b="true" sz="2000" spc="34" strike="noStrike" u="non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문의: 단톡방</a:t>
            </a:r>
          </a:p>
        </p:txBody>
      </p:sp>
      <p:sp>
        <p:nvSpPr>
          <p:cNvPr name="AutoShape 25" id="25"/>
          <p:cNvSpPr/>
          <p:nvPr/>
        </p:nvSpPr>
        <p:spPr>
          <a:xfrm>
            <a:off x="2461238" y="6934831"/>
            <a:ext cx="8718036" cy="0"/>
          </a:xfrm>
          <a:prstGeom prst="line">
            <a:avLst/>
          </a:prstGeom>
          <a:ln cap="flat" w="9525">
            <a:solidFill>
              <a:srgbClr val="222222">
                <a:alpha val="22745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566049"/>
            <a:ext cx="17218292" cy="9186097"/>
            <a:chOff x="0" y="0"/>
            <a:chExt cx="22957723" cy="1224812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835531"/>
              <a:ext cx="22957723" cy="11412598"/>
              <a:chOff x="0" y="0"/>
              <a:chExt cx="4777465" cy="237494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374943"/>
              </a:xfrm>
              <a:custGeom>
                <a:avLst/>
                <a:gdLst/>
                <a:ahLst/>
                <a:cxnLst/>
                <a:rect r="r" b="b" t="t" l="l"/>
                <a:pathLst>
                  <a:path h="2374943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352012"/>
                    </a:lnTo>
                    <a:cubicBezTo>
                      <a:pt x="4777465" y="2358094"/>
                      <a:pt x="4775049" y="2363926"/>
                      <a:pt x="4770749" y="2368227"/>
                    </a:cubicBezTo>
                    <a:cubicBezTo>
                      <a:pt x="4766449" y="2372527"/>
                      <a:pt x="4760616" y="2374943"/>
                      <a:pt x="4754534" y="2374943"/>
                    </a:cubicBezTo>
                    <a:lnTo>
                      <a:pt x="22931" y="2374943"/>
                    </a:lnTo>
                    <a:cubicBezTo>
                      <a:pt x="10267" y="2374943"/>
                      <a:pt x="0" y="2364677"/>
                      <a:pt x="0" y="2352012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413043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4517287" y="0"/>
              <a:ext cx="18440436" cy="3397582"/>
              <a:chOff x="0" y="0"/>
              <a:chExt cx="3837425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837425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3837425">
                    <a:moveTo>
                      <a:pt x="28549" y="0"/>
                    </a:moveTo>
                    <a:lnTo>
                      <a:pt x="3808877" y="0"/>
                    </a:lnTo>
                    <a:cubicBezTo>
                      <a:pt x="3824644" y="0"/>
                      <a:pt x="3837425" y="12782"/>
                      <a:pt x="3837425" y="28549"/>
                    </a:cubicBezTo>
                    <a:lnTo>
                      <a:pt x="3837425" y="678483"/>
                    </a:lnTo>
                    <a:cubicBezTo>
                      <a:pt x="3837425" y="686054"/>
                      <a:pt x="3834418" y="693316"/>
                      <a:pt x="3829064" y="698670"/>
                    </a:cubicBezTo>
                    <a:cubicBezTo>
                      <a:pt x="3823710" y="704024"/>
                      <a:pt x="3816448" y="707031"/>
                      <a:pt x="3808877" y="707031"/>
                    </a:cubicBezTo>
                    <a:lnTo>
                      <a:pt x="28549" y="707031"/>
                    </a:lnTo>
                    <a:cubicBezTo>
                      <a:pt x="12782" y="707031"/>
                      <a:pt x="0" y="694250"/>
                      <a:pt x="0" y="678483"/>
                    </a:cubicBezTo>
                    <a:lnTo>
                      <a:pt x="0" y="28549"/>
                    </a:lnTo>
                    <a:cubicBezTo>
                      <a:pt x="0" y="20977"/>
                      <a:pt x="3008" y="13716"/>
                      <a:pt x="8362" y="8362"/>
                    </a:cubicBezTo>
                    <a:cubicBezTo>
                      <a:pt x="13716" y="3008"/>
                      <a:pt x="20977" y="0"/>
                      <a:pt x="28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3837425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081187" y="442770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2091821" y="-102735"/>
            <a:ext cx="1878623" cy="1295432"/>
            <a:chOff x="0" y="0"/>
            <a:chExt cx="521251" cy="3594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1251" cy="359436"/>
            </a:xfrm>
            <a:custGeom>
              <a:avLst/>
              <a:gdLst/>
              <a:ahLst/>
              <a:cxnLst/>
              <a:rect r="r" b="b" t="t" l="l"/>
              <a:pathLst>
                <a:path h="359436" w="521251">
                  <a:moveTo>
                    <a:pt x="179718" y="0"/>
                  </a:moveTo>
                  <a:lnTo>
                    <a:pt x="341533" y="0"/>
                  </a:lnTo>
                  <a:cubicBezTo>
                    <a:pt x="440789" y="0"/>
                    <a:pt x="521251" y="80463"/>
                    <a:pt x="521251" y="179718"/>
                  </a:cubicBezTo>
                  <a:lnTo>
                    <a:pt x="521251" y="179718"/>
                  </a:lnTo>
                  <a:cubicBezTo>
                    <a:pt x="521251" y="227382"/>
                    <a:pt x="502317" y="273094"/>
                    <a:pt x="468613" y="306798"/>
                  </a:cubicBezTo>
                  <a:cubicBezTo>
                    <a:pt x="434909" y="340502"/>
                    <a:pt x="389197" y="359436"/>
                    <a:pt x="341533" y="359436"/>
                  </a:cubicBezTo>
                  <a:lnTo>
                    <a:pt x="179718" y="359436"/>
                  </a:lnTo>
                  <a:cubicBezTo>
                    <a:pt x="132054" y="359436"/>
                    <a:pt x="86342" y="340502"/>
                    <a:pt x="52638" y="306798"/>
                  </a:cubicBezTo>
                  <a:cubicBezTo>
                    <a:pt x="18935" y="273094"/>
                    <a:pt x="0" y="227382"/>
                    <a:pt x="0" y="179718"/>
                  </a:cubicBezTo>
                  <a:lnTo>
                    <a:pt x="0" y="179718"/>
                  </a:lnTo>
                  <a:cubicBezTo>
                    <a:pt x="0" y="132054"/>
                    <a:pt x="18935" y="86342"/>
                    <a:pt x="52638" y="52638"/>
                  </a:cubicBezTo>
                  <a:cubicBezTo>
                    <a:pt x="86342" y="18935"/>
                    <a:pt x="132054" y="0"/>
                    <a:pt x="179718" y="0"/>
                  </a:cubicBezTo>
                  <a:close/>
                </a:path>
              </a:pathLst>
            </a:custGeom>
            <a:solidFill>
              <a:srgbClr val="5170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21251" cy="397536"/>
            </a:xfrm>
            <a:prstGeom prst="rect">
              <a:avLst/>
            </a:prstGeom>
          </p:spPr>
          <p:txBody>
            <a:bodyPr anchor="ctr" rtlCol="false" tIns="48220" lIns="48220" bIns="48220" rIns="48220"/>
            <a:lstStyle/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5400000">
            <a:off x="16995628" y="862350"/>
            <a:ext cx="82863" cy="368281"/>
          </a:xfrm>
          <a:custGeom>
            <a:avLst/>
            <a:gdLst/>
            <a:ahLst/>
            <a:cxnLst/>
            <a:rect r="r" b="b" t="t" l="l"/>
            <a:pathLst>
              <a:path h="368281" w="82863">
                <a:moveTo>
                  <a:pt x="0" y="0"/>
                </a:moveTo>
                <a:lnTo>
                  <a:pt x="82863" y="0"/>
                </a:lnTo>
                <a:lnTo>
                  <a:pt x="82863" y="368281"/>
                </a:lnTo>
                <a:lnTo>
                  <a:pt x="0" y="3682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2091821" y="3201454"/>
            <a:ext cx="4351624" cy="15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92"/>
              </a:lnSpc>
            </a:pPr>
            <a:r>
              <a:rPr lang="en-US" b="true" sz="9600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INDEX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09189" y="4672145"/>
            <a:ext cx="4753408" cy="34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1"/>
              </a:lnSpc>
              <a:spcBef>
                <a:spcPct val="0"/>
              </a:spcBef>
            </a:pPr>
            <a:r>
              <a:rPr lang="en-US" b="true" sz="1799" spc="-30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2차시 수업 순서 (90분)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600950" y="3238500"/>
            <a:ext cx="8750967" cy="3351235"/>
            <a:chOff x="0" y="0"/>
            <a:chExt cx="11667955" cy="4468314"/>
          </a:xfrm>
        </p:grpSpPr>
        <p:sp>
          <p:nvSpPr>
            <p:cNvPr name="AutoShape 19" id="19"/>
            <p:cNvSpPr/>
            <p:nvPr/>
          </p:nvSpPr>
          <p:spPr>
            <a:xfrm>
              <a:off x="36676" y="934034"/>
              <a:ext cx="11631279" cy="0"/>
            </a:xfrm>
            <a:prstGeom prst="line">
              <a:avLst/>
            </a:prstGeom>
            <a:ln cap="flat" w="12700">
              <a:solidFill>
                <a:srgbClr val="222222">
                  <a:alpha val="14902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36676" y="2234157"/>
              <a:ext cx="11631279" cy="0"/>
            </a:xfrm>
            <a:prstGeom prst="line">
              <a:avLst/>
            </a:prstGeom>
            <a:ln cap="flat" w="12700">
              <a:solidFill>
                <a:srgbClr val="222222">
                  <a:alpha val="14902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36676" y="3534280"/>
              <a:ext cx="11631279" cy="0"/>
            </a:xfrm>
            <a:prstGeom prst="line">
              <a:avLst/>
            </a:prstGeom>
            <a:ln cap="flat" w="12700">
              <a:solidFill>
                <a:srgbClr val="222222">
                  <a:alpha val="14902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2" id="22"/>
            <p:cNvSpPr txBox="true"/>
            <p:nvPr/>
          </p:nvSpPr>
          <p:spPr>
            <a:xfrm rot="0">
              <a:off x="1058941" y="1338223"/>
              <a:ext cx="6928367" cy="5298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800" spc="-56" strike="noStrike" u="none">
                  <a:solidFill>
                    <a:srgbClr val="000000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문법 실습: 나의 README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391606"/>
              <a:ext cx="624642" cy="470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3"/>
                </a:lnSpc>
              </a:pPr>
              <a:r>
                <a:rPr lang="en-US" b="true" sz="2799" spc="212">
                  <a:solidFill>
                    <a:srgbClr val="5170FF"/>
                  </a:solidFill>
                  <a:latin typeface="프리젠테이션 Semi-Bold"/>
                  <a:ea typeface="프리젠테이션 Semi-Bold"/>
                  <a:cs typeface="프리젠테이션 Semi-Bold"/>
                  <a:sym typeface="프리젠테이션 Semi-Bold"/>
                </a:rPr>
                <a:t>2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058941" y="3938470"/>
              <a:ext cx="6595062" cy="5298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800" spc="-56" strike="noStrike" u="none">
                  <a:solidFill>
                    <a:srgbClr val="000000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마무리 &amp; 질의응답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3991852"/>
              <a:ext cx="624642" cy="470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3"/>
                </a:lnSpc>
              </a:pPr>
              <a:r>
                <a:rPr lang="en-US" b="true" sz="2799" spc="212">
                  <a:solidFill>
                    <a:srgbClr val="5170FF"/>
                  </a:solidFill>
                  <a:latin typeface="프리젠테이션 Semi-Bold"/>
                  <a:ea typeface="프리젠테이션 Semi-Bold"/>
                  <a:cs typeface="프리젠테이션 Semi-Bold"/>
                  <a:sym typeface="프리젠테이션 Semi-Bold"/>
                </a:rPr>
                <a:t>4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058941" y="38100"/>
              <a:ext cx="6595062" cy="5298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800" spc="-56" strike="noStrike" u="none">
                  <a:solidFill>
                    <a:srgbClr val="000000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Markdown 문서의 이해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91483"/>
              <a:ext cx="624642" cy="470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3"/>
                </a:lnSpc>
              </a:pPr>
              <a:r>
                <a:rPr lang="en-US" b="true" sz="2799" spc="212">
                  <a:solidFill>
                    <a:srgbClr val="5170FF"/>
                  </a:solidFill>
                  <a:latin typeface="프리젠테이션 Semi-Bold"/>
                  <a:ea typeface="프리젠테이션 Semi-Bold"/>
                  <a:cs typeface="프리젠테이션 Semi-Bold"/>
                  <a:sym typeface="프리젠테이션 Semi-Bold"/>
                </a:rPr>
                <a:t>1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058941" y="2638346"/>
              <a:ext cx="6595062" cy="5298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6"/>
                </a:lnSpc>
                <a:spcBef>
                  <a:spcPct val="0"/>
                </a:spcBef>
              </a:pPr>
              <a:r>
                <a:rPr lang="en-US" b="true" sz="2800" spc="-56" strike="noStrike" u="none">
                  <a:solidFill>
                    <a:srgbClr val="000000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Markdown vs HTML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2691729"/>
              <a:ext cx="624642" cy="470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3"/>
                </a:lnSpc>
              </a:pPr>
              <a:r>
                <a:rPr lang="en-US" b="true" sz="2799" spc="212">
                  <a:solidFill>
                    <a:srgbClr val="5170FF"/>
                  </a:solidFill>
                  <a:latin typeface="프리젠테이션 Semi-Bold"/>
                  <a:ea typeface="프리젠테이션 Semi-Bold"/>
                  <a:cs typeface="프리젠테이션 Semi-Bold"/>
                  <a:sym typeface="프리젠테이션 Semi-Bold"/>
                </a:rPr>
                <a:t>3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2137764" y="2174998"/>
            <a:ext cx="1092574" cy="1021557"/>
          </a:xfrm>
          <a:custGeom>
            <a:avLst/>
            <a:gdLst/>
            <a:ahLst/>
            <a:cxnLst/>
            <a:rect r="r" b="b" t="t" l="l"/>
            <a:pathLst>
              <a:path h="1021557" w="1092574">
                <a:moveTo>
                  <a:pt x="0" y="0"/>
                </a:moveTo>
                <a:lnTo>
                  <a:pt x="1092574" y="0"/>
                </a:lnTo>
                <a:lnTo>
                  <a:pt x="1092574" y="1021556"/>
                </a:lnTo>
                <a:lnTo>
                  <a:pt x="0" y="10215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659283" y="679939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382000" y="8899525"/>
            <a:ext cx="152400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- 2 -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566049"/>
            <a:ext cx="17218292" cy="9186097"/>
            <a:chOff x="0" y="0"/>
            <a:chExt cx="22957723" cy="1224812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835531"/>
              <a:ext cx="22957723" cy="11412598"/>
              <a:chOff x="0" y="0"/>
              <a:chExt cx="4777465" cy="237494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374943"/>
              </a:xfrm>
              <a:custGeom>
                <a:avLst/>
                <a:gdLst/>
                <a:ahLst/>
                <a:cxnLst/>
                <a:rect r="r" b="b" t="t" l="l"/>
                <a:pathLst>
                  <a:path h="2374943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352012"/>
                    </a:lnTo>
                    <a:cubicBezTo>
                      <a:pt x="4777465" y="2358094"/>
                      <a:pt x="4775049" y="2363926"/>
                      <a:pt x="4770749" y="2368227"/>
                    </a:cubicBezTo>
                    <a:cubicBezTo>
                      <a:pt x="4766449" y="2372527"/>
                      <a:pt x="4760616" y="2374943"/>
                      <a:pt x="4754534" y="2374943"/>
                    </a:cubicBezTo>
                    <a:lnTo>
                      <a:pt x="22931" y="2374943"/>
                    </a:lnTo>
                    <a:cubicBezTo>
                      <a:pt x="10267" y="2374943"/>
                      <a:pt x="0" y="2364677"/>
                      <a:pt x="0" y="2352012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413043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4517287" y="0"/>
              <a:ext cx="18440436" cy="3397582"/>
              <a:chOff x="0" y="0"/>
              <a:chExt cx="3837425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837425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3837425">
                    <a:moveTo>
                      <a:pt x="28549" y="0"/>
                    </a:moveTo>
                    <a:lnTo>
                      <a:pt x="3808877" y="0"/>
                    </a:lnTo>
                    <a:cubicBezTo>
                      <a:pt x="3824644" y="0"/>
                      <a:pt x="3837425" y="12782"/>
                      <a:pt x="3837425" y="28549"/>
                    </a:cubicBezTo>
                    <a:lnTo>
                      <a:pt x="3837425" y="678483"/>
                    </a:lnTo>
                    <a:cubicBezTo>
                      <a:pt x="3837425" y="686054"/>
                      <a:pt x="3834418" y="693316"/>
                      <a:pt x="3829064" y="698670"/>
                    </a:cubicBezTo>
                    <a:cubicBezTo>
                      <a:pt x="3823710" y="704024"/>
                      <a:pt x="3816448" y="707031"/>
                      <a:pt x="3808877" y="707031"/>
                    </a:cubicBezTo>
                    <a:lnTo>
                      <a:pt x="28549" y="707031"/>
                    </a:lnTo>
                    <a:cubicBezTo>
                      <a:pt x="12782" y="707031"/>
                      <a:pt x="0" y="694250"/>
                      <a:pt x="0" y="678483"/>
                    </a:cubicBezTo>
                    <a:lnTo>
                      <a:pt x="0" y="28549"/>
                    </a:lnTo>
                    <a:cubicBezTo>
                      <a:pt x="0" y="20977"/>
                      <a:pt x="3008" y="13716"/>
                      <a:pt x="8362" y="8362"/>
                    </a:cubicBezTo>
                    <a:cubicBezTo>
                      <a:pt x="13716" y="3008"/>
                      <a:pt x="20977" y="0"/>
                      <a:pt x="28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3837425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081187" y="442770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2091821" y="-102735"/>
            <a:ext cx="1878623" cy="1295432"/>
            <a:chOff x="0" y="0"/>
            <a:chExt cx="521251" cy="3594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1251" cy="359436"/>
            </a:xfrm>
            <a:custGeom>
              <a:avLst/>
              <a:gdLst/>
              <a:ahLst/>
              <a:cxnLst/>
              <a:rect r="r" b="b" t="t" l="l"/>
              <a:pathLst>
                <a:path h="359436" w="521251">
                  <a:moveTo>
                    <a:pt x="179718" y="0"/>
                  </a:moveTo>
                  <a:lnTo>
                    <a:pt x="341533" y="0"/>
                  </a:lnTo>
                  <a:cubicBezTo>
                    <a:pt x="440789" y="0"/>
                    <a:pt x="521251" y="80463"/>
                    <a:pt x="521251" y="179718"/>
                  </a:cubicBezTo>
                  <a:lnTo>
                    <a:pt x="521251" y="179718"/>
                  </a:lnTo>
                  <a:cubicBezTo>
                    <a:pt x="521251" y="227382"/>
                    <a:pt x="502317" y="273094"/>
                    <a:pt x="468613" y="306798"/>
                  </a:cubicBezTo>
                  <a:cubicBezTo>
                    <a:pt x="434909" y="340502"/>
                    <a:pt x="389197" y="359436"/>
                    <a:pt x="341533" y="359436"/>
                  </a:cubicBezTo>
                  <a:lnTo>
                    <a:pt x="179718" y="359436"/>
                  </a:lnTo>
                  <a:cubicBezTo>
                    <a:pt x="132054" y="359436"/>
                    <a:pt x="86342" y="340502"/>
                    <a:pt x="52638" y="306798"/>
                  </a:cubicBezTo>
                  <a:cubicBezTo>
                    <a:pt x="18935" y="273094"/>
                    <a:pt x="0" y="227382"/>
                    <a:pt x="0" y="179718"/>
                  </a:cubicBezTo>
                  <a:lnTo>
                    <a:pt x="0" y="179718"/>
                  </a:lnTo>
                  <a:cubicBezTo>
                    <a:pt x="0" y="132054"/>
                    <a:pt x="18935" y="86342"/>
                    <a:pt x="52638" y="52638"/>
                  </a:cubicBezTo>
                  <a:cubicBezTo>
                    <a:pt x="86342" y="18935"/>
                    <a:pt x="132054" y="0"/>
                    <a:pt x="179718" y="0"/>
                  </a:cubicBezTo>
                  <a:close/>
                </a:path>
              </a:pathLst>
            </a:custGeom>
            <a:solidFill>
              <a:srgbClr val="5170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21251" cy="397536"/>
            </a:xfrm>
            <a:prstGeom prst="rect">
              <a:avLst/>
            </a:prstGeom>
          </p:spPr>
          <p:txBody>
            <a:bodyPr anchor="ctr" rtlCol="false" tIns="48220" lIns="48220" bIns="48220" rIns="48220"/>
            <a:lstStyle/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5400000">
            <a:off x="16995628" y="862350"/>
            <a:ext cx="82863" cy="368281"/>
          </a:xfrm>
          <a:custGeom>
            <a:avLst/>
            <a:gdLst/>
            <a:ahLst/>
            <a:cxnLst/>
            <a:rect r="r" b="b" t="t" l="l"/>
            <a:pathLst>
              <a:path h="368281" w="82863">
                <a:moveTo>
                  <a:pt x="0" y="0"/>
                </a:moveTo>
                <a:lnTo>
                  <a:pt x="82863" y="0"/>
                </a:lnTo>
                <a:lnTo>
                  <a:pt x="82863" y="368281"/>
                </a:lnTo>
                <a:lnTo>
                  <a:pt x="0" y="36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3540110" y="6593084"/>
            <a:ext cx="3312808" cy="2401786"/>
          </a:xfrm>
          <a:custGeom>
            <a:avLst/>
            <a:gdLst/>
            <a:ahLst/>
            <a:cxnLst/>
            <a:rect r="r" b="b" t="t" l="l"/>
            <a:pathLst>
              <a:path h="2401786" w="3312808">
                <a:moveTo>
                  <a:pt x="0" y="0"/>
                </a:moveTo>
                <a:lnTo>
                  <a:pt x="3312809" y="0"/>
                </a:lnTo>
                <a:lnTo>
                  <a:pt x="3312809" y="2401786"/>
                </a:lnTo>
                <a:lnTo>
                  <a:pt x="0" y="2401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59283" y="679939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77195" y="2557664"/>
            <a:ext cx="14882105" cy="1533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193"/>
              </a:lnSpc>
              <a:spcBef>
                <a:spcPct val="0"/>
              </a:spcBef>
            </a:pPr>
            <a:r>
              <a:rPr lang="en-US" b="true" sz="9601" strike="noStrike" u="non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PART 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77195" y="3813005"/>
            <a:ext cx="12382500" cy="1533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193"/>
              </a:lnSpc>
              <a:spcBef>
                <a:spcPct val="0"/>
              </a:spcBef>
            </a:pPr>
            <a:r>
              <a:rPr lang="en-US" b="true" sz="9601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MARKDOWN 이해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61238" y="6029828"/>
            <a:ext cx="10520872" cy="34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1"/>
              </a:lnSpc>
              <a:spcBef>
                <a:spcPct val="0"/>
              </a:spcBef>
            </a:pPr>
            <a:r>
              <a:rPr lang="en-US" b="true" sz="1799" spc="-17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⏱ 교육 시간 20분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43870" y="5460741"/>
            <a:ext cx="10953750" cy="45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67"/>
              </a:lnSpc>
              <a:spcBef>
                <a:spcPct val="0"/>
              </a:spcBef>
            </a:pPr>
            <a:r>
              <a:rPr lang="en-US" b="true" sz="2799" spc="-114" strike="noStrike" u="none">
                <a:solidFill>
                  <a:srgbClr val="000000">
                    <a:alpha val="93725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Markdown이란? · 문법 체계 · Antigravity에서 쓰기</a:t>
            </a:r>
          </a:p>
        </p:txBody>
      </p:sp>
      <p:sp>
        <p:nvSpPr>
          <p:cNvPr name="AutoShape 22" id="22"/>
          <p:cNvSpPr/>
          <p:nvPr/>
        </p:nvSpPr>
        <p:spPr>
          <a:xfrm flipH="true" flipV="true">
            <a:off x="4613382" y="7266893"/>
            <a:ext cx="0" cy="212812"/>
          </a:xfrm>
          <a:prstGeom prst="line">
            <a:avLst/>
          </a:prstGeom>
          <a:ln cap="flat" w="9525">
            <a:solidFill>
              <a:srgbClr val="222222">
                <a:alpha val="2274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2443870" y="7187244"/>
            <a:ext cx="2074261" cy="33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20"/>
              </a:lnSpc>
              <a:spcBef>
                <a:spcPct val="0"/>
              </a:spcBef>
            </a:pPr>
            <a:r>
              <a:rPr lang="en-US" b="true" sz="2000" spc="-80" strike="noStrike" u="none">
                <a:solidFill>
                  <a:srgbClr val="222222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교육운영진 </a:t>
            </a:r>
            <a:r>
              <a:rPr lang="en-US" b="true" sz="2000" spc="-80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허진수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873801" y="7278683"/>
            <a:ext cx="2358365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60"/>
              </a:lnSpc>
              <a:spcBef>
                <a:spcPct val="0"/>
              </a:spcBef>
            </a:pPr>
            <a:r>
              <a:rPr lang="en-US" b="true" sz="2000" spc="34" strike="noStrike" u="non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문의: 단톡방</a:t>
            </a:r>
          </a:p>
        </p:txBody>
      </p:sp>
      <p:sp>
        <p:nvSpPr>
          <p:cNvPr name="AutoShape 25" id="25"/>
          <p:cNvSpPr/>
          <p:nvPr/>
        </p:nvSpPr>
        <p:spPr>
          <a:xfrm>
            <a:off x="2461238" y="6934831"/>
            <a:ext cx="8718036" cy="0"/>
          </a:xfrm>
          <a:prstGeom prst="line">
            <a:avLst/>
          </a:prstGeom>
          <a:ln cap="flat" w="9525">
            <a:solidFill>
              <a:srgbClr val="222222">
                <a:alpha val="22745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4379" y="534854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820604" y="696061"/>
            <a:ext cx="12829802" cy="762000"/>
            <a:chOff x="0" y="0"/>
            <a:chExt cx="17106403" cy="10160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712750" y="76200"/>
              <a:ext cx="16393653" cy="93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00"/>
                </a:lnSpc>
                <a:spcBef>
                  <a:spcPct val="0"/>
                </a:spcBef>
              </a:pPr>
              <a:r>
                <a:rPr lang="en-US" b="true" sz="5000" spc="-100" strike="noStrike" u="non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오늘의 시간표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0" y="284846"/>
              <a:ext cx="446308" cy="446308"/>
            </a:xfrm>
            <a:custGeom>
              <a:avLst/>
              <a:gdLst/>
              <a:ahLst/>
              <a:cxnLst/>
              <a:rect r="r" b="b" t="t" l="l"/>
              <a:pathLst>
                <a:path h="446308" w="446308">
                  <a:moveTo>
                    <a:pt x="0" y="0"/>
                  </a:moveTo>
                  <a:lnTo>
                    <a:pt x="446308" y="0"/>
                  </a:lnTo>
                  <a:lnTo>
                    <a:pt x="446308" y="446308"/>
                  </a:lnTo>
                  <a:lnTo>
                    <a:pt x="0" y="44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1717296" y="3187045"/>
          <a:ext cx="14853407" cy="4261327"/>
        </p:xfrm>
        <a:graphic>
          <a:graphicData uri="http://schemas.openxmlformats.org/drawingml/2006/table">
            <a:tbl>
              <a:tblPr/>
              <a:tblGrid>
                <a:gridCol w="3495006"/>
                <a:gridCol w="2021978"/>
                <a:gridCol w="9336423"/>
              </a:tblGrid>
              <a:tr h="899743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00" strike="noStrike" u="non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파트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00" strike="noStrike" u="non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시간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00" strike="noStrike" u="non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내용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</a:tr>
              <a:tr h="1099102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① Markdown 이해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00" strike="noStrike" u="non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19:00 ~19:20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Markdown이란?, 문법 체계, Antigravity에서 쓰기  →  🍵 10분 휴식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16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② 문법 실습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00" strike="noStrike" u="non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19:30 ~20:00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나의 README.md 완성하기 (구조 · 스타일 · 링크 · 표)  →  🍵 10분 휴식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16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③ MD vs HTML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00" strike="noStrike" u="non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20:10 ~20:20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AI 결과물은 어떤 형식으로? 토론 + HTML 보고서 데모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16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④ 마무리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00" strike="noStrike" u="non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20:20 ~20:30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질의응답, 다음 수업 안내  →  해크닉 🧺🍱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9" id="19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382000" y="8899525"/>
            <a:ext cx="152400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- 4 -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17296" y="2898323"/>
            <a:ext cx="8207164" cy="5701057"/>
            <a:chOff x="0" y="0"/>
            <a:chExt cx="1170096" cy="812800"/>
          </a:xfrm>
        </p:grpSpPr>
        <p:sp>
          <p:nvSpPr>
            <p:cNvPr name="Freeform 17" id="17" descr="기호가 들어간 원문이 예쁜 문서로 바뀌는 Markdown 일러스트"/>
            <p:cNvSpPr/>
            <p:nvPr/>
          </p:nvSpPr>
          <p:spPr>
            <a:xfrm flipH="false" flipV="false" rot="0">
              <a:off x="0" y="0"/>
              <a:ext cx="1170096" cy="812800"/>
            </a:xfrm>
            <a:custGeom>
              <a:avLst/>
              <a:gdLst/>
              <a:ahLst/>
              <a:cxnLst/>
              <a:rect r="r" b="b" t="t" l="l"/>
              <a:pathLst>
                <a:path h="812800" w="1170096">
                  <a:moveTo>
                    <a:pt x="14150" y="0"/>
                  </a:moveTo>
                  <a:lnTo>
                    <a:pt x="1155946" y="0"/>
                  </a:lnTo>
                  <a:cubicBezTo>
                    <a:pt x="1163761" y="0"/>
                    <a:pt x="1170096" y="6335"/>
                    <a:pt x="1170096" y="14150"/>
                  </a:cubicBezTo>
                  <a:lnTo>
                    <a:pt x="1170096" y="798650"/>
                  </a:lnTo>
                  <a:cubicBezTo>
                    <a:pt x="1170096" y="806465"/>
                    <a:pt x="1163761" y="812800"/>
                    <a:pt x="1155946" y="812800"/>
                  </a:cubicBezTo>
                  <a:lnTo>
                    <a:pt x="14150" y="812800"/>
                  </a:lnTo>
                  <a:cubicBezTo>
                    <a:pt x="6335" y="812800"/>
                    <a:pt x="0" y="806465"/>
                    <a:pt x="0" y="798650"/>
                  </a:cubicBezTo>
                  <a:lnTo>
                    <a:pt x="0" y="14150"/>
                  </a:lnTo>
                  <a:cubicBezTo>
                    <a:pt x="0" y="6335"/>
                    <a:pt x="6335" y="0"/>
                    <a:pt x="1415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714" r="0" b="-3714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418261" cy="593296"/>
              </a:xfrm>
              <a:custGeom>
                <a:avLst/>
                <a:gdLst/>
                <a:ahLst/>
                <a:cxnLst/>
                <a:rect r="r" b="b" t="t" l="l"/>
                <a:pathLst>
                  <a:path h="593296" w="1418261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1418261" cy="5742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43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741639" y="70938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1045128" y="502290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Mark(표시) + down = 가벼운 문법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741639" y="141804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045128" y="1210950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메모장으로도 열리는 순수 텍스트</a:t>
              </a:r>
            </a:p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741639" y="2126706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1045128" y="1919611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2004년 John Gruber가 만듦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472784" y="2884234"/>
            <a:ext cx="3903318" cy="547878"/>
            <a:chOff x="0" y="0"/>
            <a:chExt cx="5204424" cy="7305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192339"/>
              <a:ext cx="355986" cy="355986"/>
            </a:xfrm>
            <a:custGeom>
              <a:avLst/>
              <a:gdLst/>
              <a:ahLst/>
              <a:cxnLst/>
              <a:rect r="r" b="b" t="t" l="l"/>
              <a:pathLst>
                <a:path h="355986" w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500339" y="76200"/>
              <a:ext cx="4704085" cy="654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6"/>
                </a:lnSpc>
                <a:spcBef>
                  <a:spcPct val="0"/>
                </a:spcBef>
              </a:pPr>
              <a:r>
                <a:rPr lang="en-US" b="true" sz="3600" spc="-72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기호로 꾸미는 문서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Markdown이란?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472784" y="3604117"/>
            <a:ext cx="7086813" cy="13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글자 앞뒤에 # - * 같은 기호를 붙이면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제목 · 목록 · 굵게로 자동 변신!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파일 이름은 README.md 처럼 .md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382000" y="8899525"/>
            <a:ext cx="152400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- 5 -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820604" y="768468"/>
            <a:ext cx="12829802" cy="762000"/>
            <a:chOff x="0" y="0"/>
            <a:chExt cx="17106403" cy="10160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712750" y="76200"/>
              <a:ext cx="16393653" cy="93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00"/>
                </a:lnSpc>
                <a:spcBef>
                  <a:spcPct val="0"/>
                </a:spcBef>
              </a:pPr>
              <a:r>
                <a:rPr lang="en-US" b="true" sz="5000" spc="-100" strike="noStrike" u="non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왜 Markdown일까?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0" y="284846"/>
              <a:ext cx="446308" cy="446308"/>
            </a:xfrm>
            <a:custGeom>
              <a:avLst/>
              <a:gdLst/>
              <a:ahLst/>
              <a:cxnLst/>
              <a:rect r="r" b="b" t="t" l="l"/>
              <a:pathLst>
                <a:path h="446308" w="446308">
                  <a:moveTo>
                    <a:pt x="0" y="0"/>
                  </a:moveTo>
                  <a:lnTo>
                    <a:pt x="446308" y="0"/>
                  </a:lnTo>
                  <a:lnTo>
                    <a:pt x="446308" y="446308"/>
                  </a:lnTo>
                  <a:lnTo>
                    <a:pt x="0" y="44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2944444" y="3048665"/>
            <a:ext cx="1906863" cy="1756697"/>
          </a:xfrm>
          <a:custGeom>
            <a:avLst/>
            <a:gdLst/>
            <a:ahLst/>
            <a:cxnLst/>
            <a:rect r="r" b="b" t="t" l="l"/>
            <a:pathLst>
              <a:path h="1756697" w="1906863">
                <a:moveTo>
                  <a:pt x="0" y="0"/>
                </a:moveTo>
                <a:lnTo>
                  <a:pt x="1906863" y="0"/>
                </a:lnTo>
                <a:lnTo>
                  <a:pt x="1906863" y="1756697"/>
                </a:lnTo>
                <a:lnTo>
                  <a:pt x="0" y="17566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176076" y="3176873"/>
            <a:ext cx="1935847" cy="1500282"/>
          </a:xfrm>
          <a:custGeom>
            <a:avLst/>
            <a:gdLst/>
            <a:ahLst/>
            <a:cxnLst/>
            <a:rect r="r" b="b" t="t" l="l"/>
            <a:pathLst>
              <a:path h="1500282" w="1935847">
                <a:moveTo>
                  <a:pt x="0" y="0"/>
                </a:moveTo>
                <a:lnTo>
                  <a:pt x="1935848" y="0"/>
                </a:lnTo>
                <a:lnTo>
                  <a:pt x="1935848" y="1500282"/>
                </a:lnTo>
                <a:lnTo>
                  <a:pt x="0" y="15002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580283" y="3112769"/>
            <a:ext cx="1638732" cy="1628490"/>
          </a:xfrm>
          <a:custGeom>
            <a:avLst/>
            <a:gdLst/>
            <a:ahLst/>
            <a:cxnLst/>
            <a:rect r="r" b="b" t="t" l="l"/>
            <a:pathLst>
              <a:path h="1628490" w="1638732">
                <a:moveTo>
                  <a:pt x="0" y="0"/>
                </a:moveTo>
                <a:lnTo>
                  <a:pt x="1638732" y="0"/>
                </a:lnTo>
                <a:lnTo>
                  <a:pt x="1638732" y="1628489"/>
                </a:lnTo>
                <a:lnTo>
                  <a:pt x="0" y="16284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845660" y="5336790"/>
            <a:ext cx="4104431" cy="2654612"/>
            <a:chOff x="0" y="0"/>
            <a:chExt cx="5472575" cy="3539482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326998" y="2356477"/>
              <a:ext cx="4818580" cy="1183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원본 그대로 봐도</a:t>
              </a:r>
            </a:p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구조가 한눈에!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0"/>
              <a:ext cx="5472575" cy="12808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76"/>
                </a:lnSpc>
                <a:spcBef>
                  <a:spcPct val="0"/>
                </a:spcBef>
              </a:pPr>
              <a:r>
                <a:rPr lang="en-US" b="true" sz="3200" spc="-64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사람이</a:t>
              </a:r>
            </a:p>
            <a:p>
              <a:pPr algn="ctr" marL="0" indent="0" lvl="0">
                <a:lnSpc>
                  <a:spcPts val="3776"/>
                </a:lnSpc>
                <a:spcBef>
                  <a:spcPct val="0"/>
                </a:spcBef>
              </a:pPr>
              <a:r>
                <a:rPr lang="en-US" b="true" sz="3200" spc="-64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읽기 쉽다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5400000">
              <a:off x="2619394" y="1804646"/>
              <a:ext cx="233786" cy="228526"/>
            </a:xfrm>
            <a:custGeom>
              <a:avLst/>
              <a:gdLst/>
              <a:ahLst/>
              <a:cxnLst/>
              <a:rect r="r" b="b" t="t" l="l"/>
              <a:pathLst>
                <a:path h="228526" w="233786">
                  <a:moveTo>
                    <a:pt x="0" y="0"/>
                  </a:moveTo>
                  <a:lnTo>
                    <a:pt x="233787" y="0"/>
                  </a:lnTo>
                  <a:lnTo>
                    <a:pt x="233787" y="228526"/>
                  </a:lnTo>
                  <a:lnTo>
                    <a:pt x="0" y="2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091784" y="5336790"/>
            <a:ext cx="4104431" cy="2654612"/>
            <a:chOff x="0" y="0"/>
            <a:chExt cx="5472575" cy="3539482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275465" y="2356477"/>
              <a:ext cx="4921645" cy="1183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프롬프트 · AI 답변의</a:t>
              </a:r>
            </a:p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기본 언어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0"/>
              <a:ext cx="5472575" cy="12808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76"/>
                </a:lnSpc>
                <a:spcBef>
                  <a:spcPct val="0"/>
                </a:spcBef>
              </a:pPr>
              <a:r>
                <a:rPr lang="en-US" b="true" sz="3200" spc="-64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AI가</a:t>
              </a:r>
            </a:p>
            <a:p>
              <a:pPr algn="ctr" marL="0" indent="0" lvl="0">
                <a:lnSpc>
                  <a:spcPts val="3776"/>
                </a:lnSpc>
                <a:spcBef>
                  <a:spcPct val="0"/>
                </a:spcBef>
              </a:pPr>
              <a:r>
                <a:rPr lang="en-US" b="true" sz="3200" spc="-64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잘 이해한다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5400000">
              <a:off x="2619394" y="1804646"/>
              <a:ext cx="233786" cy="228526"/>
            </a:xfrm>
            <a:custGeom>
              <a:avLst/>
              <a:gdLst/>
              <a:ahLst/>
              <a:cxnLst/>
              <a:rect r="r" b="b" t="t" l="l"/>
              <a:pathLst>
                <a:path h="228526" w="233786">
                  <a:moveTo>
                    <a:pt x="0" y="0"/>
                  </a:moveTo>
                  <a:lnTo>
                    <a:pt x="233787" y="0"/>
                  </a:lnTo>
                  <a:lnTo>
                    <a:pt x="233787" y="228526"/>
                  </a:lnTo>
                  <a:lnTo>
                    <a:pt x="0" y="2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347433" y="5336790"/>
            <a:ext cx="4104431" cy="2654612"/>
            <a:chOff x="0" y="0"/>
            <a:chExt cx="5472575" cy="3539482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344175" y="2356477"/>
              <a:ext cx="4784225" cy="1183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GitHub · Notion</a:t>
              </a:r>
            </a:p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Obsidian · 블로그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0"/>
              <a:ext cx="5472575" cy="12808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76"/>
                </a:lnSpc>
                <a:spcBef>
                  <a:spcPct val="0"/>
                </a:spcBef>
              </a:pPr>
              <a:r>
                <a:rPr lang="en-US" b="true" sz="3200" spc="-64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어디서나</a:t>
              </a:r>
            </a:p>
            <a:p>
              <a:pPr algn="ctr" marL="0" indent="0" lvl="0">
                <a:lnSpc>
                  <a:spcPts val="3776"/>
                </a:lnSpc>
                <a:spcBef>
                  <a:spcPct val="0"/>
                </a:spcBef>
              </a:pPr>
              <a:r>
                <a:rPr lang="en-US" b="true" sz="3200" spc="-64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쓰인다</a:t>
              </a:r>
            </a:p>
          </p:txBody>
        </p:sp>
        <p:sp>
          <p:nvSpPr>
            <p:cNvPr name="Freeform 32" id="32"/>
            <p:cNvSpPr/>
            <p:nvPr/>
          </p:nvSpPr>
          <p:spPr>
            <a:xfrm flipH="false" flipV="false" rot="5400000">
              <a:off x="2619394" y="1804646"/>
              <a:ext cx="233786" cy="228526"/>
            </a:xfrm>
            <a:custGeom>
              <a:avLst/>
              <a:gdLst/>
              <a:ahLst/>
              <a:cxnLst/>
              <a:rect r="r" b="b" t="t" l="l"/>
              <a:pathLst>
                <a:path h="228526" w="233786">
                  <a:moveTo>
                    <a:pt x="0" y="0"/>
                  </a:moveTo>
                  <a:lnTo>
                    <a:pt x="233787" y="0"/>
                  </a:lnTo>
                  <a:lnTo>
                    <a:pt x="233787" y="228526"/>
                  </a:lnTo>
                  <a:lnTo>
                    <a:pt x="0" y="2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382000" y="8899525"/>
            <a:ext cx="152400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- 6 -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문법 한눈에 보기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1717296" y="3731994"/>
          <a:ext cx="14853407" cy="3917157"/>
        </p:xfrm>
        <a:graphic>
          <a:graphicData uri="http://schemas.openxmlformats.org/drawingml/2006/table">
            <a:tbl>
              <a:tblPr/>
              <a:tblGrid>
                <a:gridCol w="3495006"/>
                <a:gridCol w="3931697"/>
                <a:gridCol w="7426704"/>
              </a:tblGrid>
              <a:tr h="89992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00" strike="noStrike" u="non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요소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00" strike="noStrike" u="non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이렇게 쓰면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00" strike="noStrike" u="non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이렇게 보여요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</a:tr>
              <a:tr h="75430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제목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50" strike="noStrike" u="none">
                          <a:solidFill>
                            <a:srgbClr val="5170FF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# 제목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크고 굵은 제목 (#이 많을수록 작아짐)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0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목록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50" strike="noStrike" u="none">
                          <a:solidFill>
                            <a:srgbClr val="5170FF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- 항목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• 글머리 기호 목록 (1. 은 번호 목록)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0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강조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50" strike="noStrike" u="none">
                          <a:solidFill>
                            <a:srgbClr val="5170FF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**굵게**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굵은 글씨로 강조 (*하나는 기울임)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0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링크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50" strike="noStrike" u="none">
                          <a:solidFill>
                            <a:srgbClr val="5170FF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[글자](주소)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클릭하면 이동하는 파란 글자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82000" y="8899525"/>
            <a:ext cx="152400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- 7 -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418261" cy="593296"/>
              </a:xfrm>
              <a:custGeom>
                <a:avLst/>
                <a:gdLst/>
                <a:ahLst/>
                <a:cxnLst/>
                <a:rect r="r" b="b" t="t" l="l"/>
                <a:pathLst>
                  <a:path h="593296" w="1418261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19050"/>
                <a:ext cx="1418261" cy="5742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43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741639" y="70938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045128" y="502290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옆에 띄우기: Ctrl + K → V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741639" y="141804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1045128" y="1210950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Mac은 Ctrl 대신 Cmd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741639" y="2126706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045128" y="1919611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2.0 채팅 답변도 Markdown!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472784" y="2884234"/>
            <a:ext cx="3903318" cy="547878"/>
            <a:chOff x="0" y="0"/>
            <a:chExt cx="5204424" cy="7305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192339"/>
              <a:ext cx="355986" cy="355986"/>
            </a:xfrm>
            <a:custGeom>
              <a:avLst/>
              <a:gdLst/>
              <a:ahLst/>
              <a:cxnLst/>
              <a:rect r="r" b="b" t="t" l="l"/>
              <a:pathLst>
                <a:path h="355986" w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500339" y="76200"/>
              <a:ext cx="4704085" cy="654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6"/>
                </a:lnSpc>
                <a:spcBef>
                  <a:spcPct val="0"/>
                </a:spcBef>
              </a:pPr>
              <a:r>
                <a:rPr lang="en-US" b="true" sz="3600" spc="-72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3단계면 끝!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155335" y="3432112"/>
            <a:ext cx="8750665" cy="4719890"/>
          </a:xfrm>
          <a:custGeom>
            <a:avLst/>
            <a:gdLst/>
            <a:ahLst/>
            <a:cxnLst/>
            <a:rect r="r" b="b" t="t" l="l"/>
            <a:pathLst>
              <a:path h="4719890" w="8750665">
                <a:moveTo>
                  <a:pt x="0" y="0"/>
                </a:moveTo>
                <a:lnTo>
                  <a:pt x="8750665" y="0"/>
                </a:lnTo>
                <a:lnTo>
                  <a:pt x="8750665" y="4719890"/>
                </a:lnTo>
                <a:lnTo>
                  <a:pt x="0" y="47198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Antigravity에서 .md 쓰기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472784" y="3604117"/>
            <a:ext cx="7086813" cy="13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IDE에서 새 파일 → README.md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Markdown 문법으로 작성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Ctrl + Shift + V 로 미리보기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382000" y="8899525"/>
            <a:ext cx="152400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- 8 -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쉬는 시간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32477" y="5801544"/>
            <a:ext cx="11423046" cy="70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23"/>
              </a:lnSpc>
              <a:spcBef>
                <a:spcPct val="0"/>
              </a:spcBef>
            </a:pPr>
            <a:r>
              <a:rPr lang="en-US" b="true" sz="4800" spc="-144" strike="noStrike" u="non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10분 쉬어 갈게요!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32477" y="6600042"/>
            <a:ext cx="11423046" cy="70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23"/>
              </a:lnSpc>
              <a:spcBef>
                <a:spcPct val="0"/>
              </a:spcBef>
            </a:pPr>
            <a:r>
              <a:rPr lang="en-US" b="true" sz="4800" spc="-144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19:30에 다시 시작합니다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08845" y="7574259"/>
            <a:ext cx="7496762" cy="593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85"/>
              </a:lnSpc>
              <a:spcBef>
                <a:spcPct val="0"/>
              </a:spcBef>
            </a:pPr>
            <a:r>
              <a:rPr lang="en-US" b="true" sz="1799" spc="30" strike="noStrike" u="none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다음 파트: 문법 실습!</a:t>
            </a:r>
          </a:p>
          <a:p>
            <a:pPr algn="ctr" marL="0" indent="0" lvl="0">
              <a:lnSpc>
                <a:spcPts val="2285"/>
              </a:lnSpc>
              <a:spcBef>
                <a:spcPct val="0"/>
              </a:spcBef>
            </a:pPr>
            <a:r>
              <a:rPr lang="en-US" b="true" sz="1799" spc="30" strike="noStrike" u="none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IDE에서 my-intro 폴더를 열어 두세요.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name="Freeform 21" id="21" descr="녹차 한 잔과 노트북, 시계가 있는 휴식 일러스트"/>
          <p:cNvSpPr/>
          <p:nvPr/>
        </p:nvSpPr>
        <p:spPr>
          <a:xfrm flipH="false" flipV="false" rot="0">
            <a:off x="6191250" y="2143125"/>
            <a:ext cx="5905500" cy="3324225"/>
          </a:xfrm>
          <a:custGeom>
            <a:avLst/>
            <a:gdLst/>
            <a:ahLst/>
            <a:cxnLst/>
            <a:rect r="r" b="b" t="t" l="l"/>
            <a:pathLst>
              <a:path h="3324225" w="5905500">
                <a:moveTo>
                  <a:pt x="0" y="0"/>
                </a:moveTo>
                <a:lnTo>
                  <a:pt x="5905500" y="0"/>
                </a:lnTo>
                <a:lnTo>
                  <a:pt x="5905500" y="3324225"/>
                </a:lnTo>
                <a:lnTo>
                  <a:pt x="0" y="33242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7" t="0" r="-147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566049"/>
            <a:ext cx="17218292" cy="9186097"/>
            <a:chOff x="0" y="0"/>
            <a:chExt cx="22957723" cy="1224812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835531"/>
              <a:ext cx="22957723" cy="11412598"/>
              <a:chOff x="0" y="0"/>
              <a:chExt cx="4777465" cy="237494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374943"/>
              </a:xfrm>
              <a:custGeom>
                <a:avLst/>
                <a:gdLst/>
                <a:ahLst/>
                <a:cxnLst/>
                <a:rect r="r" b="b" t="t" l="l"/>
                <a:pathLst>
                  <a:path h="2374943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352012"/>
                    </a:lnTo>
                    <a:cubicBezTo>
                      <a:pt x="4777465" y="2358094"/>
                      <a:pt x="4775049" y="2363926"/>
                      <a:pt x="4770749" y="2368227"/>
                    </a:cubicBezTo>
                    <a:cubicBezTo>
                      <a:pt x="4766449" y="2372527"/>
                      <a:pt x="4760616" y="2374943"/>
                      <a:pt x="4754534" y="2374943"/>
                    </a:cubicBezTo>
                    <a:lnTo>
                      <a:pt x="22931" y="2374943"/>
                    </a:lnTo>
                    <a:cubicBezTo>
                      <a:pt x="10267" y="2374943"/>
                      <a:pt x="0" y="2364677"/>
                      <a:pt x="0" y="2352012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413043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4517287" y="0"/>
              <a:ext cx="18440436" cy="3397582"/>
              <a:chOff x="0" y="0"/>
              <a:chExt cx="3837425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837425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3837425">
                    <a:moveTo>
                      <a:pt x="28549" y="0"/>
                    </a:moveTo>
                    <a:lnTo>
                      <a:pt x="3808877" y="0"/>
                    </a:lnTo>
                    <a:cubicBezTo>
                      <a:pt x="3824644" y="0"/>
                      <a:pt x="3837425" y="12782"/>
                      <a:pt x="3837425" y="28549"/>
                    </a:cubicBezTo>
                    <a:lnTo>
                      <a:pt x="3837425" y="678483"/>
                    </a:lnTo>
                    <a:cubicBezTo>
                      <a:pt x="3837425" y="686054"/>
                      <a:pt x="3834418" y="693316"/>
                      <a:pt x="3829064" y="698670"/>
                    </a:cubicBezTo>
                    <a:cubicBezTo>
                      <a:pt x="3823710" y="704024"/>
                      <a:pt x="3816448" y="707031"/>
                      <a:pt x="3808877" y="707031"/>
                    </a:cubicBezTo>
                    <a:lnTo>
                      <a:pt x="28549" y="707031"/>
                    </a:lnTo>
                    <a:cubicBezTo>
                      <a:pt x="12782" y="707031"/>
                      <a:pt x="0" y="694250"/>
                      <a:pt x="0" y="678483"/>
                    </a:cubicBezTo>
                    <a:lnTo>
                      <a:pt x="0" y="28549"/>
                    </a:lnTo>
                    <a:cubicBezTo>
                      <a:pt x="0" y="20977"/>
                      <a:pt x="3008" y="13716"/>
                      <a:pt x="8362" y="8362"/>
                    </a:cubicBezTo>
                    <a:cubicBezTo>
                      <a:pt x="13716" y="3008"/>
                      <a:pt x="20977" y="0"/>
                      <a:pt x="28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3837425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081187" y="442770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2091821" y="-102735"/>
            <a:ext cx="1878623" cy="1295432"/>
            <a:chOff x="0" y="0"/>
            <a:chExt cx="521251" cy="3594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1251" cy="359436"/>
            </a:xfrm>
            <a:custGeom>
              <a:avLst/>
              <a:gdLst/>
              <a:ahLst/>
              <a:cxnLst/>
              <a:rect r="r" b="b" t="t" l="l"/>
              <a:pathLst>
                <a:path h="359436" w="521251">
                  <a:moveTo>
                    <a:pt x="179718" y="0"/>
                  </a:moveTo>
                  <a:lnTo>
                    <a:pt x="341533" y="0"/>
                  </a:lnTo>
                  <a:cubicBezTo>
                    <a:pt x="440789" y="0"/>
                    <a:pt x="521251" y="80463"/>
                    <a:pt x="521251" y="179718"/>
                  </a:cubicBezTo>
                  <a:lnTo>
                    <a:pt x="521251" y="179718"/>
                  </a:lnTo>
                  <a:cubicBezTo>
                    <a:pt x="521251" y="227382"/>
                    <a:pt x="502317" y="273094"/>
                    <a:pt x="468613" y="306798"/>
                  </a:cubicBezTo>
                  <a:cubicBezTo>
                    <a:pt x="434909" y="340502"/>
                    <a:pt x="389197" y="359436"/>
                    <a:pt x="341533" y="359436"/>
                  </a:cubicBezTo>
                  <a:lnTo>
                    <a:pt x="179718" y="359436"/>
                  </a:lnTo>
                  <a:cubicBezTo>
                    <a:pt x="132054" y="359436"/>
                    <a:pt x="86342" y="340502"/>
                    <a:pt x="52638" y="306798"/>
                  </a:cubicBezTo>
                  <a:cubicBezTo>
                    <a:pt x="18935" y="273094"/>
                    <a:pt x="0" y="227382"/>
                    <a:pt x="0" y="179718"/>
                  </a:cubicBezTo>
                  <a:lnTo>
                    <a:pt x="0" y="179718"/>
                  </a:lnTo>
                  <a:cubicBezTo>
                    <a:pt x="0" y="132054"/>
                    <a:pt x="18935" y="86342"/>
                    <a:pt x="52638" y="52638"/>
                  </a:cubicBezTo>
                  <a:cubicBezTo>
                    <a:pt x="86342" y="18935"/>
                    <a:pt x="132054" y="0"/>
                    <a:pt x="179718" y="0"/>
                  </a:cubicBezTo>
                  <a:close/>
                </a:path>
              </a:pathLst>
            </a:custGeom>
            <a:solidFill>
              <a:srgbClr val="5170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21251" cy="397536"/>
            </a:xfrm>
            <a:prstGeom prst="rect">
              <a:avLst/>
            </a:prstGeom>
          </p:spPr>
          <p:txBody>
            <a:bodyPr anchor="ctr" rtlCol="false" tIns="48220" lIns="48220" bIns="48220" rIns="48220"/>
            <a:lstStyle/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5400000">
            <a:off x="16995628" y="862350"/>
            <a:ext cx="82863" cy="368281"/>
          </a:xfrm>
          <a:custGeom>
            <a:avLst/>
            <a:gdLst/>
            <a:ahLst/>
            <a:cxnLst/>
            <a:rect r="r" b="b" t="t" l="l"/>
            <a:pathLst>
              <a:path h="368281" w="82863">
                <a:moveTo>
                  <a:pt x="0" y="0"/>
                </a:moveTo>
                <a:lnTo>
                  <a:pt x="82863" y="0"/>
                </a:lnTo>
                <a:lnTo>
                  <a:pt x="82863" y="368281"/>
                </a:lnTo>
                <a:lnTo>
                  <a:pt x="0" y="3682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3540110" y="6593084"/>
            <a:ext cx="3312808" cy="2401786"/>
          </a:xfrm>
          <a:custGeom>
            <a:avLst/>
            <a:gdLst/>
            <a:ahLst/>
            <a:cxnLst/>
            <a:rect r="r" b="b" t="t" l="l"/>
            <a:pathLst>
              <a:path h="2401786" w="3312808">
                <a:moveTo>
                  <a:pt x="0" y="0"/>
                </a:moveTo>
                <a:lnTo>
                  <a:pt x="3312809" y="0"/>
                </a:lnTo>
                <a:lnTo>
                  <a:pt x="3312809" y="2401786"/>
                </a:lnTo>
                <a:lnTo>
                  <a:pt x="0" y="24017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59283" y="679939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77195" y="2557664"/>
            <a:ext cx="14882105" cy="1533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193"/>
              </a:lnSpc>
              <a:spcBef>
                <a:spcPct val="0"/>
              </a:spcBef>
            </a:pPr>
            <a:r>
              <a:rPr lang="en-US" b="true" sz="9601" strike="noStrike" u="non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PART 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77195" y="3813005"/>
            <a:ext cx="12382500" cy="1533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193"/>
              </a:lnSpc>
              <a:spcBef>
                <a:spcPct val="0"/>
              </a:spcBef>
            </a:pPr>
            <a:r>
              <a:rPr lang="en-US" b="true" sz="9601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문법 실습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61238" y="6029828"/>
            <a:ext cx="10520872" cy="34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1"/>
              </a:lnSpc>
              <a:spcBef>
                <a:spcPct val="0"/>
              </a:spcBef>
            </a:pPr>
            <a:r>
              <a:rPr lang="en-US" b="true" sz="1799" spc="-17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⏱ 교육 시간 30분 · 구조 → 스타일 → 링크·이미지 → 표·수식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43870" y="5460741"/>
            <a:ext cx="10953750" cy="45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67"/>
              </a:lnSpc>
              <a:spcBef>
                <a:spcPct val="0"/>
              </a:spcBef>
            </a:pPr>
            <a:r>
              <a:rPr lang="en-US" b="true" sz="2799" spc="-114" strike="noStrike" u="none">
                <a:solidFill>
                  <a:srgbClr val="000000">
                    <a:alpha val="93725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나의 README.md 완성하기</a:t>
            </a:r>
          </a:p>
        </p:txBody>
      </p:sp>
      <p:sp>
        <p:nvSpPr>
          <p:cNvPr name="AutoShape 22" id="22"/>
          <p:cNvSpPr/>
          <p:nvPr/>
        </p:nvSpPr>
        <p:spPr>
          <a:xfrm flipH="true" flipV="true">
            <a:off x="4613382" y="7266893"/>
            <a:ext cx="0" cy="212812"/>
          </a:xfrm>
          <a:prstGeom prst="line">
            <a:avLst/>
          </a:prstGeom>
          <a:ln cap="flat" w="9525">
            <a:solidFill>
              <a:srgbClr val="222222">
                <a:alpha val="2274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2443870" y="7187244"/>
            <a:ext cx="2074261" cy="33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20"/>
              </a:lnSpc>
              <a:spcBef>
                <a:spcPct val="0"/>
              </a:spcBef>
            </a:pPr>
            <a:r>
              <a:rPr lang="en-US" b="true" sz="2000" spc="-80" strike="noStrike" u="none">
                <a:solidFill>
                  <a:srgbClr val="222222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교육운영진 </a:t>
            </a:r>
            <a:r>
              <a:rPr lang="en-US" b="true" sz="2000" spc="-80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허진수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873801" y="7278683"/>
            <a:ext cx="2358365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60"/>
              </a:lnSpc>
              <a:spcBef>
                <a:spcPct val="0"/>
              </a:spcBef>
            </a:pPr>
            <a:r>
              <a:rPr lang="en-US" b="true" sz="2000" spc="34" strike="noStrike" u="non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문의: 단톡방</a:t>
            </a:r>
          </a:p>
        </p:txBody>
      </p:sp>
      <p:sp>
        <p:nvSpPr>
          <p:cNvPr name="AutoShape 25" id="25"/>
          <p:cNvSpPr/>
          <p:nvPr/>
        </p:nvSpPr>
        <p:spPr>
          <a:xfrm>
            <a:off x="2461238" y="6934831"/>
            <a:ext cx="8718036" cy="0"/>
          </a:xfrm>
          <a:prstGeom prst="line">
            <a:avLst/>
          </a:prstGeom>
          <a:ln cap="flat" w="9525">
            <a:solidFill>
              <a:srgbClr val="222222">
                <a:alpha val="22745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418261" cy="593296"/>
              </a:xfrm>
              <a:custGeom>
                <a:avLst/>
                <a:gdLst/>
                <a:ahLst/>
                <a:cxnLst/>
                <a:rect r="r" b="b" t="t" l="l"/>
                <a:pathLst>
                  <a:path h="593296" w="1418261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19050"/>
                <a:ext cx="1418261" cy="5742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43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741639" y="70938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045128" y="502290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# 뒤에는 꼭 한 칸 띄기!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741639" y="141804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1045128" y="1210950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하위 목록은 스페이스 2칸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741639" y="2126706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045128" y="1919611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이름·내용은 내 정보로!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472784" y="2884234"/>
            <a:ext cx="3903318" cy="547878"/>
            <a:chOff x="0" y="0"/>
            <a:chExt cx="5204424" cy="7305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192339"/>
              <a:ext cx="355986" cy="355986"/>
            </a:xfrm>
            <a:custGeom>
              <a:avLst/>
              <a:gdLst/>
              <a:ahLst/>
              <a:cxnLst/>
              <a:rect r="r" b="b" t="t" l="l"/>
              <a:pathLst>
                <a:path h="355986" w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500339" y="76200"/>
              <a:ext cx="4704085" cy="654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6"/>
                </a:lnSpc>
                <a:spcBef>
                  <a:spcPct val="0"/>
                </a:spcBef>
              </a:pPr>
              <a:r>
                <a:rPr lang="en-US" b="true" sz="3600" spc="-72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규칙 4가지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[실습 1] 문서 구조 만들기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72784" y="3604117"/>
            <a:ext cx="7086813" cy="182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# 개수 == 제목 크기 (1~6개)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- 또는 1. == 목록 (들여쓰면 하위)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&gt; == 인용구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④ 빈 줄 == 단락 나누기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714500" y="2895600"/>
            <a:ext cx="8201025" cy="5695950"/>
            <a:chOff x="0" y="0"/>
            <a:chExt cx="10934700" cy="7594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34700" cy="7594600"/>
            </a:xfrm>
            <a:custGeom>
              <a:avLst/>
              <a:gdLst/>
              <a:ahLst/>
              <a:cxnLst/>
              <a:rect r="r" b="b" t="t" l="l"/>
              <a:pathLst>
                <a:path h="7594600" w="109347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559199"/>
                  </a:lnTo>
                  <a:cubicBezTo>
                    <a:pt x="10934700" y="7578751"/>
                    <a:pt x="10918851" y="7594600"/>
                    <a:pt x="10899299" y="7594600"/>
                  </a:cubicBezTo>
                  <a:lnTo>
                    <a:pt x="35401" y="7594600"/>
                  </a:lnTo>
                  <a:cubicBezTo>
                    <a:pt x="15849" y="7594600"/>
                    <a:pt x="0" y="7578751"/>
                    <a:pt x="0" y="75591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1E2233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934700" cy="7632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14500" y="2895600"/>
            <a:ext cx="8201025" cy="609600"/>
            <a:chOff x="0" y="0"/>
            <a:chExt cx="109347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34700" cy="812800"/>
            </a:xfrm>
            <a:custGeom>
              <a:avLst/>
              <a:gdLst/>
              <a:ahLst/>
              <a:cxnLst/>
              <a:rect r="r" b="b" t="t" l="l"/>
              <a:pathLst>
                <a:path h="812800" w="109347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77399"/>
                  </a:lnTo>
                  <a:cubicBezTo>
                    <a:pt x="10934700" y="796951"/>
                    <a:pt x="10918851" y="812800"/>
                    <a:pt x="10899299" y="812800"/>
                  </a:cubicBezTo>
                  <a:lnTo>
                    <a:pt x="35401" y="812800"/>
                  </a:lnTo>
                  <a:cubicBezTo>
                    <a:pt x="15849" y="812800"/>
                    <a:pt x="0" y="796951"/>
                    <a:pt x="0" y="7773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2D335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9347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047875" y="2971800"/>
            <a:ext cx="7429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A9B8FF"/>
                </a:solidFill>
                <a:latin typeface="Arimo Bold"/>
                <a:ea typeface="Arimo Bold"/>
                <a:cs typeface="Arimo Bold"/>
                <a:sym typeface="Arimo Bold"/>
              </a:rPr>
              <a:t>📄 my-intro/README.md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143125" y="3619500"/>
            <a:ext cx="7524750" cy="4585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# 홍길동의 README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## 👋 소개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경영학과 3학년, AI 입문자입니다.</a:t>
            </a:r>
          </a:p>
          <a:p>
            <a:pPr algn="l">
              <a:lnSpc>
                <a:spcPts val="2430"/>
              </a:lnSpc>
            </a:pP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## 🎯 관심사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- AI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- 여행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- 국내 여행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- 사진</a:t>
            </a:r>
          </a:p>
          <a:p>
            <a:pPr algn="l">
              <a:lnSpc>
                <a:spcPts val="2430"/>
              </a:lnSpc>
            </a:pP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## 📅 이번 학기 목표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1. Antigravity 익숙해지기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2. 미니 프로젝트 완성하기</a:t>
            </a:r>
          </a:p>
          <a:p>
            <a:pPr algn="l">
              <a:lnSpc>
                <a:spcPts val="2430"/>
              </a:lnSpc>
            </a:pP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&gt; 오늘 할 일을 내일로 미루지 말자!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382000" y="8899525"/>
            <a:ext cx="152400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- 11 -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418261" cy="593296"/>
              </a:xfrm>
              <a:custGeom>
                <a:avLst/>
                <a:gdLst/>
                <a:ahLst/>
                <a:cxnLst/>
                <a:rect r="r" b="b" t="t" l="l"/>
                <a:pathLst>
                  <a:path h="593296" w="1418261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19050"/>
                <a:ext cx="1418261" cy="5742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43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741639" y="70938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045128" y="502290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백틱 ` 은 숫자 1 왼쪽 키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741639" y="141804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1045128" y="1210950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``` 3개 == 여러 줄 코드 블록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741639" y="2126706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045128" y="1919611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``` 뒤 언어 이름 == 색 칠하기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472784" y="2884234"/>
            <a:ext cx="3903318" cy="547878"/>
            <a:chOff x="0" y="0"/>
            <a:chExt cx="5204424" cy="7305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192339"/>
              <a:ext cx="355986" cy="355986"/>
            </a:xfrm>
            <a:custGeom>
              <a:avLst/>
              <a:gdLst/>
              <a:ahLst/>
              <a:cxnLst/>
              <a:rect r="r" b="b" t="t" l="l"/>
              <a:pathLst>
                <a:path h="355986" w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500339" y="76200"/>
              <a:ext cx="4704085" cy="654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6"/>
                </a:lnSpc>
                <a:spcBef>
                  <a:spcPct val="0"/>
                </a:spcBef>
              </a:pPr>
              <a:r>
                <a:rPr lang="en-US" b="true" sz="3600" spc="-72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스타일 규칙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[실습 2] 텍스트 꾸미기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72784" y="3604117"/>
            <a:ext cx="7086813" cy="182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**글자** == 굵게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*글자* == 기울임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~~글자~~ == 취소선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④ `글자` == 코드 (백틱)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714500" y="2895600"/>
            <a:ext cx="8201025" cy="5695950"/>
            <a:chOff x="0" y="0"/>
            <a:chExt cx="10934700" cy="7594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34700" cy="7594600"/>
            </a:xfrm>
            <a:custGeom>
              <a:avLst/>
              <a:gdLst/>
              <a:ahLst/>
              <a:cxnLst/>
              <a:rect r="r" b="b" t="t" l="l"/>
              <a:pathLst>
                <a:path h="7594600" w="109347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559199"/>
                  </a:lnTo>
                  <a:cubicBezTo>
                    <a:pt x="10934700" y="7578751"/>
                    <a:pt x="10918851" y="7594600"/>
                    <a:pt x="10899299" y="7594600"/>
                  </a:cubicBezTo>
                  <a:lnTo>
                    <a:pt x="35401" y="7594600"/>
                  </a:lnTo>
                  <a:cubicBezTo>
                    <a:pt x="15849" y="7594600"/>
                    <a:pt x="0" y="7578751"/>
                    <a:pt x="0" y="75591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1E2233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934700" cy="7632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14500" y="2895600"/>
            <a:ext cx="8201025" cy="609600"/>
            <a:chOff x="0" y="0"/>
            <a:chExt cx="109347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34700" cy="812800"/>
            </a:xfrm>
            <a:custGeom>
              <a:avLst/>
              <a:gdLst/>
              <a:ahLst/>
              <a:cxnLst/>
              <a:rect r="r" b="b" t="t" l="l"/>
              <a:pathLst>
                <a:path h="812800" w="109347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77399"/>
                  </a:lnTo>
                  <a:cubicBezTo>
                    <a:pt x="10934700" y="796951"/>
                    <a:pt x="10918851" y="812800"/>
                    <a:pt x="10899299" y="812800"/>
                  </a:cubicBezTo>
                  <a:lnTo>
                    <a:pt x="35401" y="812800"/>
                  </a:lnTo>
                  <a:cubicBezTo>
                    <a:pt x="15849" y="812800"/>
                    <a:pt x="0" y="796951"/>
                    <a:pt x="0" y="7773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2D335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9347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047875" y="2971800"/>
            <a:ext cx="7429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A9B8FF"/>
                </a:solidFill>
                <a:latin typeface="Arimo Bold"/>
                <a:ea typeface="Arimo Bold"/>
                <a:cs typeface="Arimo Bold"/>
                <a:sym typeface="Arimo Bold"/>
              </a:rPr>
              <a:t>📄 README.md 에 이어서 쓰기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143125" y="3752850"/>
            <a:ext cx="7524750" cy="380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## 💪 나의 강점</a:t>
            </a:r>
          </a:p>
          <a:p>
            <a:pPr algn="l">
              <a:lnSpc>
                <a:spcPts val="3045"/>
              </a:lnSpc>
            </a:pPr>
            <a:r>
              <a:rPr lang="en-US" sz="21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**끈기**가 있고, *호기심*이 많습니다.</a:t>
            </a:r>
          </a:p>
          <a:p>
            <a:pPr algn="l">
              <a:lnSpc>
                <a:spcPts val="3045"/>
              </a:lnSpc>
            </a:pPr>
            <a:r>
              <a:rPr lang="en-US" sz="21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~~코딩은 어렵다~~ → 이제 AI와 함께!</a:t>
            </a:r>
          </a:p>
          <a:p>
            <a:pPr algn="l">
              <a:lnSpc>
                <a:spcPts val="3045"/>
              </a:lnSpc>
            </a:pPr>
          </a:p>
          <a:p>
            <a:pPr algn="l">
              <a:lnSpc>
                <a:spcPts val="3045"/>
              </a:lnSpc>
            </a:pPr>
            <a:r>
              <a:rPr lang="en-US" sz="21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## 💻 좋아하는 코드</a:t>
            </a:r>
          </a:p>
          <a:p>
            <a:pPr algn="l">
              <a:lnSpc>
                <a:spcPts val="3045"/>
              </a:lnSpc>
            </a:pPr>
            <a:r>
              <a:rPr lang="en-US" sz="21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인라인 코드: `print("hello")`</a:t>
            </a:r>
          </a:p>
          <a:p>
            <a:pPr algn="l">
              <a:lnSpc>
                <a:spcPts val="3045"/>
              </a:lnSpc>
            </a:pPr>
          </a:p>
          <a:p>
            <a:pPr algn="l">
              <a:lnSpc>
                <a:spcPts val="3045"/>
              </a:lnSpc>
            </a:pPr>
            <a:r>
              <a:rPr lang="en-US" sz="21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```python</a:t>
            </a:r>
          </a:p>
          <a:p>
            <a:pPr algn="l">
              <a:lnSpc>
                <a:spcPts val="3045"/>
              </a:lnSpc>
            </a:pPr>
            <a:r>
              <a:rPr lang="en-US" sz="21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print("안녕하세요, 홍길동입니다!")</a:t>
            </a:r>
          </a:p>
          <a:p>
            <a:pPr algn="l">
              <a:lnSpc>
                <a:spcPts val="3045"/>
              </a:lnSpc>
            </a:pPr>
            <a:r>
              <a:rPr lang="en-US" sz="21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```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382000" y="8899525"/>
            <a:ext cx="152400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- 12 -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418261" cy="593296"/>
              </a:xfrm>
              <a:custGeom>
                <a:avLst/>
                <a:gdLst/>
                <a:ahLst/>
                <a:cxnLst/>
                <a:rect r="r" b="b" t="t" l="l"/>
                <a:pathLst>
                  <a:path h="593296" w="1418261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19050"/>
                <a:ext cx="1418261" cy="5742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43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741639" y="70938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045128" y="502290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me.png는 README와 같은 폴더에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741639" y="141804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1045128" y="1210950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설명 == 이미지가 안 뜨면 대신 표시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741639" y="2126706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045128" y="1919611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웹 이미지는 주소를 그대로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472784" y="2884234"/>
            <a:ext cx="7042754" cy="547878"/>
            <a:chOff x="0" y="0"/>
            <a:chExt cx="9390339" cy="7305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192339"/>
              <a:ext cx="355986" cy="355986"/>
            </a:xfrm>
            <a:custGeom>
              <a:avLst/>
              <a:gdLst/>
              <a:ahLst/>
              <a:cxnLst/>
              <a:rect r="r" b="b" t="t" l="l"/>
              <a:pathLst>
                <a:path h="355986" w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500339" y="76200"/>
              <a:ext cx="8890000" cy="654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6"/>
                </a:lnSpc>
                <a:spcBef>
                  <a:spcPct val="0"/>
                </a:spcBef>
              </a:pPr>
              <a:r>
                <a:rPr lang="en-US" b="true" sz="3600" spc="-72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링크 · 이미지 규칙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[실습 3] 링크와 이미지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72784" y="3604117"/>
            <a:ext cx="7086813" cy="13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[보일 글자](주소) == 링크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![설명](경로) == 이미지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느낌표 ! 하나 차이!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714500" y="2895600"/>
            <a:ext cx="8201025" cy="5695950"/>
            <a:chOff x="0" y="0"/>
            <a:chExt cx="10934700" cy="7594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34700" cy="7594600"/>
            </a:xfrm>
            <a:custGeom>
              <a:avLst/>
              <a:gdLst/>
              <a:ahLst/>
              <a:cxnLst/>
              <a:rect r="r" b="b" t="t" l="l"/>
              <a:pathLst>
                <a:path h="7594600" w="109347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559199"/>
                  </a:lnTo>
                  <a:cubicBezTo>
                    <a:pt x="10934700" y="7578751"/>
                    <a:pt x="10918851" y="7594600"/>
                    <a:pt x="10899299" y="7594600"/>
                  </a:cubicBezTo>
                  <a:lnTo>
                    <a:pt x="35401" y="7594600"/>
                  </a:lnTo>
                  <a:cubicBezTo>
                    <a:pt x="15849" y="7594600"/>
                    <a:pt x="0" y="7578751"/>
                    <a:pt x="0" y="75591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1E2233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934700" cy="7632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14500" y="2895600"/>
            <a:ext cx="8201025" cy="609600"/>
            <a:chOff x="0" y="0"/>
            <a:chExt cx="109347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34700" cy="812800"/>
            </a:xfrm>
            <a:custGeom>
              <a:avLst/>
              <a:gdLst/>
              <a:ahLst/>
              <a:cxnLst/>
              <a:rect r="r" b="b" t="t" l="l"/>
              <a:pathLst>
                <a:path h="812800" w="109347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77399"/>
                  </a:lnTo>
                  <a:cubicBezTo>
                    <a:pt x="10934700" y="796951"/>
                    <a:pt x="10918851" y="812800"/>
                    <a:pt x="10899299" y="812800"/>
                  </a:cubicBezTo>
                  <a:lnTo>
                    <a:pt x="35401" y="812800"/>
                  </a:lnTo>
                  <a:cubicBezTo>
                    <a:pt x="15849" y="812800"/>
                    <a:pt x="0" y="796951"/>
                    <a:pt x="0" y="7773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2D335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9347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047875" y="2971800"/>
            <a:ext cx="7429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A9B8FF"/>
                </a:solidFill>
                <a:latin typeface="Arimo Bold"/>
                <a:ea typeface="Arimo Bold"/>
                <a:cs typeface="Arimo Bold"/>
                <a:sym typeface="Arimo Bold"/>
              </a:rPr>
              <a:t>📄 README.md 에 이어서 쓰기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143125" y="3743325"/>
            <a:ext cx="7524750" cy="318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## 🔗 링크</a:t>
            </a:r>
          </a:p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- [해달 GitHub](https://github.com)</a:t>
            </a:r>
          </a:p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- [Antigravity](https://antigravity.google)</a:t>
            </a:r>
          </a:p>
          <a:p>
            <a:pPr algn="l">
              <a:lnSpc>
                <a:spcPts val="3150"/>
              </a:lnSpc>
            </a:pPr>
          </a:p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## 🖼️ 사진</a:t>
            </a:r>
          </a:p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![내 프로필 사진](./me.png)</a:t>
            </a:r>
          </a:p>
          <a:p>
            <a:pPr algn="l">
              <a:lnSpc>
                <a:spcPts val="3150"/>
              </a:lnSpc>
            </a:pPr>
          </a:p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![랜덤 풍경](https://picsum.photos/400/200)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382000" y="8899525"/>
            <a:ext cx="152400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- 13 -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418261" cy="593296"/>
              </a:xfrm>
              <a:custGeom>
                <a:avLst/>
                <a:gdLst/>
                <a:ahLst/>
                <a:cxnLst/>
                <a:rect r="r" b="b" t="t" l="l"/>
                <a:pathLst>
                  <a:path h="593296" w="1418261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19050"/>
                <a:ext cx="1418261" cy="5742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43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741639" y="70938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045128" y="502290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표는 AI에게 맡겨도 OK!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741639" y="141804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1045128" y="1210950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$$ 두 개 == 가운데 큰 수식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741639" y="2126706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045128" y="1919611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수식은 미리보기에서 확인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472784" y="2884234"/>
            <a:ext cx="3903318" cy="547878"/>
            <a:chOff x="0" y="0"/>
            <a:chExt cx="5204424" cy="7305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192339"/>
              <a:ext cx="355986" cy="355986"/>
            </a:xfrm>
            <a:custGeom>
              <a:avLst/>
              <a:gdLst/>
              <a:ahLst/>
              <a:cxnLst/>
              <a:rect r="r" b="b" t="t" l="l"/>
              <a:pathLst>
                <a:path h="355986" w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500339" y="76200"/>
              <a:ext cx="4704085" cy="654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6"/>
                </a:lnSpc>
                <a:spcBef>
                  <a:spcPct val="0"/>
                </a:spcBef>
              </a:pPr>
              <a:r>
                <a:rPr lang="en-US" b="true" sz="3600" spc="-72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표 · 수식 규칙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[실습 4] 표와 수식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72784" y="3604117"/>
            <a:ext cx="7086813" cy="182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| 로 칸을 나눔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2번째 줄 --- == 머리행 구분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:---: 가운데 / ---: 오른쪽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④ $수식$ == LaTeX 수식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714500" y="2895600"/>
            <a:ext cx="8201025" cy="5695950"/>
            <a:chOff x="0" y="0"/>
            <a:chExt cx="10934700" cy="7594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34700" cy="7594600"/>
            </a:xfrm>
            <a:custGeom>
              <a:avLst/>
              <a:gdLst/>
              <a:ahLst/>
              <a:cxnLst/>
              <a:rect r="r" b="b" t="t" l="l"/>
              <a:pathLst>
                <a:path h="7594600" w="109347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559199"/>
                  </a:lnTo>
                  <a:cubicBezTo>
                    <a:pt x="10934700" y="7578751"/>
                    <a:pt x="10918851" y="7594600"/>
                    <a:pt x="10899299" y="7594600"/>
                  </a:cubicBezTo>
                  <a:lnTo>
                    <a:pt x="35401" y="7594600"/>
                  </a:lnTo>
                  <a:cubicBezTo>
                    <a:pt x="15849" y="7594600"/>
                    <a:pt x="0" y="7578751"/>
                    <a:pt x="0" y="75591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1E2233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934700" cy="7632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14500" y="2895600"/>
            <a:ext cx="8201025" cy="609600"/>
            <a:chOff x="0" y="0"/>
            <a:chExt cx="109347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34700" cy="812800"/>
            </a:xfrm>
            <a:custGeom>
              <a:avLst/>
              <a:gdLst/>
              <a:ahLst/>
              <a:cxnLst/>
              <a:rect r="r" b="b" t="t" l="l"/>
              <a:pathLst>
                <a:path h="812800" w="109347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77399"/>
                  </a:lnTo>
                  <a:cubicBezTo>
                    <a:pt x="10934700" y="796951"/>
                    <a:pt x="10918851" y="812800"/>
                    <a:pt x="10899299" y="812800"/>
                  </a:cubicBezTo>
                  <a:lnTo>
                    <a:pt x="35401" y="812800"/>
                  </a:lnTo>
                  <a:cubicBezTo>
                    <a:pt x="15849" y="812800"/>
                    <a:pt x="0" y="796951"/>
                    <a:pt x="0" y="7773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2D335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9347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047875" y="2971800"/>
            <a:ext cx="7429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A9B8FF"/>
                </a:solidFill>
                <a:latin typeface="Arimo Bold"/>
                <a:ea typeface="Arimo Bold"/>
                <a:cs typeface="Arimo Bold"/>
                <a:sym typeface="Arimo Bold"/>
              </a:rPr>
              <a:t>📄 README.md 에 이어서 쓰기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143125" y="3667125"/>
            <a:ext cx="7524750" cy="4010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## 🗓️ 주간 계획표</a:t>
            </a: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| 요일 | 할 일 | 시간 |</a:t>
            </a: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| :--- | :---: | ---: |</a:t>
            </a: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| 월 | 바이브코딩 수업 | 19:00 |</a:t>
            </a: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| 수 | 복습 &amp; 과제 | 20:00 |</a:t>
            </a:r>
          </a:p>
          <a:p>
            <a:pPr algn="l">
              <a:lnSpc>
                <a:spcPts val="2632"/>
              </a:lnSpc>
            </a:pP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## 🧮 좋아하는 공식</a:t>
            </a: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인라인: $E = mc^2$</a:t>
            </a:r>
          </a:p>
          <a:p>
            <a:pPr algn="l">
              <a:lnSpc>
                <a:spcPts val="2632"/>
              </a:lnSpc>
            </a:pP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$$</a:t>
            </a: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\frac{a + b}{2}</a:t>
            </a: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$$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382000" y="8899525"/>
            <a:ext cx="152400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- 14 -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418261" cy="593296"/>
              </a:xfrm>
              <a:custGeom>
                <a:avLst/>
                <a:gdLst/>
                <a:ahLst/>
                <a:cxnLst/>
                <a:rect r="r" b="b" t="t" l="l"/>
                <a:pathLst>
                  <a:path h="593296" w="1418261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19050"/>
                <a:ext cx="1418261" cy="5742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43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741639" y="70938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045128" y="502290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원본은 미리 복사해 두기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741639" y="141804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1045128" y="1210950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마음에 안 들면 되돌리기 요청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741639" y="2126706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045128" y="1919611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완성본은 단톡방에 공유!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472784" y="2884234"/>
            <a:ext cx="3903318" cy="547878"/>
            <a:chOff x="0" y="0"/>
            <a:chExt cx="5204424" cy="7305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192339"/>
              <a:ext cx="355986" cy="355986"/>
            </a:xfrm>
            <a:custGeom>
              <a:avLst/>
              <a:gdLst/>
              <a:ahLst/>
              <a:cxnLst/>
              <a:rect r="r" b="b" t="t" l="l"/>
              <a:pathLst>
                <a:path h="355986" w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500339" y="76200"/>
              <a:ext cx="4704085" cy="654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6"/>
                </a:lnSpc>
                <a:spcBef>
                  <a:spcPct val="0"/>
                </a:spcBef>
              </a:pPr>
              <a:r>
                <a:rPr lang="en-US" b="true" sz="3600" spc="-72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AI와 함께 완성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[보너스] AI에게 다듬기 맡기기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72784" y="3604117"/>
            <a:ext cx="7086813" cy="13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내가 쓴 초안을 AI에게 맡기고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바뀐 부분을 IDE에서 확인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모르는 문법은 다시 질문!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714500" y="2895600"/>
            <a:ext cx="8201025" cy="5695950"/>
            <a:chOff x="0" y="0"/>
            <a:chExt cx="10934700" cy="7594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34700" cy="7594600"/>
            </a:xfrm>
            <a:custGeom>
              <a:avLst/>
              <a:gdLst/>
              <a:ahLst/>
              <a:cxnLst/>
              <a:rect r="r" b="b" t="t" l="l"/>
              <a:pathLst>
                <a:path h="7594600" w="109347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559199"/>
                  </a:lnTo>
                  <a:cubicBezTo>
                    <a:pt x="10934700" y="7578751"/>
                    <a:pt x="10918851" y="7594600"/>
                    <a:pt x="10899299" y="7594600"/>
                  </a:cubicBezTo>
                  <a:lnTo>
                    <a:pt x="35401" y="7594600"/>
                  </a:lnTo>
                  <a:cubicBezTo>
                    <a:pt x="15849" y="7594600"/>
                    <a:pt x="0" y="7578751"/>
                    <a:pt x="0" y="75591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1E2233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934700" cy="7632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14500" y="2895600"/>
            <a:ext cx="8201025" cy="609600"/>
            <a:chOff x="0" y="0"/>
            <a:chExt cx="109347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34700" cy="812800"/>
            </a:xfrm>
            <a:custGeom>
              <a:avLst/>
              <a:gdLst/>
              <a:ahLst/>
              <a:cxnLst/>
              <a:rect r="r" b="b" t="t" l="l"/>
              <a:pathLst>
                <a:path h="812800" w="109347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77399"/>
                  </a:lnTo>
                  <a:cubicBezTo>
                    <a:pt x="10934700" y="796951"/>
                    <a:pt x="10918851" y="812800"/>
                    <a:pt x="10899299" y="812800"/>
                  </a:cubicBezTo>
                  <a:lnTo>
                    <a:pt x="35401" y="812800"/>
                  </a:lnTo>
                  <a:cubicBezTo>
                    <a:pt x="15849" y="812800"/>
                    <a:pt x="0" y="796951"/>
                    <a:pt x="0" y="7773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2D335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9347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047875" y="2971800"/>
            <a:ext cx="7429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A9B8FF"/>
                </a:solidFill>
                <a:latin typeface="Arimo Bold"/>
                <a:ea typeface="Arimo Bold"/>
                <a:cs typeface="Arimo Bold"/>
                <a:sym typeface="Arimo Bold"/>
              </a:rPr>
              <a:t>💬 Antigravity 2.0 채팅창에 입력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143125" y="3733800"/>
            <a:ext cx="7524750" cy="341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README.md를 더 보기 좋게 다듬어줘.</a:t>
            </a: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- Markdown 문법만 사용할 것</a:t>
            </a: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- 섹션마다 어울리는 이모지 추가</a:t>
            </a: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- '나의 기술 스택'을 표로 정리</a:t>
            </a: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- 맨 위에 한 줄 소개를 인용구로</a:t>
            </a:r>
          </a:p>
          <a:p>
            <a:pPr algn="l">
              <a:lnSpc>
                <a:spcPts val="3375"/>
              </a:lnSpc>
            </a:pP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다듬은 뒤, 사용한 Markdown 문법을</a:t>
            </a:r>
          </a:p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하나씩 쉽게 설명해줘.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382000" y="8899525"/>
            <a:ext cx="152400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- 15 -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Markdown 치트시트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717296" y="2898323"/>
            <a:ext cx="7335408" cy="2752701"/>
            <a:chOff x="0" y="0"/>
            <a:chExt cx="1931959" cy="7249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1959" cy="724991"/>
            </a:xfrm>
            <a:custGeom>
              <a:avLst/>
              <a:gdLst/>
              <a:ahLst/>
              <a:cxnLst/>
              <a:rect r="r" b="b" t="t" l="l"/>
              <a:pathLst>
                <a:path h="724991" w="1931959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1931959" cy="705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17296" y="5846679"/>
            <a:ext cx="7335408" cy="2752701"/>
            <a:chOff x="0" y="0"/>
            <a:chExt cx="1931959" cy="7249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1959" cy="724991"/>
            </a:xfrm>
            <a:custGeom>
              <a:avLst/>
              <a:gdLst/>
              <a:ahLst/>
              <a:cxnLst/>
              <a:rect r="r" b="b" t="t" l="l"/>
              <a:pathLst>
                <a:path h="724991" w="1931959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1931959" cy="705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44821" y="2898323"/>
            <a:ext cx="7335408" cy="2752701"/>
            <a:chOff x="0" y="0"/>
            <a:chExt cx="1931959" cy="7249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31959" cy="724991"/>
            </a:xfrm>
            <a:custGeom>
              <a:avLst/>
              <a:gdLst/>
              <a:ahLst/>
              <a:cxnLst/>
              <a:rect r="r" b="b" t="t" l="l"/>
              <a:pathLst>
                <a:path h="724991" w="1931959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1931959" cy="705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244821" y="5846679"/>
            <a:ext cx="7335408" cy="2752701"/>
            <a:chOff x="0" y="0"/>
            <a:chExt cx="1931959" cy="7249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31959" cy="724991"/>
            </a:xfrm>
            <a:custGeom>
              <a:avLst/>
              <a:gdLst/>
              <a:ahLst/>
              <a:cxnLst/>
              <a:rect r="r" b="b" t="t" l="l"/>
              <a:pathLst>
                <a:path h="724991" w="1931959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1931959" cy="705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512059" y="5378921"/>
            <a:ext cx="3263882" cy="851964"/>
            <a:chOff x="0" y="0"/>
            <a:chExt cx="859623" cy="22438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59623" cy="224386"/>
            </a:xfrm>
            <a:custGeom>
              <a:avLst/>
              <a:gdLst/>
              <a:ahLst/>
              <a:cxnLst/>
              <a:rect r="r" b="b" t="t" l="l"/>
              <a:pathLst>
                <a:path h="224386" w="859623">
                  <a:moveTo>
                    <a:pt x="35580" y="0"/>
                  </a:moveTo>
                  <a:lnTo>
                    <a:pt x="824043" y="0"/>
                  </a:lnTo>
                  <a:cubicBezTo>
                    <a:pt x="833480" y="0"/>
                    <a:pt x="842530" y="3749"/>
                    <a:pt x="849202" y="10421"/>
                  </a:cubicBezTo>
                  <a:cubicBezTo>
                    <a:pt x="855875" y="17094"/>
                    <a:pt x="859623" y="26144"/>
                    <a:pt x="859623" y="35580"/>
                  </a:cubicBezTo>
                  <a:lnTo>
                    <a:pt x="859623" y="188806"/>
                  </a:lnTo>
                  <a:cubicBezTo>
                    <a:pt x="859623" y="208456"/>
                    <a:pt x="843694" y="224386"/>
                    <a:pt x="824043" y="224386"/>
                  </a:cubicBezTo>
                  <a:lnTo>
                    <a:pt x="35580" y="224386"/>
                  </a:lnTo>
                  <a:cubicBezTo>
                    <a:pt x="26144" y="224386"/>
                    <a:pt x="17094" y="220637"/>
                    <a:pt x="10421" y="213964"/>
                  </a:cubicBezTo>
                  <a:cubicBezTo>
                    <a:pt x="3749" y="207292"/>
                    <a:pt x="0" y="198242"/>
                    <a:pt x="0" y="188806"/>
                  </a:cubicBezTo>
                  <a:lnTo>
                    <a:pt x="0" y="35580"/>
                  </a:lnTo>
                  <a:cubicBezTo>
                    <a:pt x="0" y="26144"/>
                    <a:pt x="3749" y="17094"/>
                    <a:pt x="10421" y="10421"/>
                  </a:cubicBezTo>
                  <a:cubicBezTo>
                    <a:pt x="17094" y="3749"/>
                    <a:pt x="26144" y="0"/>
                    <a:pt x="35580" y="0"/>
                  </a:cubicBezTo>
                  <a:close/>
                </a:path>
              </a:pathLst>
            </a:custGeom>
            <a:solidFill>
              <a:srgbClr val="5170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859623" cy="205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7512059" y="5550371"/>
            <a:ext cx="3263882" cy="48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한 장 요약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020968" y="3254392"/>
            <a:ext cx="4728065" cy="48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문서 구조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020968" y="6202748"/>
            <a:ext cx="4728065" cy="48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링크 · 이미지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548493" y="3254392"/>
            <a:ext cx="4728065" cy="48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텍스트 스타일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548493" y="6202748"/>
            <a:ext cx="4728065" cy="48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④ 표 · 수식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3158735" y="4303307"/>
            <a:ext cx="4713902" cy="304800"/>
            <a:chOff x="0" y="0"/>
            <a:chExt cx="6285203" cy="406400"/>
          </a:xfrm>
        </p:grpSpPr>
        <p:sp>
          <p:nvSpPr>
            <p:cNvPr name="TextBox 38" id="38"/>
            <p:cNvSpPr txBox="true"/>
            <p:nvPr/>
          </p:nvSpPr>
          <p:spPr>
            <a:xfrm rot="0">
              <a:off x="303953" y="-76200"/>
              <a:ext cx="598125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# 제목   ## 소제목   &gt; 인용</a:t>
              </a:r>
            </a:p>
          </p:txBody>
        </p:sp>
        <p:sp>
          <p:nvSpPr>
            <p:cNvPr name="Freeform 39" id="39"/>
            <p:cNvSpPr/>
            <p:nvPr/>
          </p:nvSpPr>
          <p:spPr>
            <a:xfrm flipH="false" flipV="false" rot="0">
              <a:off x="0" y="13089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3165348" y="7251663"/>
            <a:ext cx="4740356" cy="304800"/>
            <a:chOff x="0" y="0"/>
            <a:chExt cx="6320475" cy="406400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303953" y="-76200"/>
              <a:ext cx="6016522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[보일 글자](주소)</a:t>
              </a:r>
            </a:p>
          </p:txBody>
        </p:sp>
        <p:sp>
          <p:nvSpPr>
            <p:cNvPr name="Freeform 42" id="42"/>
            <p:cNvSpPr/>
            <p:nvPr/>
          </p:nvSpPr>
          <p:spPr>
            <a:xfrm flipH="false" flipV="false" rot="0">
              <a:off x="0" y="13089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615438" y="4303307"/>
            <a:ext cx="4739353" cy="304800"/>
            <a:chOff x="0" y="0"/>
            <a:chExt cx="6319138" cy="406400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303953" y="-76200"/>
              <a:ext cx="6015185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**굵게**   *기울임*   ~~취소~~</a:t>
              </a:r>
            </a:p>
          </p:txBody>
        </p:sp>
        <p:sp>
          <p:nvSpPr>
            <p:cNvPr name="Freeform 45" id="45"/>
            <p:cNvSpPr/>
            <p:nvPr/>
          </p:nvSpPr>
          <p:spPr>
            <a:xfrm flipH="false" flipV="false" rot="0">
              <a:off x="0" y="13089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631382" y="7251663"/>
            <a:ext cx="4655560" cy="304800"/>
            <a:chOff x="0" y="0"/>
            <a:chExt cx="6207413" cy="406400"/>
          </a:xfrm>
        </p:grpSpPr>
        <p:sp>
          <p:nvSpPr>
            <p:cNvPr name="TextBox 47" id="47"/>
            <p:cNvSpPr txBox="true"/>
            <p:nvPr/>
          </p:nvSpPr>
          <p:spPr>
            <a:xfrm rot="0">
              <a:off x="303953" y="-76200"/>
              <a:ext cx="590346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| 칸 | 칸 |  +  |---|---|</a:t>
              </a:r>
            </a:p>
          </p:txBody>
        </p:sp>
        <p:sp>
          <p:nvSpPr>
            <p:cNvPr name="Freeform 48" id="48"/>
            <p:cNvSpPr/>
            <p:nvPr/>
          </p:nvSpPr>
          <p:spPr>
            <a:xfrm flipH="false" flipV="false" rot="0">
              <a:off x="0" y="13089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3158735" y="4790276"/>
            <a:ext cx="4753583" cy="304800"/>
            <a:chOff x="0" y="0"/>
            <a:chExt cx="6338111" cy="406400"/>
          </a:xfrm>
        </p:grpSpPr>
        <p:sp>
          <p:nvSpPr>
            <p:cNvPr name="TextBox 50" id="50"/>
            <p:cNvSpPr txBox="true"/>
            <p:nvPr/>
          </p:nvSpPr>
          <p:spPr>
            <a:xfrm rot="0">
              <a:off x="303953" y="-76200"/>
              <a:ext cx="6034158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- 목록   1. 번호 목록</a:t>
              </a:r>
            </a:p>
          </p:txBody>
        </p:sp>
        <p:sp>
          <p:nvSpPr>
            <p:cNvPr name="Freeform 51" id="51"/>
            <p:cNvSpPr/>
            <p:nvPr/>
          </p:nvSpPr>
          <p:spPr>
            <a:xfrm flipH="false" flipV="false" rot="0">
              <a:off x="0" y="13089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3165348" y="7738632"/>
            <a:ext cx="4771754" cy="304800"/>
            <a:chOff x="0" y="0"/>
            <a:chExt cx="6362338" cy="406400"/>
          </a:xfrm>
        </p:grpSpPr>
        <p:sp>
          <p:nvSpPr>
            <p:cNvPr name="TextBox 53" id="53"/>
            <p:cNvSpPr txBox="true"/>
            <p:nvPr/>
          </p:nvSpPr>
          <p:spPr>
            <a:xfrm rot="0">
              <a:off x="303953" y="-76200"/>
              <a:ext cx="6058385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![설명](이미지 경로)</a:t>
              </a:r>
            </a:p>
          </p:txBody>
        </p:sp>
        <p:sp>
          <p:nvSpPr>
            <p:cNvPr name="Freeform 54" id="54"/>
            <p:cNvSpPr/>
            <p:nvPr/>
          </p:nvSpPr>
          <p:spPr>
            <a:xfrm flipH="false" flipV="false" rot="0">
              <a:off x="0" y="13089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615438" y="4790276"/>
            <a:ext cx="4753583" cy="304800"/>
            <a:chOff x="0" y="0"/>
            <a:chExt cx="6338111" cy="406400"/>
          </a:xfrm>
        </p:grpSpPr>
        <p:sp>
          <p:nvSpPr>
            <p:cNvPr name="TextBox 56" id="56"/>
            <p:cNvSpPr txBox="true"/>
            <p:nvPr/>
          </p:nvSpPr>
          <p:spPr>
            <a:xfrm rot="0">
              <a:off x="303953" y="-76200"/>
              <a:ext cx="6034158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`코드`   ``` 코드 블록 ```</a:t>
              </a:r>
            </a:p>
          </p:txBody>
        </p:sp>
        <p:sp>
          <p:nvSpPr>
            <p:cNvPr name="Freeform 57" id="57"/>
            <p:cNvSpPr/>
            <p:nvPr/>
          </p:nvSpPr>
          <p:spPr>
            <a:xfrm flipH="false" flipV="false" rot="0">
              <a:off x="0" y="13089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631382" y="7738632"/>
            <a:ext cx="4721694" cy="304800"/>
            <a:chOff x="0" y="0"/>
            <a:chExt cx="6295592" cy="406400"/>
          </a:xfrm>
        </p:grpSpPr>
        <p:sp>
          <p:nvSpPr>
            <p:cNvPr name="TextBox 59" id="59"/>
            <p:cNvSpPr txBox="true"/>
            <p:nvPr/>
          </p:nvSpPr>
          <p:spPr>
            <a:xfrm rot="0">
              <a:off x="303953" y="-76200"/>
              <a:ext cx="5991639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$인라인 수식$   $$블록 수식$$</a:t>
              </a:r>
            </a:p>
          </p:txBody>
        </p:sp>
        <p:sp>
          <p:nvSpPr>
            <p:cNvPr name="Freeform 60" id="60"/>
            <p:cNvSpPr/>
            <p:nvPr/>
          </p:nvSpPr>
          <p:spPr>
            <a:xfrm flipH="false" flipV="false" rot="0">
              <a:off x="0" y="13089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61" id="61"/>
          <p:cNvSpPr/>
          <p:nvPr/>
        </p:nvSpPr>
        <p:spPr>
          <a:xfrm>
            <a:off x="3020968" y="3946119"/>
            <a:ext cx="4728065" cy="0"/>
          </a:xfrm>
          <a:prstGeom prst="line">
            <a:avLst/>
          </a:prstGeom>
          <a:ln cap="rnd" w="9525">
            <a:solidFill>
              <a:srgbClr val="747EA3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 flipV="true">
            <a:off x="3020968" y="6894476"/>
            <a:ext cx="4728065" cy="0"/>
          </a:xfrm>
          <a:prstGeom prst="line">
            <a:avLst/>
          </a:prstGeom>
          <a:ln cap="rnd" w="9525">
            <a:solidFill>
              <a:srgbClr val="747EA3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>
            <a:off x="10548493" y="3946119"/>
            <a:ext cx="4728065" cy="0"/>
          </a:xfrm>
          <a:prstGeom prst="line">
            <a:avLst/>
          </a:prstGeom>
          <a:ln cap="rnd" w="9525">
            <a:solidFill>
              <a:srgbClr val="747EA3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>
            <a:off x="10615438" y="6894476"/>
            <a:ext cx="4661120" cy="0"/>
          </a:xfrm>
          <a:prstGeom prst="line">
            <a:avLst/>
          </a:prstGeom>
          <a:ln cap="rnd" w="9525">
            <a:solidFill>
              <a:srgbClr val="747EA3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5" id="65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382000" y="8899525"/>
            <a:ext cx="152400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- 16 -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쉬는 시간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32477" y="5801544"/>
            <a:ext cx="11423046" cy="70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23"/>
              </a:lnSpc>
              <a:spcBef>
                <a:spcPct val="0"/>
              </a:spcBef>
            </a:pPr>
            <a:r>
              <a:rPr lang="en-US" b="true" sz="4800" spc="-144" strike="noStrike" u="non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수고했어요! 10분 휴식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32477" y="6600042"/>
            <a:ext cx="11423046" cy="70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23"/>
              </a:lnSpc>
              <a:spcBef>
                <a:spcPct val="0"/>
              </a:spcBef>
            </a:pPr>
            <a:r>
              <a:rPr lang="en-US" b="true" sz="4800" spc="-144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20:10에 다시 시작합니다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08845" y="7574259"/>
            <a:ext cx="7496762" cy="593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85"/>
              </a:lnSpc>
              <a:spcBef>
                <a:spcPct val="0"/>
              </a:spcBef>
            </a:pPr>
            <a:r>
              <a:rPr lang="en-US" b="true" sz="1799" spc="30" strike="noStrike" u="none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다음 파트: Markdown vs HTML 토론!</a:t>
            </a:r>
          </a:p>
          <a:p>
            <a:pPr algn="ctr" marL="0" indent="0" lvl="0">
              <a:lnSpc>
                <a:spcPts val="2285"/>
              </a:lnSpc>
              <a:spcBef>
                <a:spcPct val="0"/>
              </a:spcBef>
            </a:pPr>
            <a:r>
              <a:rPr lang="en-US" b="true" sz="1799" spc="30" strike="noStrike" u="none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AI 결과물을 어떤 형식으로 받고 싶은지 생각해 보세요.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name="Freeform 21" id="21" descr="녹차 한 잔과 노트북, 시계가 있는 휴식 일러스트"/>
          <p:cNvSpPr/>
          <p:nvPr/>
        </p:nvSpPr>
        <p:spPr>
          <a:xfrm flipH="false" flipV="false" rot="0">
            <a:off x="6191250" y="2143125"/>
            <a:ext cx="5905500" cy="3324225"/>
          </a:xfrm>
          <a:custGeom>
            <a:avLst/>
            <a:gdLst/>
            <a:ahLst/>
            <a:cxnLst/>
            <a:rect r="r" b="b" t="t" l="l"/>
            <a:pathLst>
              <a:path h="3324225" w="5905500">
                <a:moveTo>
                  <a:pt x="0" y="0"/>
                </a:moveTo>
                <a:lnTo>
                  <a:pt x="5905500" y="0"/>
                </a:lnTo>
                <a:lnTo>
                  <a:pt x="5905500" y="3324225"/>
                </a:lnTo>
                <a:lnTo>
                  <a:pt x="0" y="33242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7" t="0" r="-147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566049"/>
            <a:ext cx="17218292" cy="9186097"/>
            <a:chOff x="0" y="0"/>
            <a:chExt cx="22957723" cy="1224812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835531"/>
              <a:ext cx="22957723" cy="11412598"/>
              <a:chOff x="0" y="0"/>
              <a:chExt cx="4777465" cy="237494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374943"/>
              </a:xfrm>
              <a:custGeom>
                <a:avLst/>
                <a:gdLst/>
                <a:ahLst/>
                <a:cxnLst/>
                <a:rect r="r" b="b" t="t" l="l"/>
                <a:pathLst>
                  <a:path h="2374943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352012"/>
                    </a:lnTo>
                    <a:cubicBezTo>
                      <a:pt x="4777465" y="2358094"/>
                      <a:pt x="4775049" y="2363926"/>
                      <a:pt x="4770749" y="2368227"/>
                    </a:cubicBezTo>
                    <a:cubicBezTo>
                      <a:pt x="4766449" y="2372527"/>
                      <a:pt x="4760616" y="2374943"/>
                      <a:pt x="4754534" y="2374943"/>
                    </a:cubicBezTo>
                    <a:lnTo>
                      <a:pt x="22931" y="2374943"/>
                    </a:lnTo>
                    <a:cubicBezTo>
                      <a:pt x="10267" y="2374943"/>
                      <a:pt x="0" y="2364677"/>
                      <a:pt x="0" y="2352012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413043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4517287" y="0"/>
              <a:ext cx="18440436" cy="3397582"/>
              <a:chOff x="0" y="0"/>
              <a:chExt cx="3837425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837425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3837425">
                    <a:moveTo>
                      <a:pt x="28549" y="0"/>
                    </a:moveTo>
                    <a:lnTo>
                      <a:pt x="3808877" y="0"/>
                    </a:lnTo>
                    <a:cubicBezTo>
                      <a:pt x="3824644" y="0"/>
                      <a:pt x="3837425" y="12782"/>
                      <a:pt x="3837425" y="28549"/>
                    </a:cubicBezTo>
                    <a:lnTo>
                      <a:pt x="3837425" y="678483"/>
                    </a:lnTo>
                    <a:cubicBezTo>
                      <a:pt x="3837425" y="686054"/>
                      <a:pt x="3834418" y="693316"/>
                      <a:pt x="3829064" y="698670"/>
                    </a:cubicBezTo>
                    <a:cubicBezTo>
                      <a:pt x="3823710" y="704024"/>
                      <a:pt x="3816448" y="707031"/>
                      <a:pt x="3808877" y="707031"/>
                    </a:cubicBezTo>
                    <a:lnTo>
                      <a:pt x="28549" y="707031"/>
                    </a:lnTo>
                    <a:cubicBezTo>
                      <a:pt x="12782" y="707031"/>
                      <a:pt x="0" y="694250"/>
                      <a:pt x="0" y="678483"/>
                    </a:cubicBezTo>
                    <a:lnTo>
                      <a:pt x="0" y="28549"/>
                    </a:lnTo>
                    <a:cubicBezTo>
                      <a:pt x="0" y="20977"/>
                      <a:pt x="3008" y="13716"/>
                      <a:pt x="8362" y="8362"/>
                    </a:cubicBezTo>
                    <a:cubicBezTo>
                      <a:pt x="13716" y="3008"/>
                      <a:pt x="20977" y="0"/>
                      <a:pt x="28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3837425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081187" y="442770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2091821" y="-102735"/>
            <a:ext cx="1878623" cy="1295432"/>
            <a:chOff x="0" y="0"/>
            <a:chExt cx="521251" cy="3594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1251" cy="359436"/>
            </a:xfrm>
            <a:custGeom>
              <a:avLst/>
              <a:gdLst/>
              <a:ahLst/>
              <a:cxnLst/>
              <a:rect r="r" b="b" t="t" l="l"/>
              <a:pathLst>
                <a:path h="359436" w="521251">
                  <a:moveTo>
                    <a:pt x="179718" y="0"/>
                  </a:moveTo>
                  <a:lnTo>
                    <a:pt x="341533" y="0"/>
                  </a:lnTo>
                  <a:cubicBezTo>
                    <a:pt x="440789" y="0"/>
                    <a:pt x="521251" y="80463"/>
                    <a:pt x="521251" y="179718"/>
                  </a:cubicBezTo>
                  <a:lnTo>
                    <a:pt x="521251" y="179718"/>
                  </a:lnTo>
                  <a:cubicBezTo>
                    <a:pt x="521251" y="227382"/>
                    <a:pt x="502317" y="273094"/>
                    <a:pt x="468613" y="306798"/>
                  </a:cubicBezTo>
                  <a:cubicBezTo>
                    <a:pt x="434909" y="340502"/>
                    <a:pt x="389197" y="359436"/>
                    <a:pt x="341533" y="359436"/>
                  </a:cubicBezTo>
                  <a:lnTo>
                    <a:pt x="179718" y="359436"/>
                  </a:lnTo>
                  <a:cubicBezTo>
                    <a:pt x="132054" y="359436"/>
                    <a:pt x="86342" y="340502"/>
                    <a:pt x="52638" y="306798"/>
                  </a:cubicBezTo>
                  <a:cubicBezTo>
                    <a:pt x="18935" y="273094"/>
                    <a:pt x="0" y="227382"/>
                    <a:pt x="0" y="179718"/>
                  </a:cubicBezTo>
                  <a:lnTo>
                    <a:pt x="0" y="179718"/>
                  </a:lnTo>
                  <a:cubicBezTo>
                    <a:pt x="0" y="132054"/>
                    <a:pt x="18935" y="86342"/>
                    <a:pt x="52638" y="52638"/>
                  </a:cubicBezTo>
                  <a:cubicBezTo>
                    <a:pt x="86342" y="18935"/>
                    <a:pt x="132054" y="0"/>
                    <a:pt x="179718" y="0"/>
                  </a:cubicBezTo>
                  <a:close/>
                </a:path>
              </a:pathLst>
            </a:custGeom>
            <a:solidFill>
              <a:srgbClr val="5170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21251" cy="397536"/>
            </a:xfrm>
            <a:prstGeom prst="rect">
              <a:avLst/>
            </a:prstGeom>
          </p:spPr>
          <p:txBody>
            <a:bodyPr anchor="ctr" rtlCol="false" tIns="48220" lIns="48220" bIns="48220" rIns="48220"/>
            <a:lstStyle/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5400000">
            <a:off x="16995628" y="862350"/>
            <a:ext cx="82863" cy="368281"/>
          </a:xfrm>
          <a:custGeom>
            <a:avLst/>
            <a:gdLst/>
            <a:ahLst/>
            <a:cxnLst/>
            <a:rect r="r" b="b" t="t" l="l"/>
            <a:pathLst>
              <a:path h="368281" w="82863">
                <a:moveTo>
                  <a:pt x="0" y="0"/>
                </a:moveTo>
                <a:lnTo>
                  <a:pt x="82863" y="0"/>
                </a:lnTo>
                <a:lnTo>
                  <a:pt x="82863" y="368281"/>
                </a:lnTo>
                <a:lnTo>
                  <a:pt x="0" y="3682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3540110" y="6593084"/>
            <a:ext cx="3312808" cy="2401786"/>
          </a:xfrm>
          <a:custGeom>
            <a:avLst/>
            <a:gdLst/>
            <a:ahLst/>
            <a:cxnLst/>
            <a:rect r="r" b="b" t="t" l="l"/>
            <a:pathLst>
              <a:path h="2401786" w="3312808">
                <a:moveTo>
                  <a:pt x="0" y="0"/>
                </a:moveTo>
                <a:lnTo>
                  <a:pt x="3312809" y="0"/>
                </a:lnTo>
                <a:lnTo>
                  <a:pt x="3312809" y="2401786"/>
                </a:lnTo>
                <a:lnTo>
                  <a:pt x="0" y="24017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59283" y="679939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77195" y="2557664"/>
            <a:ext cx="14882105" cy="1533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193"/>
              </a:lnSpc>
              <a:spcBef>
                <a:spcPct val="0"/>
              </a:spcBef>
            </a:pPr>
            <a:r>
              <a:rPr lang="en-US" b="true" sz="9601" strike="noStrike" u="non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PART 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77195" y="3813005"/>
            <a:ext cx="12382500" cy="1533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193"/>
              </a:lnSpc>
              <a:spcBef>
                <a:spcPct val="0"/>
              </a:spcBef>
            </a:pPr>
            <a:r>
              <a:rPr lang="en-US" b="true" sz="9601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MD VS HTML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61238" y="6029828"/>
            <a:ext cx="10520872" cy="34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1"/>
              </a:lnSpc>
              <a:spcBef>
                <a:spcPct val="0"/>
              </a:spcBef>
            </a:pPr>
            <a:r>
              <a:rPr lang="en-US" b="true" sz="1799" spc="-17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⏱ 교육 시간 10분 · 토론 + HTML 보고서 데모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43870" y="5460741"/>
            <a:ext cx="10953750" cy="45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67"/>
              </a:lnSpc>
              <a:spcBef>
                <a:spcPct val="0"/>
              </a:spcBef>
            </a:pPr>
            <a:r>
              <a:rPr lang="en-US" b="true" sz="2799" spc="-114" strike="noStrike" u="none">
                <a:solidFill>
                  <a:srgbClr val="000000">
                    <a:alpha val="93725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AI 결과물은 어떤 형식으로 받을까?</a:t>
            </a:r>
          </a:p>
        </p:txBody>
      </p:sp>
      <p:sp>
        <p:nvSpPr>
          <p:cNvPr name="AutoShape 22" id="22"/>
          <p:cNvSpPr/>
          <p:nvPr/>
        </p:nvSpPr>
        <p:spPr>
          <a:xfrm flipH="true" flipV="true">
            <a:off x="4613382" y="7266893"/>
            <a:ext cx="0" cy="212812"/>
          </a:xfrm>
          <a:prstGeom prst="line">
            <a:avLst/>
          </a:prstGeom>
          <a:ln cap="flat" w="9525">
            <a:solidFill>
              <a:srgbClr val="222222">
                <a:alpha val="2274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2443870" y="7187244"/>
            <a:ext cx="2074261" cy="33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20"/>
              </a:lnSpc>
              <a:spcBef>
                <a:spcPct val="0"/>
              </a:spcBef>
            </a:pPr>
            <a:r>
              <a:rPr lang="en-US" b="true" sz="2000" spc="-80" strike="noStrike" u="none">
                <a:solidFill>
                  <a:srgbClr val="222222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교육운영진 </a:t>
            </a:r>
            <a:r>
              <a:rPr lang="en-US" b="true" sz="2000" spc="-80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허진수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873801" y="7278683"/>
            <a:ext cx="2358365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60"/>
              </a:lnSpc>
              <a:spcBef>
                <a:spcPct val="0"/>
              </a:spcBef>
            </a:pPr>
            <a:r>
              <a:rPr lang="en-US" b="true" sz="2000" spc="34" strike="noStrike" u="non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문의: 단톡방</a:t>
            </a:r>
          </a:p>
        </p:txBody>
      </p:sp>
      <p:sp>
        <p:nvSpPr>
          <p:cNvPr name="AutoShape 25" id="25"/>
          <p:cNvSpPr/>
          <p:nvPr/>
        </p:nvSpPr>
        <p:spPr>
          <a:xfrm>
            <a:off x="2461238" y="6934831"/>
            <a:ext cx="8718036" cy="0"/>
          </a:xfrm>
          <a:prstGeom prst="line">
            <a:avLst/>
          </a:prstGeom>
          <a:ln cap="flat" w="9525">
            <a:solidFill>
              <a:srgbClr val="222222">
                <a:alpha val="22745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17296" y="2898323"/>
            <a:ext cx="8207164" cy="5701057"/>
            <a:chOff x="0" y="0"/>
            <a:chExt cx="1170096" cy="812800"/>
          </a:xfrm>
        </p:grpSpPr>
        <p:sp>
          <p:nvSpPr>
            <p:cNvPr name="Freeform 17" id="17" descr="AI가 텍스트 문서와 웹 대시보드 보고서를 내밀고 사람이 고민하는 일러스트"/>
            <p:cNvSpPr/>
            <p:nvPr/>
          </p:nvSpPr>
          <p:spPr>
            <a:xfrm flipH="false" flipV="false" rot="0">
              <a:off x="0" y="0"/>
              <a:ext cx="1170096" cy="812800"/>
            </a:xfrm>
            <a:custGeom>
              <a:avLst/>
              <a:gdLst/>
              <a:ahLst/>
              <a:cxnLst/>
              <a:rect r="r" b="b" t="t" l="l"/>
              <a:pathLst>
                <a:path h="812800" w="1170096">
                  <a:moveTo>
                    <a:pt x="14150" y="0"/>
                  </a:moveTo>
                  <a:lnTo>
                    <a:pt x="1155946" y="0"/>
                  </a:lnTo>
                  <a:cubicBezTo>
                    <a:pt x="1163761" y="0"/>
                    <a:pt x="1170096" y="6335"/>
                    <a:pt x="1170096" y="14150"/>
                  </a:cubicBezTo>
                  <a:lnTo>
                    <a:pt x="1170096" y="798650"/>
                  </a:lnTo>
                  <a:cubicBezTo>
                    <a:pt x="1170096" y="806465"/>
                    <a:pt x="1163761" y="812800"/>
                    <a:pt x="1155946" y="812800"/>
                  </a:cubicBezTo>
                  <a:lnTo>
                    <a:pt x="14150" y="812800"/>
                  </a:lnTo>
                  <a:cubicBezTo>
                    <a:pt x="6335" y="812800"/>
                    <a:pt x="0" y="806465"/>
                    <a:pt x="0" y="798650"/>
                  </a:cubicBezTo>
                  <a:lnTo>
                    <a:pt x="0" y="14150"/>
                  </a:lnTo>
                  <a:cubicBezTo>
                    <a:pt x="0" y="6335"/>
                    <a:pt x="6335" y="0"/>
                    <a:pt x="1415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714" r="0" b="-3714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418261" cy="593296"/>
              </a:xfrm>
              <a:custGeom>
                <a:avLst/>
                <a:gdLst/>
                <a:ahLst/>
                <a:cxnLst/>
                <a:rect r="r" b="b" t="t" l="l"/>
                <a:pathLst>
                  <a:path h="593296" w="1418261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1418261" cy="5742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43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741639" y="70938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1045128" y="502290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AI는 둘 다 잘 만들어요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741639" y="141804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045128" y="1210950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관건은 '누가, 얼마나' 읽나</a:t>
              </a:r>
            </a:p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741639" y="2126706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1045128" y="1919611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사람 + AI 모두 고려하기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472784" y="2884234"/>
            <a:ext cx="3903318" cy="547878"/>
            <a:chOff x="0" y="0"/>
            <a:chExt cx="5204424" cy="7305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192339"/>
              <a:ext cx="355986" cy="355986"/>
            </a:xfrm>
            <a:custGeom>
              <a:avLst/>
              <a:gdLst/>
              <a:ahLst/>
              <a:cxnLst/>
              <a:rect r="r" b="b" t="t" l="l"/>
              <a:pathLst>
                <a:path h="355986" w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500339" y="76200"/>
              <a:ext cx="4704085" cy="654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6"/>
                </a:lnSpc>
                <a:spcBef>
                  <a:spcPct val="0"/>
                </a:spcBef>
              </a:pPr>
              <a:r>
                <a:rPr lang="en-US" b="true" sz="3600" spc="-72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두 가지 선택지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AI 결과물, 어떤 형식으로?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472784" y="3604117"/>
            <a:ext cx="7086813" cy="13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Markdown: 텍스트 문서 (.md)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HTML: 웹페이지 보고서 (.html)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상황에 따라 골라 쓰기!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382000" y="8899525"/>
            <a:ext cx="152400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- 19 -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Markdown vs HTML 비교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1717296" y="3731994"/>
          <a:ext cx="14853407" cy="3917157"/>
        </p:xfrm>
        <a:graphic>
          <a:graphicData uri="http://schemas.openxmlformats.org/drawingml/2006/table">
            <a:tbl>
              <a:tblPr/>
              <a:tblGrid>
                <a:gridCol w="3495006"/>
                <a:gridCol w="3931697"/>
                <a:gridCol w="7426704"/>
              </a:tblGrid>
              <a:tr h="89992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00" strike="noStrike" u="non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비교 항목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00" strike="noStrike" u="non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Markdown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00" strike="noStrike" u="non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HTML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</a:tr>
              <a:tr h="75430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사람이 읽기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5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⭕ 원본도 OK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🔺 브라우저로 열어야 보기 좋음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0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AI가 다루기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5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⭕ 가볍고 정확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🔺 태그가 많아 길고 무거움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0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변경 추적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5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⭕ 한 줄씩 비교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strike="noStrike" u="non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🔺 코드가 섞여 Git으로 비교하기 어려움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0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시각적 보고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50" strike="noStrike" u="non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🔺 단순한 문서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50" strike="noStrike" u="none">
                          <a:solidFill>
                            <a:srgbClr val="5170FF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⭕ 카드 · 색 · 차트로 한눈에!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82000" y="8899525"/>
            <a:ext cx="152400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- 20 -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토론 타임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32477" y="5801544"/>
            <a:ext cx="11423046" cy="70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23"/>
              </a:lnSpc>
              <a:spcBef>
                <a:spcPct val="0"/>
              </a:spcBef>
            </a:pPr>
            <a:r>
              <a:rPr lang="en-US" b="true" sz="4800" spc="-144" strike="noStrike" u="non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AI 결과물, Markdown vs HTML?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32477" y="6600042"/>
            <a:ext cx="11423046" cy="70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23"/>
              </a:lnSpc>
              <a:spcBef>
                <a:spcPct val="0"/>
              </a:spcBef>
            </a:pPr>
            <a:r>
              <a:rPr lang="en-US" b="true" sz="4800" spc="-144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여러분의 선택은?</a:t>
            </a:r>
          </a:p>
        </p:txBody>
      </p:sp>
      <p:sp>
        <p:nvSpPr>
          <p:cNvPr name="Freeform 19" id="19"/>
          <p:cNvSpPr/>
          <p:nvPr/>
        </p:nvSpPr>
        <p:spPr>
          <a:xfrm flipH="true" flipV="false" rot="0">
            <a:off x="7153634" y="3343132"/>
            <a:ext cx="2003592" cy="1570315"/>
          </a:xfrm>
          <a:custGeom>
            <a:avLst/>
            <a:gdLst/>
            <a:ahLst/>
            <a:cxnLst/>
            <a:rect r="r" b="b" t="t" l="l"/>
            <a:pathLst>
              <a:path h="1570315" w="2003592">
                <a:moveTo>
                  <a:pt x="2003593" y="0"/>
                </a:moveTo>
                <a:lnTo>
                  <a:pt x="0" y="0"/>
                </a:lnTo>
                <a:lnTo>
                  <a:pt x="0" y="1570316"/>
                </a:lnTo>
                <a:lnTo>
                  <a:pt x="2003593" y="1570316"/>
                </a:lnTo>
                <a:lnTo>
                  <a:pt x="200359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133758" y="3914364"/>
            <a:ext cx="2003592" cy="1570315"/>
          </a:xfrm>
          <a:custGeom>
            <a:avLst/>
            <a:gdLst/>
            <a:ahLst/>
            <a:cxnLst/>
            <a:rect r="r" b="b" t="t" l="l"/>
            <a:pathLst>
              <a:path h="1570315" w="2003592">
                <a:moveTo>
                  <a:pt x="0" y="0"/>
                </a:moveTo>
                <a:lnTo>
                  <a:pt x="2003592" y="0"/>
                </a:lnTo>
                <a:lnTo>
                  <a:pt x="2003592" y="1570315"/>
                </a:lnTo>
                <a:lnTo>
                  <a:pt x="0" y="15703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291556" y="3386575"/>
            <a:ext cx="1727750" cy="114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1"/>
              </a:lnSpc>
            </a:pPr>
            <a:r>
              <a:rPr lang="en-US" b="true" sz="6701" spc="-341">
                <a:solidFill>
                  <a:srgbClr val="FDFDFB"/>
                </a:solidFill>
                <a:latin typeface="DIN Next Bold"/>
                <a:ea typeface="DIN Next Bold"/>
                <a:cs typeface="DIN Next Bold"/>
                <a:sym typeface="DIN Next Bold"/>
              </a:rPr>
              <a:t>Q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71679" y="3957807"/>
            <a:ext cx="1727750" cy="114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1"/>
              </a:lnSpc>
            </a:pPr>
            <a:r>
              <a:rPr lang="en-US" b="true" sz="6701" spc="-341">
                <a:solidFill>
                  <a:srgbClr val="FDFDFB"/>
                </a:solidFill>
                <a:latin typeface="DIN Next Bold"/>
                <a:ea typeface="DIN Next Bold"/>
                <a:cs typeface="DIN Next Bold"/>
                <a:sym typeface="DIN Next Bold"/>
              </a:rPr>
              <a:t>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08845" y="7574259"/>
            <a:ext cx="7496762" cy="593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85"/>
              </a:lnSpc>
              <a:spcBef>
                <a:spcPct val="0"/>
              </a:spcBef>
            </a:pPr>
            <a:r>
              <a:rPr lang="en-US" b="true" sz="1799" spc="30" strike="noStrike" u="none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나는 어떤 상황에서 어떤 형식이 좋을까?</a:t>
            </a:r>
          </a:p>
          <a:p>
            <a:pPr algn="ctr" marL="0" indent="0" lvl="0">
              <a:lnSpc>
                <a:spcPts val="2285"/>
              </a:lnSpc>
              <a:spcBef>
                <a:spcPct val="0"/>
              </a:spcBef>
            </a:pPr>
            <a:r>
              <a:rPr lang="en-US" b="true" sz="1799" spc="30" strike="noStrike" u="none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옆 사람과 1분 이야기 → 2~3명 발표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강사의 생각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>
            <a:off x="6024486" y="2898323"/>
            <a:ext cx="0" cy="1053640"/>
          </a:xfrm>
          <a:prstGeom prst="line">
            <a:avLst/>
          </a:prstGeom>
          <a:ln cap="flat" w="9525">
            <a:solidFill>
              <a:srgbClr val="50535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3048547" y="3118668"/>
            <a:ext cx="2632522" cy="48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한 줄 결론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983625" y="3078692"/>
            <a:ext cx="840475" cy="714403"/>
          </a:xfrm>
          <a:custGeom>
            <a:avLst/>
            <a:gdLst/>
            <a:ahLst/>
            <a:cxnLst/>
            <a:rect r="r" b="b" t="t" l="l"/>
            <a:pathLst>
              <a:path h="714403" w="840475">
                <a:moveTo>
                  <a:pt x="0" y="0"/>
                </a:moveTo>
                <a:lnTo>
                  <a:pt x="840474" y="0"/>
                </a:lnTo>
                <a:lnTo>
                  <a:pt x="840474" y="714404"/>
                </a:lnTo>
                <a:lnTo>
                  <a:pt x="0" y="7144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506746" y="2933210"/>
            <a:ext cx="9816540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평소 기록·추적은 Markdown,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양이 많은 결과 보고는 HTML로!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705928" y="4639191"/>
            <a:ext cx="4832311" cy="3960188"/>
            <a:chOff x="0" y="0"/>
            <a:chExt cx="1272707" cy="104301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72707" cy="1043012"/>
            </a:xfrm>
            <a:custGeom>
              <a:avLst/>
              <a:gdLst/>
              <a:ahLst/>
              <a:cxnLst/>
              <a:rect r="r" b="b" t="t" l="l"/>
              <a:pathLst>
                <a:path h="1043012" w="1272707">
                  <a:moveTo>
                    <a:pt x="24032" y="0"/>
                  </a:moveTo>
                  <a:lnTo>
                    <a:pt x="1248676" y="0"/>
                  </a:lnTo>
                  <a:cubicBezTo>
                    <a:pt x="1261948" y="0"/>
                    <a:pt x="1272707" y="10759"/>
                    <a:pt x="1272707" y="24032"/>
                  </a:cubicBezTo>
                  <a:lnTo>
                    <a:pt x="1272707" y="1018981"/>
                  </a:lnTo>
                  <a:cubicBezTo>
                    <a:pt x="1272707" y="1032253"/>
                    <a:pt x="1261948" y="1043012"/>
                    <a:pt x="1248676" y="1043012"/>
                  </a:cubicBezTo>
                  <a:lnTo>
                    <a:pt x="24032" y="1043012"/>
                  </a:lnTo>
                  <a:cubicBezTo>
                    <a:pt x="17658" y="1043012"/>
                    <a:pt x="11546" y="1040481"/>
                    <a:pt x="7039" y="1035974"/>
                  </a:cubicBezTo>
                  <a:cubicBezTo>
                    <a:pt x="2532" y="1031467"/>
                    <a:pt x="0" y="1025354"/>
                    <a:pt x="0" y="1018981"/>
                  </a:cubicBezTo>
                  <a:lnTo>
                    <a:pt x="0" y="24032"/>
                  </a:lnTo>
                  <a:cubicBezTo>
                    <a:pt x="0" y="10759"/>
                    <a:pt x="10759" y="0"/>
                    <a:pt x="24032" y="0"/>
                  </a:cubicBezTo>
                  <a:close/>
                </a:path>
              </a:pathLst>
            </a:custGeom>
            <a:solidFill>
              <a:srgbClr val="747EA3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272707" cy="10715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26923" y="4639191"/>
            <a:ext cx="4832311" cy="3960188"/>
            <a:chOff x="0" y="0"/>
            <a:chExt cx="1272707" cy="104301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72707" cy="1043012"/>
            </a:xfrm>
            <a:custGeom>
              <a:avLst/>
              <a:gdLst/>
              <a:ahLst/>
              <a:cxnLst/>
              <a:rect r="r" b="b" t="t" l="l"/>
              <a:pathLst>
                <a:path h="1043012" w="1272707">
                  <a:moveTo>
                    <a:pt x="24032" y="0"/>
                  </a:moveTo>
                  <a:lnTo>
                    <a:pt x="1248676" y="0"/>
                  </a:lnTo>
                  <a:cubicBezTo>
                    <a:pt x="1261948" y="0"/>
                    <a:pt x="1272707" y="10759"/>
                    <a:pt x="1272707" y="24032"/>
                  </a:cubicBezTo>
                  <a:lnTo>
                    <a:pt x="1272707" y="1018981"/>
                  </a:lnTo>
                  <a:cubicBezTo>
                    <a:pt x="1272707" y="1032253"/>
                    <a:pt x="1261948" y="1043012"/>
                    <a:pt x="1248676" y="1043012"/>
                  </a:cubicBezTo>
                  <a:lnTo>
                    <a:pt x="24032" y="1043012"/>
                  </a:lnTo>
                  <a:cubicBezTo>
                    <a:pt x="17658" y="1043012"/>
                    <a:pt x="11546" y="1040481"/>
                    <a:pt x="7039" y="1035974"/>
                  </a:cubicBezTo>
                  <a:cubicBezTo>
                    <a:pt x="2532" y="1031467"/>
                    <a:pt x="0" y="1025354"/>
                    <a:pt x="0" y="1018981"/>
                  </a:cubicBezTo>
                  <a:lnTo>
                    <a:pt x="0" y="24032"/>
                  </a:lnTo>
                  <a:cubicBezTo>
                    <a:pt x="0" y="10759"/>
                    <a:pt x="10759" y="0"/>
                    <a:pt x="24032" y="0"/>
                  </a:cubicBezTo>
                  <a:close/>
                </a:path>
              </a:pathLst>
            </a:custGeom>
            <a:solidFill>
              <a:srgbClr val="747EA3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272707" cy="10715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747917" y="4639191"/>
            <a:ext cx="4832311" cy="3960188"/>
            <a:chOff x="0" y="0"/>
            <a:chExt cx="1272707" cy="104301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72707" cy="1043012"/>
            </a:xfrm>
            <a:custGeom>
              <a:avLst/>
              <a:gdLst/>
              <a:ahLst/>
              <a:cxnLst/>
              <a:rect r="r" b="b" t="t" l="l"/>
              <a:pathLst>
                <a:path h="1043012" w="1272707">
                  <a:moveTo>
                    <a:pt x="24032" y="0"/>
                  </a:moveTo>
                  <a:lnTo>
                    <a:pt x="1248676" y="0"/>
                  </a:lnTo>
                  <a:cubicBezTo>
                    <a:pt x="1261948" y="0"/>
                    <a:pt x="1272707" y="10759"/>
                    <a:pt x="1272707" y="24032"/>
                  </a:cubicBezTo>
                  <a:lnTo>
                    <a:pt x="1272707" y="1018981"/>
                  </a:lnTo>
                  <a:cubicBezTo>
                    <a:pt x="1272707" y="1032253"/>
                    <a:pt x="1261948" y="1043012"/>
                    <a:pt x="1248676" y="1043012"/>
                  </a:cubicBezTo>
                  <a:lnTo>
                    <a:pt x="24032" y="1043012"/>
                  </a:lnTo>
                  <a:cubicBezTo>
                    <a:pt x="17658" y="1043012"/>
                    <a:pt x="11546" y="1040481"/>
                    <a:pt x="7039" y="1035974"/>
                  </a:cubicBezTo>
                  <a:cubicBezTo>
                    <a:pt x="2532" y="1031467"/>
                    <a:pt x="0" y="1025354"/>
                    <a:pt x="0" y="1018981"/>
                  </a:cubicBezTo>
                  <a:lnTo>
                    <a:pt x="0" y="24032"/>
                  </a:lnTo>
                  <a:cubicBezTo>
                    <a:pt x="0" y="10759"/>
                    <a:pt x="10759" y="0"/>
                    <a:pt x="24032" y="0"/>
                  </a:cubicBezTo>
                  <a:close/>
                </a:path>
              </a:pathLst>
            </a:custGeom>
            <a:solidFill>
              <a:srgbClr val="747EA3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272707" cy="10715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212939" y="6825195"/>
            <a:ext cx="3811547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사람과 AI 모두 읽기 좋고</a:t>
            </a:r>
          </a:p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Git으로 변경 추적이 쉬움 → MD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233350" y="6825195"/>
            <a:ext cx="3819457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Obsidian == Markdown 기반</a:t>
            </a:r>
          </a:p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노트 앱 (AI 관여 최소) → MD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250849" y="6825195"/>
            <a:ext cx="376792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다 읽기 힘든 결과물은</a:t>
            </a:r>
          </a:p>
          <a:p>
            <a:pPr algn="ctr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2000" spc="-40" strike="noStrike" u="none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HTML 한 장으로 요약 → HTML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815302" y="5598734"/>
            <a:ext cx="4606821" cy="54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07"/>
              </a:lnSpc>
              <a:spcBef>
                <a:spcPct val="0"/>
              </a:spcBef>
            </a:pPr>
            <a:r>
              <a:rPr lang="en-US" b="true" sz="2799" spc="-97" strike="noStrike" u="none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기록 · 추적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839668" y="5598734"/>
            <a:ext cx="4606821" cy="54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07"/>
              </a:lnSpc>
              <a:spcBef>
                <a:spcPct val="0"/>
              </a:spcBef>
            </a:pPr>
            <a:r>
              <a:rPr lang="en-US" b="true" sz="2799" spc="-97" strike="noStrike" u="none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가벼운 노트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864034" y="5598734"/>
            <a:ext cx="4606821" cy="54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07"/>
              </a:lnSpc>
              <a:spcBef>
                <a:spcPct val="0"/>
              </a:spcBef>
            </a:pPr>
            <a:r>
              <a:rPr lang="en-US" b="true" sz="2799" spc="-97" strike="noStrike" u="none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대량 보고</a:t>
            </a:r>
          </a:p>
        </p:txBody>
      </p:sp>
      <p:sp>
        <p:nvSpPr>
          <p:cNvPr name="AutoShape 36" id="36"/>
          <p:cNvSpPr/>
          <p:nvPr/>
        </p:nvSpPr>
        <p:spPr>
          <a:xfrm>
            <a:off x="2037627" y="6457826"/>
            <a:ext cx="4162171" cy="0"/>
          </a:xfrm>
          <a:prstGeom prst="line">
            <a:avLst/>
          </a:prstGeom>
          <a:ln cap="rnd" w="9525">
            <a:solidFill>
              <a:srgbClr val="FEFE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7061993" y="6457826"/>
            <a:ext cx="4162171" cy="0"/>
          </a:xfrm>
          <a:prstGeom prst="line">
            <a:avLst/>
          </a:prstGeom>
          <a:ln cap="rnd" w="9525">
            <a:solidFill>
              <a:srgbClr val="FEFE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12086359" y="6457826"/>
            <a:ext cx="4162171" cy="0"/>
          </a:xfrm>
          <a:prstGeom prst="line">
            <a:avLst/>
          </a:prstGeom>
          <a:ln cap="rnd" w="9525">
            <a:solidFill>
              <a:srgbClr val="FEFE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2893526" y="5218788"/>
            <a:ext cx="2483896" cy="189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7"/>
              </a:lnSpc>
              <a:spcBef>
                <a:spcPct val="0"/>
              </a:spcBef>
            </a:pPr>
            <a:r>
              <a:rPr lang="en-US" b="true" sz="1599" spc="95" strike="noStrike" u="none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상황 01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947534" y="5218788"/>
            <a:ext cx="2483896" cy="189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7"/>
              </a:lnSpc>
              <a:spcBef>
                <a:spcPct val="0"/>
              </a:spcBef>
            </a:pPr>
            <a:r>
              <a:rPr lang="en-US" b="true" sz="1599" spc="95" strike="noStrike" u="none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상황 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939267" y="5218788"/>
            <a:ext cx="2483896" cy="189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7"/>
              </a:lnSpc>
              <a:spcBef>
                <a:spcPct val="0"/>
              </a:spcBef>
            </a:pPr>
            <a:r>
              <a:rPr lang="en-US" b="true" sz="1599" spc="95" strike="noStrike" u="none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상황 03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3173163" y="5212756"/>
            <a:ext cx="180073" cy="137305"/>
          </a:xfrm>
          <a:custGeom>
            <a:avLst/>
            <a:gdLst/>
            <a:ahLst/>
            <a:cxnLst/>
            <a:rect r="r" b="b" t="t" l="l"/>
            <a:pathLst>
              <a:path h="137305" w="180073">
                <a:moveTo>
                  <a:pt x="0" y="0"/>
                </a:moveTo>
                <a:lnTo>
                  <a:pt x="180073" y="0"/>
                </a:lnTo>
                <a:lnTo>
                  <a:pt x="180073" y="137305"/>
                </a:lnTo>
                <a:lnTo>
                  <a:pt x="0" y="1373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8233976" y="5212756"/>
            <a:ext cx="180073" cy="137305"/>
          </a:xfrm>
          <a:custGeom>
            <a:avLst/>
            <a:gdLst/>
            <a:ahLst/>
            <a:cxnLst/>
            <a:rect r="r" b="b" t="t" l="l"/>
            <a:pathLst>
              <a:path h="137305" w="180073">
                <a:moveTo>
                  <a:pt x="0" y="0"/>
                </a:moveTo>
                <a:lnTo>
                  <a:pt x="180073" y="0"/>
                </a:lnTo>
                <a:lnTo>
                  <a:pt x="180073" y="137305"/>
                </a:lnTo>
                <a:lnTo>
                  <a:pt x="0" y="1373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3207771" y="5212756"/>
            <a:ext cx="180073" cy="137305"/>
          </a:xfrm>
          <a:custGeom>
            <a:avLst/>
            <a:gdLst/>
            <a:ahLst/>
            <a:cxnLst/>
            <a:rect r="r" b="b" t="t" l="l"/>
            <a:pathLst>
              <a:path h="137305" w="180073">
                <a:moveTo>
                  <a:pt x="0" y="0"/>
                </a:moveTo>
                <a:lnTo>
                  <a:pt x="180072" y="0"/>
                </a:lnTo>
                <a:lnTo>
                  <a:pt x="180072" y="137305"/>
                </a:lnTo>
                <a:lnTo>
                  <a:pt x="0" y="1373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382000" y="8899525"/>
            <a:ext cx="152400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- 22 -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HTML 보고서 구성법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717296" y="2898323"/>
            <a:ext cx="7335408" cy="2752701"/>
            <a:chOff x="0" y="0"/>
            <a:chExt cx="1931959" cy="7249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1959" cy="724991"/>
            </a:xfrm>
            <a:custGeom>
              <a:avLst/>
              <a:gdLst/>
              <a:ahLst/>
              <a:cxnLst/>
              <a:rect r="r" b="b" t="t" l="l"/>
              <a:pathLst>
                <a:path h="724991" w="1931959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1931959" cy="705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17296" y="5846679"/>
            <a:ext cx="7335408" cy="2752701"/>
            <a:chOff x="0" y="0"/>
            <a:chExt cx="1931959" cy="7249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1959" cy="724991"/>
            </a:xfrm>
            <a:custGeom>
              <a:avLst/>
              <a:gdLst/>
              <a:ahLst/>
              <a:cxnLst/>
              <a:rect r="r" b="b" t="t" l="l"/>
              <a:pathLst>
                <a:path h="724991" w="1931959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1931959" cy="705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44821" y="2898323"/>
            <a:ext cx="7335408" cy="2752701"/>
            <a:chOff x="0" y="0"/>
            <a:chExt cx="1931959" cy="7249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31959" cy="724991"/>
            </a:xfrm>
            <a:custGeom>
              <a:avLst/>
              <a:gdLst/>
              <a:ahLst/>
              <a:cxnLst/>
              <a:rect r="r" b="b" t="t" l="l"/>
              <a:pathLst>
                <a:path h="724991" w="1931959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1931959" cy="705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244821" y="5846679"/>
            <a:ext cx="7335408" cy="2752701"/>
            <a:chOff x="0" y="0"/>
            <a:chExt cx="1931959" cy="7249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31959" cy="724991"/>
            </a:xfrm>
            <a:custGeom>
              <a:avLst/>
              <a:gdLst/>
              <a:ahLst/>
              <a:cxnLst/>
              <a:rect r="r" b="b" t="t" l="l"/>
              <a:pathLst>
                <a:path h="724991" w="1931959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1931959" cy="705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512059" y="5378921"/>
            <a:ext cx="3263882" cy="851964"/>
            <a:chOff x="0" y="0"/>
            <a:chExt cx="859623" cy="22438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59623" cy="224386"/>
            </a:xfrm>
            <a:custGeom>
              <a:avLst/>
              <a:gdLst/>
              <a:ahLst/>
              <a:cxnLst/>
              <a:rect r="r" b="b" t="t" l="l"/>
              <a:pathLst>
                <a:path h="224386" w="859623">
                  <a:moveTo>
                    <a:pt x="35580" y="0"/>
                  </a:moveTo>
                  <a:lnTo>
                    <a:pt x="824043" y="0"/>
                  </a:lnTo>
                  <a:cubicBezTo>
                    <a:pt x="833480" y="0"/>
                    <a:pt x="842530" y="3749"/>
                    <a:pt x="849202" y="10421"/>
                  </a:cubicBezTo>
                  <a:cubicBezTo>
                    <a:pt x="855875" y="17094"/>
                    <a:pt x="859623" y="26144"/>
                    <a:pt x="859623" y="35580"/>
                  </a:cubicBezTo>
                  <a:lnTo>
                    <a:pt x="859623" y="188806"/>
                  </a:lnTo>
                  <a:cubicBezTo>
                    <a:pt x="859623" y="208456"/>
                    <a:pt x="843694" y="224386"/>
                    <a:pt x="824043" y="224386"/>
                  </a:cubicBezTo>
                  <a:lnTo>
                    <a:pt x="35580" y="224386"/>
                  </a:lnTo>
                  <a:cubicBezTo>
                    <a:pt x="26144" y="224386"/>
                    <a:pt x="17094" y="220637"/>
                    <a:pt x="10421" y="213964"/>
                  </a:cubicBezTo>
                  <a:cubicBezTo>
                    <a:pt x="3749" y="207292"/>
                    <a:pt x="0" y="198242"/>
                    <a:pt x="0" y="188806"/>
                  </a:cubicBezTo>
                  <a:lnTo>
                    <a:pt x="0" y="35580"/>
                  </a:lnTo>
                  <a:cubicBezTo>
                    <a:pt x="0" y="26144"/>
                    <a:pt x="3749" y="17094"/>
                    <a:pt x="10421" y="10421"/>
                  </a:cubicBezTo>
                  <a:cubicBezTo>
                    <a:pt x="17094" y="3749"/>
                    <a:pt x="26144" y="0"/>
                    <a:pt x="35580" y="0"/>
                  </a:cubicBezTo>
                  <a:close/>
                </a:path>
              </a:pathLst>
            </a:custGeom>
            <a:solidFill>
              <a:srgbClr val="5170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859623" cy="205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4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7512059" y="5550371"/>
            <a:ext cx="3263882" cy="48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한눈에!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020968" y="3254392"/>
            <a:ext cx="4728065" cy="48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요약 재료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020968" y="6202748"/>
            <a:ext cx="4728065" cy="48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키워드 카드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548493" y="3254392"/>
            <a:ext cx="4728065" cy="48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히어로 섹션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548493" y="6202748"/>
            <a:ext cx="4728065" cy="48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3200" spc="-64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④ 변경 파일 목록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3138895" y="4303307"/>
            <a:ext cx="4753583" cy="304800"/>
            <a:chOff x="0" y="0"/>
            <a:chExt cx="6338111" cy="406400"/>
          </a:xfrm>
        </p:grpSpPr>
        <p:sp>
          <p:nvSpPr>
            <p:cNvPr name="TextBox 38" id="38"/>
            <p:cNvSpPr txBox="true"/>
            <p:nvPr/>
          </p:nvSpPr>
          <p:spPr>
            <a:xfrm rot="0">
              <a:off x="303953" y="-76200"/>
              <a:ext cx="6034158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작업한 파일 목록 요약</a:t>
              </a:r>
            </a:p>
          </p:txBody>
        </p:sp>
        <p:sp>
          <p:nvSpPr>
            <p:cNvPr name="Freeform 39" id="39"/>
            <p:cNvSpPr/>
            <p:nvPr/>
          </p:nvSpPr>
          <p:spPr>
            <a:xfrm flipH="false" flipV="false" rot="0">
              <a:off x="0" y="13089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3129809" y="7251663"/>
            <a:ext cx="4727129" cy="304800"/>
            <a:chOff x="0" y="0"/>
            <a:chExt cx="6302839" cy="406400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303953" y="-76200"/>
              <a:ext cx="5998886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키워드를 그룹으로 묶어</a:t>
              </a:r>
            </a:p>
          </p:txBody>
        </p:sp>
        <p:sp>
          <p:nvSpPr>
            <p:cNvPr name="Freeform 42" id="42"/>
            <p:cNvSpPr/>
            <p:nvPr/>
          </p:nvSpPr>
          <p:spPr>
            <a:xfrm flipH="false" flipV="false" rot="0">
              <a:off x="0" y="13089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601709" y="4303307"/>
            <a:ext cx="4752580" cy="304800"/>
            <a:chOff x="0" y="0"/>
            <a:chExt cx="6336773" cy="406400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303953" y="-76200"/>
              <a:ext cx="6032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맨 위 큰 영역에</a:t>
              </a:r>
            </a:p>
          </p:txBody>
        </p:sp>
        <p:sp>
          <p:nvSpPr>
            <p:cNvPr name="Freeform 45" id="45"/>
            <p:cNvSpPr/>
            <p:nvPr/>
          </p:nvSpPr>
          <p:spPr>
            <a:xfrm flipH="false" flipV="false" rot="0">
              <a:off x="0" y="13089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590698" y="7251663"/>
            <a:ext cx="4774602" cy="304800"/>
            <a:chOff x="0" y="0"/>
            <a:chExt cx="6366136" cy="406400"/>
          </a:xfrm>
        </p:grpSpPr>
        <p:sp>
          <p:nvSpPr>
            <p:cNvPr name="TextBox 47" id="47"/>
            <p:cNvSpPr txBox="true"/>
            <p:nvPr/>
          </p:nvSpPr>
          <p:spPr>
            <a:xfrm rot="0">
              <a:off x="303953" y="-76200"/>
              <a:ext cx="6062183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추가 · 수정 · 삭제된 파일</a:t>
              </a:r>
            </a:p>
          </p:txBody>
        </p:sp>
        <p:sp>
          <p:nvSpPr>
            <p:cNvPr name="Freeform 48" id="48"/>
            <p:cNvSpPr/>
            <p:nvPr/>
          </p:nvSpPr>
          <p:spPr>
            <a:xfrm flipH="false" flipV="false" rot="0">
              <a:off x="0" y="13089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3138895" y="4790276"/>
            <a:ext cx="4753583" cy="304800"/>
            <a:chOff x="0" y="0"/>
            <a:chExt cx="6338111" cy="406400"/>
          </a:xfrm>
        </p:grpSpPr>
        <p:sp>
          <p:nvSpPr>
            <p:cNvPr name="TextBox 50" id="50"/>
            <p:cNvSpPr txBox="true"/>
            <p:nvPr/>
          </p:nvSpPr>
          <p:spPr>
            <a:xfrm rot="0">
              <a:off x="303953" y="-76200"/>
              <a:ext cx="6034158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핵심 키워드 뽑기</a:t>
              </a:r>
            </a:p>
          </p:txBody>
        </p:sp>
        <p:sp>
          <p:nvSpPr>
            <p:cNvPr name="Freeform 51" id="51"/>
            <p:cNvSpPr/>
            <p:nvPr/>
          </p:nvSpPr>
          <p:spPr>
            <a:xfrm flipH="false" flipV="false" rot="0">
              <a:off x="0" y="13089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3129809" y="7738632"/>
            <a:ext cx="4771754" cy="304800"/>
            <a:chOff x="0" y="0"/>
            <a:chExt cx="6362338" cy="406400"/>
          </a:xfrm>
        </p:grpSpPr>
        <p:sp>
          <p:nvSpPr>
            <p:cNvPr name="TextBox 53" id="53"/>
            <p:cNvSpPr txBox="true"/>
            <p:nvPr/>
          </p:nvSpPr>
          <p:spPr>
            <a:xfrm rot="0">
              <a:off x="303953" y="-76200"/>
              <a:ext cx="6058385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카드 그리드로 배치</a:t>
              </a:r>
            </a:p>
          </p:txBody>
        </p:sp>
        <p:sp>
          <p:nvSpPr>
            <p:cNvPr name="Freeform 54" id="54"/>
            <p:cNvSpPr/>
            <p:nvPr/>
          </p:nvSpPr>
          <p:spPr>
            <a:xfrm flipH="false" flipV="false" rot="0">
              <a:off x="0" y="13089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601709" y="4790276"/>
            <a:ext cx="4766810" cy="304800"/>
            <a:chOff x="0" y="0"/>
            <a:chExt cx="6355746" cy="406400"/>
          </a:xfrm>
        </p:grpSpPr>
        <p:sp>
          <p:nvSpPr>
            <p:cNvPr name="TextBox 56" id="56"/>
            <p:cNvSpPr txBox="true"/>
            <p:nvPr/>
          </p:nvSpPr>
          <p:spPr>
            <a:xfrm rot="0">
              <a:off x="303953" y="-76200"/>
              <a:ext cx="6051793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핵심 내용 3줄 요약</a:t>
              </a:r>
            </a:p>
          </p:txBody>
        </p:sp>
        <p:sp>
          <p:nvSpPr>
            <p:cNvPr name="Freeform 57" id="57"/>
            <p:cNvSpPr/>
            <p:nvPr/>
          </p:nvSpPr>
          <p:spPr>
            <a:xfrm flipH="false" flipV="false" rot="0">
              <a:off x="0" y="13089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590698" y="7738632"/>
            <a:ext cx="4774602" cy="304800"/>
            <a:chOff x="0" y="0"/>
            <a:chExt cx="6366136" cy="406400"/>
          </a:xfrm>
        </p:grpSpPr>
        <p:sp>
          <p:nvSpPr>
            <p:cNvPr name="TextBox 59" id="59"/>
            <p:cNvSpPr txBox="true"/>
            <p:nvPr/>
          </p:nvSpPr>
          <p:spPr>
            <a:xfrm rot="0">
              <a:off x="303953" y="-76200"/>
              <a:ext cx="6062183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맨 아래에 리스트로</a:t>
              </a:r>
            </a:p>
          </p:txBody>
        </p:sp>
        <p:sp>
          <p:nvSpPr>
            <p:cNvPr name="Freeform 60" id="60"/>
            <p:cNvSpPr/>
            <p:nvPr/>
          </p:nvSpPr>
          <p:spPr>
            <a:xfrm flipH="false" flipV="false" rot="0">
              <a:off x="0" y="13089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61" id="61"/>
          <p:cNvSpPr/>
          <p:nvPr/>
        </p:nvSpPr>
        <p:spPr>
          <a:xfrm>
            <a:off x="3020968" y="3946119"/>
            <a:ext cx="4728065" cy="0"/>
          </a:xfrm>
          <a:prstGeom prst="line">
            <a:avLst/>
          </a:prstGeom>
          <a:ln cap="rnd" w="9525">
            <a:solidFill>
              <a:srgbClr val="747EA3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>
            <a:off x="3020968" y="6894476"/>
            <a:ext cx="4728065" cy="0"/>
          </a:xfrm>
          <a:prstGeom prst="line">
            <a:avLst/>
          </a:prstGeom>
          <a:ln cap="rnd" w="9525">
            <a:solidFill>
              <a:srgbClr val="747EA3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>
            <a:off x="10548493" y="3946119"/>
            <a:ext cx="4728065" cy="0"/>
          </a:xfrm>
          <a:prstGeom prst="line">
            <a:avLst/>
          </a:prstGeom>
          <a:ln cap="rnd" w="9525">
            <a:solidFill>
              <a:srgbClr val="747EA3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>
            <a:off x="10548493" y="6894476"/>
            <a:ext cx="4728065" cy="0"/>
          </a:xfrm>
          <a:prstGeom prst="line">
            <a:avLst/>
          </a:prstGeom>
          <a:ln cap="rnd" w="9525">
            <a:solidFill>
              <a:srgbClr val="747EA3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5" id="65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382000" y="8899525"/>
            <a:ext cx="152400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- 23 -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418261" cy="593296"/>
              </a:xfrm>
              <a:custGeom>
                <a:avLst/>
                <a:gdLst/>
                <a:ahLst/>
                <a:cxnLst/>
                <a:rect r="r" b="b" t="t" l="l"/>
                <a:pathLst>
                  <a:path h="593296" w="1418261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19050"/>
                <a:ext cx="1418261" cy="5742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43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741639" y="70938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045128" y="502290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보고용 == HTML / 기록용 == MD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741639" y="141804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1045128" y="1210950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원본 .md는 지우지 말고 보관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741639" y="2126706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045128" y="1919611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8차시 미니 프로젝트에서 활용!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472784" y="2884234"/>
            <a:ext cx="3903318" cy="547878"/>
            <a:chOff x="0" y="0"/>
            <a:chExt cx="5204424" cy="7305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192339"/>
              <a:ext cx="355986" cy="355986"/>
            </a:xfrm>
            <a:custGeom>
              <a:avLst/>
              <a:gdLst/>
              <a:ahLst/>
              <a:cxnLst/>
              <a:rect r="r" b="b" t="t" l="l"/>
              <a:pathLst>
                <a:path h="355986" w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500339" y="76200"/>
              <a:ext cx="4704085" cy="654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6"/>
                </a:lnSpc>
                <a:spcBef>
                  <a:spcPct val="0"/>
                </a:spcBef>
              </a:pPr>
              <a:r>
                <a:rPr lang="en-US" b="true" sz="3600" spc="-72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이렇게 쓰세요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[데모] 보고서 요청 프롬프트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72784" y="3604117"/>
            <a:ext cx="7086813" cy="13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작업이 끝나면 보고서 요청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report.html을 브라우저로 열기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세부 내용은 .md 파일로 확인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714500" y="2895600"/>
            <a:ext cx="8201025" cy="5695950"/>
            <a:chOff x="0" y="0"/>
            <a:chExt cx="10934700" cy="7594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34700" cy="7594600"/>
            </a:xfrm>
            <a:custGeom>
              <a:avLst/>
              <a:gdLst/>
              <a:ahLst/>
              <a:cxnLst/>
              <a:rect r="r" b="b" t="t" l="l"/>
              <a:pathLst>
                <a:path h="7594600" w="109347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559199"/>
                  </a:lnTo>
                  <a:cubicBezTo>
                    <a:pt x="10934700" y="7578751"/>
                    <a:pt x="10918851" y="7594600"/>
                    <a:pt x="10899299" y="7594600"/>
                  </a:cubicBezTo>
                  <a:lnTo>
                    <a:pt x="35401" y="7594600"/>
                  </a:lnTo>
                  <a:cubicBezTo>
                    <a:pt x="15849" y="7594600"/>
                    <a:pt x="0" y="7578751"/>
                    <a:pt x="0" y="75591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1E2233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934700" cy="7632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14500" y="2895600"/>
            <a:ext cx="8201025" cy="609600"/>
            <a:chOff x="0" y="0"/>
            <a:chExt cx="109347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34700" cy="812800"/>
            </a:xfrm>
            <a:custGeom>
              <a:avLst/>
              <a:gdLst/>
              <a:ahLst/>
              <a:cxnLst/>
              <a:rect r="r" b="b" t="t" l="l"/>
              <a:pathLst>
                <a:path h="812800" w="109347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77399"/>
                  </a:lnTo>
                  <a:cubicBezTo>
                    <a:pt x="10934700" y="796951"/>
                    <a:pt x="10918851" y="812800"/>
                    <a:pt x="10899299" y="812800"/>
                  </a:cubicBezTo>
                  <a:lnTo>
                    <a:pt x="35401" y="812800"/>
                  </a:lnTo>
                  <a:cubicBezTo>
                    <a:pt x="15849" y="812800"/>
                    <a:pt x="0" y="796951"/>
                    <a:pt x="0" y="7773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2D335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9347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047875" y="2971800"/>
            <a:ext cx="7429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A9B8FF"/>
                </a:solidFill>
                <a:latin typeface="Arimo Bold"/>
                <a:ea typeface="Arimo Bold"/>
                <a:cs typeface="Arimo Bold"/>
                <a:sym typeface="Arimo Bold"/>
              </a:rPr>
              <a:t>💬 작업이 끝난 뒤 에이전트에게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143125" y="3714750"/>
            <a:ext cx="7524750" cy="3709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오늘 작업한 내용을 report.html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한 파일로 정리해줘.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1. 맨 위 히어로: 핵심 내용 3줄 요약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2. 핵심 키워드를 그룹별 카드로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3. 추가/수정/삭제된 파일 목록을 표로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4. 한눈에 보이도록 시각적으로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색은 파란색 계열, 모바일에서도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잘 보이게 해줘.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382000" y="8899525"/>
            <a:ext cx="152400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- 24 -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820604" y="768468"/>
            <a:ext cx="12829802" cy="762000"/>
            <a:chOff x="0" y="0"/>
            <a:chExt cx="17106403" cy="10160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712750" y="76200"/>
              <a:ext cx="16393653" cy="93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00"/>
                </a:lnSpc>
                <a:spcBef>
                  <a:spcPct val="0"/>
                </a:spcBef>
              </a:pPr>
              <a:r>
                <a:rPr lang="en-US" b="true" sz="5000" spc="-100" strike="noStrike" u="non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오늘 배운 것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0" y="284846"/>
              <a:ext cx="446308" cy="446308"/>
            </a:xfrm>
            <a:custGeom>
              <a:avLst/>
              <a:gdLst/>
              <a:ahLst/>
              <a:cxnLst/>
              <a:rect r="r" b="b" t="t" l="l"/>
              <a:pathLst>
                <a:path h="446308" w="446308">
                  <a:moveTo>
                    <a:pt x="0" y="0"/>
                  </a:moveTo>
                  <a:lnTo>
                    <a:pt x="446308" y="0"/>
                  </a:lnTo>
                  <a:lnTo>
                    <a:pt x="446308" y="446308"/>
                  </a:lnTo>
                  <a:lnTo>
                    <a:pt x="0" y="44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2944444" y="3048665"/>
            <a:ext cx="1906863" cy="1756697"/>
          </a:xfrm>
          <a:custGeom>
            <a:avLst/>
            <a:gdLst/>
            <a:ahLst/>
            <a:cxnLst/>
            <a:rect r="r" b="b" t="t" l="l"/>
            <a:pathLst>
              <a:path h="1756697" w="1906863">
                <a:moveTo>
                  <a:pt x="0" y="0"/>
                </a:moveTo>
                <a:lnTo>
                  <a:pt x="1906863" y="0"/>
                </a:lnTo>
                <a:lnTo>
                  <a:pt x="1906863" y="1756697"/>
                </a:lnTo>
                <a:lnTo>
                  <a:pt x="0" y="17566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176076" y="3176873"/>
            <a:ext cx="1935847" cy="1500282"/>
          </a:xfrm>
          <a:custGeom>
            <a:avLst/>
            <a:gdLst/>
            <a:ahLst/>
            <a:cxnLst/>
            <a:rect r="r" b="b" t="t" l="l"/>
            <a:pathLst>
              <a:path h="1500282" w="1935847">
                <a:moveTo>
                  <a:pt x="0" y="0"/>
                </a:moveTo>
                <a:lnTo>
                  <a:pt x="1935848" y="0"/>
                </a:lnTo>
                <a:lnTo>
                  <a:pt x="1935848" y="1500282"/>
                </a:lnTo>
                <a:lnTo>
                  <a:pt x="0" y="15002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580283" y="3112769"/>
            <a:ext cx="1638732" cy="1628490"/>
          </a:xfrm>
          <a:custGeom>
            <a:avLst/>
            <a:gdLst/>
            <a:ahLst/>
            <a:cxnLst/>
            <a:rect r="r" b="b" t="t" l="l"/>
            <a:pathLst>
              <a:path h="1628490" w="1638732">
                <a:moveTo>
                  <a:pt x="0" y="0"/>
                </a:moveTo>
                <a:lnTo>
                  <a:pt x="1638732" y="0"/>
                </a:lnTo>
                <a:lnTo>
                  <a:pt x="1638732" y="1628489"/>
                </a:lnTo>
                <a:lnTo>
                  <a:pt x="0" y="16284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845660" y="5336790"/>
            <a:ext cx="4104431" cy="2603177"/>
            <a:chOff x="0" y="0"/>
            <a:chExt cx="5472575" cy="3470902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326998" y="2375527"/>
              <a:ext cx="4818580" cy="1095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  <a:r>
                <a:rPr lang="en-US" b="true" sz="2250" spc="-44" strike="noStrike" u="none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기호로 꾸미는 문서</a:t>
              </a:r>
            </a:p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  <a:r>
                <a:rPr lang="en-US" b="true" sz="2250" spc="-44" strike="noStrike" u="none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# · ** · - · [ ]( )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0"/>
              <a:ext cx="5472575" cy="12808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76"/>
                </a:lnSpc>
                <a:spcBef>
                  <a:spcPct val="0"/>
                </a:spcBef>
              </a:pPr>
              <a:r>
                <a:rPr lang="en-US" b="true" sz="3200" spc="-64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Markdown</a:t>
              </a:r>
            </a:p>
            <a:p>
              <a:pPr algn="ctr" marL="0" indent="0" lvl="0">
                <a:lnSpc>
                  <a:spcPts val="3776"/>
                </a:lnSpc>
                <a:spcBef>
                  <a:spcPct val="0"/>
                </a:spcBef>
              </a:pPr>
              <a:r>
                <a:rPr lang="en-US" b="true" sz="3200" spc="-64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문법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5400000">
              <a:off x="2619394" y="1804646"/>
              <a:ext cx="233786" cy="228526"/>
            </a:xfrm>
            <a:custGeom>
              <a:avLst/>
              <a:gdLst/>
              <a:ahLst/>
              <a:cxnLst/>
              <a:rect r="r" b="b" t="t" l="l"/>
              <a:pathLst>
                <a:path h="228526" w="233786">
                  <a:moveTo>
                    <a:pt x="0" y="0"/>
                  </a:moveTo>
                  <a:lnTo>
                    <a:pt x="233787" y="0"/>
                  </a:lnTo>
                  <a:lnTo>
                    <a:pt x="233787" y="228526"/>
                  </a:lnTo>
                  <a:lnTo>
                    <a:pt x="0" y="2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091784" y="5336790"/>
            <a:ext cx="4104431" cy="2603177"/>
            <a:chOff x="0" y="0"/>
            <a:chExt cx="5472575" cy="3470902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275465" y="2375527"/>
              <a:ext cx="4921645" cy="1095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  <a:r>
                <a:rPr lang="en-US" b="true" sz="2250" spc="-44" strike="noStrike" u="none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4단계로 완성!</a:t>
              </a:r>
            </a:p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  <a:r>
                <a:rPr lang="en-US" b="true" sz="2250" spc="-44" strike="noStrike" u="none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구조 · 스타일 · 링크 · 표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0"/>
              <a:ext cx="5472575" cy="12808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76"/>
                </a:lnSpc>
                <a:spcBef>
                  <a:spcPct val="0"/>
                </a:spcBef>
              </a:pPr>
              <a:r>
                <a:rPr lang="en-US" b="true" sz="3200" spc="-64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나의</a:t>
              </a:r>
            </a:p>
            <a:p>
              <a:pPr algn="ctr" marL="0" indent="0" lvl="0">
                <a:lnSpc>
                  <a:spcPts val="3776"/>
                </a:lnSpc>
                <a:spcBef>
                  <a:spcPct val="0"/>
                </a:spcBef>
              </a:pPr>
              <a:r>
                <a:rPr lang="en-US" b="true" sz="3200" spc="-64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README.md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5400000">
              <a:off x="2619394" y="1804646"/>
              <a:ext cx="233786" cy="228526"/>
            </a:xfrm>
            <a:custGeom>
              <a:avLst/>
              <a:gdLst/>
              <a:ahLst/>
              <a:cxnLst/>
              <a:rect r="r" b="b" t="t" l="l"/>
              <a:pathLst>
                <a:path h="228526" w="233786">
                  <a:moveTo>
                    <a:pt x="0" y="0"/>
                  </a:moveTo>
                  <a:lnTo>
                    <a:pt x="233787" y="0"/>
                  </a:lnTo>
                  <a:lnTo>
                    <a:pt x="233787" y="228526"/>
                  </a:lnTo>
                  <a:lnTo>
                    <a:pt x="0" y="2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347433" y="5336790"/>
            <a:ext cx="4104431" cy="2603177"/>
            <a:chOff x="0" y="0"/>
            <a:chExt cx="5472575" cy="3470902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344175" y="2375527"/>
              <a:ext cx="4784225" cy="1095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  <a:r>
                <a:rPr lang="en-US" b="true" sz="2250" spc="-44" strike="noStrike" u="none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상황에 맞게 선택</a:t>
              </a:r>
            </a:p>
            <a:p>
              <a:pPr algn="ctr" marL="0" indent="0" lvl="0">
                <a:lnSpc>
                  <a:spcPts val="3375"/>
                </a:lnSpc>
                <a:spcBef>
                  <a:spcPct val="0"/>
                </a:spcBef>
              </a:pPr>
              <a:r>
                <a:rPr lang="en-US" b="true" sz="2250" spc="-44" strike="noStrike" u="none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기록은 MD · 보고는 HTML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0"/>
              <a:ext cx="5472575" cy="12808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76"/>
                </a:lnSpc>
                <a:spcBef>
                  <a:spcPct val="0"/>
                </a:spcBef>
              </a:pPr>
              <a:r>
                <a:rPr lang="en-US" b="true" sz="3200" spc="-64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Markdown</a:t>
              </a:r>
            </a:p>
            <a:p>
              <a:pPr algn="ctr" marL="0" indent="0" lvl="0">
                <a:lnSpc>
                  <a:spcPts val="3776"/>
                </a:lnSpc>
                <a:spcBef>
                  <a:spcPct val="0"/>
                </a:spcBef>
              </a:pPr>
              <a:r>
                <a:rPr lang="en-US" b="true" sz="3200" spc="-64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vs HTML</a:t>
              </a:r>
            </a:p>
          </p:txBody>
        </p:sp>
        <p:sp>
          <p:nvSpPr>
            <p:cNvPr name="Freeform 32" id="32"/>
            <p:cNvSpPr/>
            <p:nvPr/>
          </p:nvSpPr>
          <p:spPr>
            <a:xfrm flipH="false" flipV="false" rot="5400000">
              <a:off x="2619394" y="1804646"/>
              <a:ext cx="233786" cy="228526"/>
            </a:xfrm>
            <a:custGeom>
              <a:avLst/>
              <a:gdLst/>
              <a:ahLst/>
              <a:cxnLst/>
              <a:rect r="r" b="b" t="t" l="l"/>
              <a:pathLst>
                <a:path h="228526" w="233786">
                  <a:moveTo>
                    <a:pt x="0" y="0"/>
                  </a:moveTo>
                  <a:lnTo>
                    <a:pt x="233787" y="0"/>
                  </a:lnTo>
                  <a:lnTo>
                    <a:pt x="233787" y="228526"/>
                  </a:lnTo>
                  <a:lnTo>
                    <a:pt x="0" y="2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382000" y="8899525"/>
            <a:ext cx="152400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- 25 -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17296" y="2898323"/>
            <a:ext cx="8207164" cy="5701057"/>
            <a:chOff x="0" y="0"/>
            <a:chExt cx="1170096" cy="812800"/>
          </a:xfrm>
        </p:grpSpPr>
        <p:sp>
          <p:nvSpPr>
            <p:cNvPr name="Freeform 17" id="17" descr="3차시 프롬프트 엔지니어링 예고 일러스트"/>
            <p:cNvSpPr/>
            <p:nvPr/>
          </p:nvSpPr>
          <p:spPr>
            <a:xfrm flipH="false" flipV="false" rot="0">
              <a:off x="0" y="0"/>
              <a:ext cx="1170096" cy="812800"/>
            </a:xfrm>
            <a:custGeom>
              <a:avLst/>
              <a:gdLst/>
              <a:ahLst/>
              <a:cxnLst/>
              <a:rect r="r" b="b" t="t" l="l"/>
              <a:pathLst>
                <a:path h="812800" w="1170096">
                  <a:moveTo>
                    <a:pt x="14150" y="0"/>
                  </a:moveTo>
                  <a:lnTo>
                    <a:pt x="1155946" y="0"/>
                  </a:lnTo>
                  <a:cubicBezTo>
                    <a:pt x="1163761" y="0"/>
                    <a:pt x="1170096" y="6335"/>
                    <a:pt x="1170096" y="14150"/>
                  </a:cubicBezTo>
                  <a:lnTo>
                    <a:pt x="1170096" y="798650"/>
                  </a:lnTo>
                  <a:cubicBezTo>
                    <a:pt x="1170096" y="806465"/>
                    <a:pt x="1163761" y="812800"/>
                    <a:pt x="1155946" y="812800"/>
                  </a:cubicBezTo>
                  <a:lnTo>
                    <a:pt x="14150" y="812800"/>
                  </a:lnTo>
                  <a:cubicBezTo>
                    <a:pt x="6335" y="812800"/>
                    <a:pt x="0" y="806465"/>
                    <a:pt x="0" y="798650"/>
                  </a:cubicBezTo>
                  <a:lnTo>
                    <a:pt x="0" y="14150"/>
                  </a:lnTo>
                  <a:cubicBezTo>
                    <a:pt x="0" y="6335"/>
                    <a:pt x="6335" y="0"/>
                    <a:pt x="1415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714" r="0" b="-3714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418261" cy="593296"/>
              </a:xfrm>
              <a:custGeom>
                <a:avLst/>
                <a:gdLst/>
                <a:ahLst/>
                <a:cxnLst/>
                <a:rect r="r" b="b" t="t" l="l"/>
                <a:pathLst>
                  <a:path h="593296" w="1418261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1418261" cy="5742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43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741639" y="70938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1045128" y="502290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AI에게 '잘' 시키는 방법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741639" y="1418045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045128" y="1210950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오늘 배운 Markdown이 바로 쓰임!</a:t>
              </a:r>
            </a:p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741639" y="2126706"/>
              <a:ext cx="189653" cy="144610"/>
            </a:xfrm>
            <a:custGeom>
              <a:avLst/>
              <a:gdLst/>
              <a:ahLst/>
              <a:cxnLst/>
              <a:rect r="r" b="b" t="t" l="l"/>
              <a:pathLst>
                <a:path h="144610" w="189653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1045128" y="1919611"/>
              <a:ext cx="6134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000" spc="-40" strike="noStrike" u="none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약 90분 · 노트북 지참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472784" y="2884234"/>
            <a:ext cx="3903318" cy="547878"/>
            <a:chOff x="0" y="0"/>
            <a:chExt cx="5204424" cy="7305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192339"/>
              <a:ext cx="355986" cy="355986"/>
            </a:xfrm>
            <a:custGeom>
              <a:avLst/>
              <a:gdLst/>
              <a:ahLst/>
              <a:cxnLst/>
              <a:rect r="r" b="b" t="t" l="l"/>
              <a:pathLst>
                <a:path h="355986" w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500339" y="76200"/>
              <a:ext cx="4704085" cy="654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6"/>
                </a:lnSpc>
                <a:spcBef>
                  <a:spcPct val="0"/>
                </a:spcBef>
              </a:pPr>
              <a:r>
                <a:rPr lang="en-US" b="true" sz="3600" spc="-72" strike="noStrike" u="none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3차시 주제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  <a:spcBef>
                <a:spcPct val="0"/>
              </a:spcBef>
            </a:pPr>
            <a:r>
              <a:rPr lang="en-US" b="true" sz="5000" spc="-100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다음 수업 예고: 3차시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472784" y="3604117"/>
            <a:ext cx="7086813" cy="13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프롬프트 엔지니어링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컨텍스트 엔지니어링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하네스 · 루프 엔지니어링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382000" y="8899525"/>
            <a:ext cx="152400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- 26 -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219581"/>
              </a:xfrm>
              <a:custGeom>
                <a:avLst/>
                <a:gdLst/>
                <a:ahLst/>
                <a:cxnLst/>
                <a:rect r="r" b="b" t="t" l="l"/>
                <a:pathLst>
                  <a:path h="2219581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680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927680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21251" cy="359436"/>
              </a:xfrm>
              <a:custGeom>
                <a:avLst/>
                <a:gdLst/>
                <a:ahLst/>
                <a:cxnLst/>
                <a:rect r="r" b="b" t="t" l="l"/>
                <a:pathLst>
                  <a:path h="359436" w="521251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355167" y="696396"/>
            <a:ext cx="122952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</a:pPr>
            <a:r>
              <a:rPr lang="en-US" b="true" sz="5000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질문과 답변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20604" y="843344"/>
            <a:ext cx="334731" cy="334731"/>
          </a:xfrm>
          <a:custGeom>
            <a:avLst/>
            <a:gdLst/>
            <a:ahLst/>
            <a:cxnLst/>
            <a:rect r="r" b="b" t="t" l="l"/>
            <a:pathLst>
              <a:path h="334731" w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32477" y="5801544"/>
            <a:ext cx="11423046" cy="70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23"/>
              </a:lnSpc>
              <a:spcBef>
                <a:spcPct val="0"/>
              </a:spcBef>
            </a:pPr>
            <a:r>
              <a:rPr lang="en-US" b="true" sz="4800" spc="-144" strike="noStrike" u="non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오늘 수업, 궁금한 점 있으신가요?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32477" y="6600042"/>
            <a:ext cx="11423046" cy="70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23"/>
              </a:lnSpc>
              <a:spcBef>
                <a:spcPct val="0"/>
              </a:spcBef>
            </a:pPr>
            <a:r>
              <a:rPr lang="en-US" b="true" sz="4800" spc="-144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편하게 질문해 주세요!</a:t>
            </a:r>
          </a:p>
        </p:txBody>
      </p:sp>
      <p:sp>
        <p:nvSpPr>
          <p:cNvPr name="Freeform 19" id="19"/>
          <p:cNvSpPr/>
          <p:nvPr/>
        </p:nvSpPr>
        <p:spPr>
          <a:xfrm flipH="true" flipV="false" rot="0">
            <a:off x="7153634" y="3343132"/>
            <a:ext cx="2003592" cy="1570315"/>
          </a:xfrm>
          <a:custGeom>
            <a:avLst/>
            <a:gdLst/>
            <a:ahLst/>
            <a:cxnLst/>
            <a:rect r="r" b="b" t="t" l="l"/>
            <a:pathLst>
              <a:path h="1570315" w="2003592">
                <a:moveTo>
                  <a:pt x="2003593" y="0"/>
                </a:moveTo>
                <a:lnTo>
                  <a:pt x="0" y="0"/>
                </a:lnTo>
                <a:lnTo>
                  <a:pt x="0" y="1570316"/>
                </a:lnTo>
                <a:lnTo>
                  <a:pt x="2003593" y="1570316"/>
                </a:lnTo>
                <a:lnTo>
                  <a:pt x="200359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133758" y="3914364"/>
            <a:ext cx="2003592" cy="1570315"/>
          </a:xfrm>
          <a:custGeom>
            <a:avLst/>
            <a:gdLst/>
            <a:ahLst/>
            <a:cxnLst/>
            <a:rect r="r" b="b" t="t" l="l"/>
            <a:pathLst>
              <a:path h="1570315" w="2003592">
                <a:moveTo>
                  <a:pt x="0" y="0"/>
                </a:moveTo>
                <a:lnTo>
                  <a:pt x="2003592" y="0"/>
                </a:lnTo>
                <a:lnTo>
                  <a:pt x="2003592" y="1570315"/>
                </a:lnTo>
                <a:lnTo>
                  <a:pt x="0" y="15703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291556" y="3386575"/>
            <a:ext cx="1727750" cy="114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1"/>
              </a:lnSpc>
            </a:pPr>
            <a:r>
              <a:rPr lang="en-US" b="true" sz="6701" spc="-341">
                <a:solidFill>
                  <a:srgbClr val="FDFDFB"/>
                </a:solidFill>
                <a:latin typeface="DIN Next Bold"/>
                <a:ea typeface="DIN Next Bold"/>
                <a:cs typeface="DIN Next Bold"/>
                <a:sym typeface="DIN Next Bold"/>
              </a:rPr>
              <a:t>Q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71679" y="3957807"/>
            <a:ext cx="1727750" cy="114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1"/>
              </a:lnSpc>
            </a:pPr>
            <a:r>
              <a:rPr lang="en-US" b="true" sz="6701" spc="-341">
                <a:solidFill>
                  <a:srgbClr val="FDFDFB"/>
                </a:solidFill>
                <a:latin typeface="DIN Next Bold"/>
                <a:ea typeface="DIN Next Bold"/>
                <a:cs typeface="DIN Next Bold"/>
                <a:sym typeface="DIN Next Bold"/>
              </a:rPr>
              <a:t>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08845" y="7574259"/>
            <a:ext cx="7496762" cy="593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85"/>
              </a:lnSpc>
              <a:spcBef>
                <a:spcPct val="0"/>
              </a:spcBef>
            </a:pPr>
            <a:r>
              <a:rPr lang="en-US" b="true" sz="1799" spc="30" strike="noStrike" u="none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수업이 끝난 뒤에도 단톡방에 언제든 남겨 주세요.</a:t>
            </a:r>
          </a:p>
          <a:p>
            <a:pPr algn="ctr" marL="0" indent="0" lvl="0">
              <a:lnSpc>
                <a:spcPts val="2285"/>
              </a:lnSpc>
              <a:spcBef>
                <a:spcPct val="0"/>
              </a:spcBef>
            </a:pPr>
            <a:r>
              <a:rPr lang="en-US" b="true" sz="1799" spc="30" strike="noStrike" u="none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강의 자료는 노션 · GitHub에서 다시 볼 수 있어요.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94520" y="1353621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54" y="566049"/>
            <a:ext cx="17218292" cy="9186097"/>
            <a:chOff x="0" y="0"/>
            <a:chExt cx="22957723" cy="1224812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835531"/>
              <a:ext cx="22957723" cy="11412598"/>
              <a:chOff x="0" y="0"/>
              <a:chExt cx="4777465" cy="237494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77465" cy="2374943"/>
              </a:xfrm>
              <a:custGeom>
                <a:avLst/>
                <a:gdLst/>
                <a:ahLst/>
                <a:cxnLst/>
                <a:rect r="r" b="b" t="t" l="l"/>
                <a:pathLst>
                  <a:path h="2374943" w="4777465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352012"/>
                    </a:lnTo>
                    <a:cubicBezTo>
                      <a:pt x="4777465" y="2358094"/>
                      <a:pt x="4775049" y="2363926"/>
                      <a:pt x="4770749" y="2368227"/>
                    </a:cubicBezTo>
                    <a:cubicBezTo>
                      <a:pt x="4766449" y="2372527"/>
                      <a:pt x="4760616" y="2374943"/>
                      <a:pt x="4754534" y="2374943"/>
                    </a:cubicBezTo>
                    <a:lnTo>
                      <a:pt x="22931" y="2374943"/>
                    </a:lnTo>
                    <a:cubicBezTo>
                      <a:pt x="10267" y="2374943"/>
                      <a:pt x="0" y="2364677"/>
                      <a:pt x="0" y="2352012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77465" cy="2413043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4517287" y="0"/>
              <a:ext cx="18440436" cy="3397582"/>
              <a:chOff x="0" y="0"/>
              <a:chExt cx="3837425" cy="707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837425" cy="707031"/>
              </a:xfrm>
              <a:custGeom>
                <a:avLst/>
                <a:gdLst/>
                <a:ahLst/>
                <a:cxnLst/>
                <a:rect r="r" b="b" t="t" l="l"/>
                <a:pathLst>
                  <a:path h="707031" w="3837425">
                    <a:moveTo>
                      <a:pt x="28549" y="0"/>
                    </a:moveTo>
                    <a:lnTo>
                      <a:pt x="3808877" y="0"/>
                    </a:lnTo>
                    <a:cubicBezTo>
                      <a:pt x="3824644" y="0"/>
                      <a:pt x="3837425" y="12782"/>
                      <a:pt x="3837425" y="28549"/>
                    </a:cubicBezTo>
                    <a:lnTo>
                      <a:pt x="3837425" y="678483"/>
                    </a:lnTo>
                    <a:cubicBezTo>
                      <a:pt x="3837425" y="686054"/>
                      <a:pt x="3834418" y="693316"/>
                      <a:pt x="3829064" y="698670"/>
                    </a:cubicBezTo>
                    <a:cubicBezTo>
                      <a:pt x="3823710" y="704024"/>
                      <a:pt x="3816448" y="707031"/>
                      <a:pt x="3808877" y="707031"/>
                    </a:cubicBezTo>
                    <a:lnTo>
                      <a:pt x="28549" y="707031"/>
                    </a:lnTo>
                    <a:cubicBezTo>
                      <a:pt x="12782" y="707031"/>
                      <a:pt x="0" y="694250"/>
                      <a:pt x="0" y="678483"/>
                    </a:cubicBezTo>
                    <a:lnTo>
                      <a:pt x="0" y="28549"/>
                    </a:lnTo>
                    <a:cubicBezTo>
                      <a:pt x="0" y="20977"/>
                      <a:pt x="3008" y="13716"/>
                      <a:pt x="8362" y="8362"/>
                    </a:cubicBezTo>
                    <a:cubicBezTo>
                      <a:pt x="13716" y="3008"/>
                      <a:pt x="20977" y="0"/>
                      <a:pt x="28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3837425" cy="745131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081187" y="442770"/>
              <a:ext cx="2392010" cy="1865053"/>
              <a:chOff x="0" y="0"/>
              <a:chExt cx="497773" cy="38811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773" cy="388115"/>
              </a:xfrm>
              <a:custGeom>
                <a:avLst/>
                <a:gdLst/>
                <a:ahLst/>
                <a:cxnLst/>
                <a:rect r="r" b="b" t="t" l="l"/>
                <a:pathLst>
                  <a:path h="388115" w="497773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anchor="ctr" rtlCol="false" tIns="48220" lIns="48220" bIns="48220" rIns="48220"/>
              <a:lstStyle/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  <a:p>
                <a:pPr algn="ctr" marL="0" indent="0" lvl="0">
                  <a:lnSpc>
                    <a:spcPts val="1853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2091821" y="-102735"/>
            <a:ext cx="1878623" cy="1295432"/>
            <a:chOff x="0" y="0"/>
            <a:chExt cx="521251" cy="3594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1251" cy="359436"/>
            </a:xfrm>
            <a:custGeom>
              <a:avLst/>
              <a:gdLst/>
              <a:ahLst/>
              <a:cxnLst/>
              <a:rect r="r" b="b" t="t" l="l"/>
              <a:pathLst>
                <a:path h="359436" w="521251">
                  <a:moveTo>
                    <a:pt x="179718" y="0"/>
                  </a:moveTo>
                  <a:lnTo>
                    <a:pt x="341533" y="0"/>
                  </a:lnTo>
                  <a:cubicBezTo>
                    <a:pt x="440789" y="0"/>
                    <a:pt x="521251" y="80463"/>
                    <a:pt x="521251" y="179718"/>
                  </a:cubicBezTo>
                  <a:lnTo>
                    <a:pt x="521251" y="179718"/>
                  </a:lnTo>
                  <a:cubicBezTo>
                    <a:pt x="521251" y="227382"/>
                    <a:pt x="502317" y="273094"/>
                    <a:pt x="468613" y="306798"/>
                  </a:cubicBezTo>
                  <a:cubicBezTo>
                    <a:pt x="434909" y="340502"/>
                    <a:pt x="389197" y="359436"/>
                    <a:pt x="341533" y="359436"/>
                  </a:cubicBezTo>
                  <a:lnTo>
                    <a:pt x="179718" y="359436"/>
                  </a:lnTo>
                  <a:cubicBezTo>
                    <a:pt x="132054" y="359436"/>
                    <a:pt x="86342" y="340502"/>
                    <a:pt x="52638" y="306798"/>
                  </a:cubicBezTo>
                  <a:cubicBezTo>
                    <a:pt x="18935" y="273094"/>
                    <a:pt x="0" y="227382"/>
                    <a:pt x="0" y="179718"/>
                  </a:cubicBezTo>
                  <a:lnTo>
                    <a:pt x="0" y="179718"/>
                  </a:lnTo>
                  <a:cubicBezTo>
                    <a:pt x="0" y="132054"/>
                    <a:pt x="18935" y="86342"/>
                    <a:pt x="52638" y="52638"/>
                  </a:cubicBezTo>
                  <a:cubicBezTo>
                    <a:pt x="86342" y="18935"/>
                    <a:pt x="132054" y="0"/>
                    <a:pt x="179718" y="0"/>
                  </a:cubicBezTo>
                  <a:close/>
                </a:path>
              </a:pathLst>
            </a:custGeom>
            <a:solidFill>
              <a:srgbClr val="5170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21251" cy="397536"/>
            </a:xfrm>
            <a:prstGeom prst="rect">
              <a:avLst/>
            </a:prstGeom>
          </p:spPr>
          <p:txBody>
            <a:bodyPr anchor="ctr" rtlCol="false" tIns="48220" lIns="48220" bIns="48220" rIns="48220"/>
            <a:lstStyle/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185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5400000">
            <a:off x="16995628" y="862350"/>
            <a:ext cx="82863" cy="368281"/>
          </a:xfrm>
          <a:custGeom>
            <a:avLst/>
            <a:gdLst/>
            <a:ahLst/>
            <a:cxnLst/>
            <a:rect r="r" b="b" t="t" l="l"/>
            <a:pathLst>
              <a:path h="368281" w="82863">
                <a:moveTo>
                  <a:pt x="0" y="0"/>
                </a:moveTo>
                <a:lnTo>
                  <a:pt x="82863" y="0"/>
                </a:lnTo>
                <a:lnTo>
                  <a:pt x="82863" y="368281"/>
                </a:lnTo>
                <a:lnTo>
                  <a:pt x="0" y="3682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3540110" y="6593084"/>
            <a:ext cx="3312808" cy="2401786"/>
          </a:xfrm>
          <a:custGeom>
            <a:avLst/>
            <a:gdLst/>
            <a:ahLst/>
            <a:cxnLst/>
            <a:rect r="r" b="b" t="t" l="l"/>
            <a:pathLst>
              <a:path h="2401786" w="3312808">
                <a:moveTo>
                  <a:pt x="0" y="0"/>
                </a:moveTo>
                <a:lnTo>
                  <a:pt x="3312809" y="0"/>
                </a:lnTo>
                <a:lnTo>
                  <a:pt x="3312809" y="2401786"/>
                </a:lnTo>
                <a:lnTo>
                  <a:pt x="0" y="24017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377195" y="3075893"/>
            <a:ext cx="14882105" cy="154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93"/>
              </a:lnSpc>
            </a:pPr>
            <a:r>
              <a:rPr lang="en-US" b="true" sz="9601">
                <a:solidFill>
                  <a:srgbClr val="000000"/>
                </a:solidFill>
                <a:latin typeface="프리젠테이션 Ultra-Bold"/>
                <a:ea typeface="프리젠테이션 Ultra-Bold"/>
                <a:cs typeface="프리젠테이션 Ultra-Bold"/>
                <a:sym typeface="프리젠테이션 Ultra-Bold"/>
              </a:rPr>
              <a:t>THANK YOU!!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77195" y="5160276"/>
            <a:ext cx="10520872" cy="3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1999" spc="-19" strike="noStrike" u="none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완성한 README.md, 단톡방에 공유해 주세요! 이제 해크닉 🧺🍱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77195" y="4572020"/>
            <a:ext cx="7287980" cy="58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15"/>
              </a:lnSpc>
              <a:spcBef>
                <a:spcPct val="0"/>
              </a:spcBef>
            </a:pPr>
            <a:r>
              <a:rPr lang="en-US" b="true" sz="3599" spc="-147" strike="noStrike" u="none">
                <a:solidFill>
                  <a:srgbClr val="5170FF">
                    <a:alpha val="93725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3차시에 만나요~!</a:t>
            </a: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4803882" y="6372794"/>
            <a:ext cx="0" cy="212812"/>
          </a:xfrm>
          <a:prstGeom prst="line">
            <a:avLst/>
          </a:prstGeom>
          <a:ln cap="flat" w="9525">
            <a:solidFill>
              <a:srgbClr val="222222">
                <a:alpha val="2274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2377195" y="6327216"/>
            <a:ext cx="2421924" cy="33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19"/>
              </a:lnSpc>
              <a:spcBef>
                <a:spcPct val="0"/>
              </a:spcBef>
            </a:pPr>
            <a:r>
              <a:rPr lang="en-US" b="true" sz="1999" spc="-79" strike="noStrike" u="non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교육운영진 </a:t>
            </a:r>
            <a:r>
              <a:rPr lang="en-US" b="true" sz="1999" spc="-79" strike="noStrike" u="non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허진수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75369" y="6427467"/>
            <a:ext cx="5819862" cy="246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59"/>
              </a:lnSpc>
              <a:spcBef>
                <a:spcPct val="0"/>
              </a:spcBef>
            </a:pPr>
            <a:r>
              <a:rPr lang="en-US" b="true" sz="1999" spc="33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문의: 단톡방 / zintn11@gmail.com</a:t>
            </a:r>
          </a:p>
        </p:txBody>
      </p:sp>
      <p:sp>
        <p:nvSpPr>
          <p:cNvPr name="AutoShape 23" id="23"/>
          <p:cNvSpPr/>
          <p:nvPr/>
        </p:nvSpPr>
        <p:spPr>
          <a:xfrm flipV="true">
            <a:off x="2377195" y="5933484"/>
            <a:ext cx="8718036" cy="0"/>
          </a:xfrm>
          <a:prstGeom prst="line">
            <a:avLst/>
          </a:prstGeom>
          <a:ln cap="flat" w="9525">
            <a:solidFill>
              <a:srgbClr val="222222">
                <a:alpha val="2274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659283" y="679939"/>
            <a:ext cx="2865076" cy="32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spc="122" strike="noStrike" u="none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DAHWRkiJq1g</dc:identifier>
  <dcterms:modified xsi:type="dcterms:W3CDTF">2011-08-01T06:04:30Z</dcterms:modified>
  <cp:revision>1</cp:revision>
  <dc:title>[VibeCoding] 2차시 강의 자료</dc:title>
</cp:coreProperties>
</file>