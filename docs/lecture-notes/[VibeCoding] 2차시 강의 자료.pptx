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notesSlide+xml" PartName="/ppt/notesSlides/notesSlide4.xml"/>
  <Override ContentType="application/vnd.openxmlformats-officedocument.presentationml.notesSlide+xml" PartName="/ppt/notesSlides/notesSlide5.xml"/>
  <Override ContentType="application/vnd.openxmlformats-officedocument.presentationml.notesSlide+xml" PartName="/ppt/notesSlides/notesSlide6.xml"/>
  <Override ContentType="application/vnd.openxmlformats-officedocument.presentationml.notesSlide+xml" PartName="/ppt/notesSlides/notesSlide7.xml"/>
  <Override ContentType="application/vnd.openxmlformats-officedocument.presentationml.notesSlide+xml" PartName="/ppt/notesSlides/notesSlide8.xml"/>
  <Override ContentType="application/vnd.openxmlformats-officedocument.presentationml.notesSlide+xml" PartName="/ppt/notesSlides/notesSlide9.xml"/>
  <Override ContentType="application/vnd.openxmlformats-officedocument.presentationml.notesSlide+xml" PartName="/ppt/notesSlides/notesSlide10.xml"/>
  <Override ContentType="application/vnd.openxmlformats-officedocument.presentationml.notesSlide+xml" PartName="/ppt/notesSlides/notesSlide11.xml"/>
  <Override ContentType="application/vnd.openxmlformats-officedocument.presentationml.notesSlide+xml" PartName="/ppt/notesSlides/notesSlide12.xml"/>
  <Override ContentType="application/vnd.openxmlformats-officedocument.presentationml.notesSlide+xml" PartName="/ppt/notesSlides/notesSlide13.xml"/>
  <Override ContentType="application/vnd.openxmlformats-officedocument.presentationml.notesSlide+xml" PartName="/ppt/notesSlides/notesSlide14.xml"/>
  <Override ContentType="application/vnd.openxmlformats-officedocument.presentationml.notesSlide+xml" PartName="/ppt/notesSlides/notesSlide15.xml"/>
  <Override ContentType="application/vnd.openxmlformats-officedocument.presentationml.notesSlide+xml" PartName="/ppt/notesSlides/notesSlide16.xml"/>
  <Override ContentType="application/vnd.openxmlformats-officedocument.presentationml.notesSlide+xml" PartName="/ppt/notesSlides/notesSlide17.xml"/>
  <Override ContentType="application/vnd.openxmlformats-officedocument.presentationml.notesSlide+xml" PartName="/ppt/notesSlides/notesSlide18.xml"/>
  <Override ContentType="application/vnd.openxmlformats-officedocument.presentationml.notesSlide+xml" PartName="/ppt/notesSlides/notesSlide19.xml"/>
  <Override ContentType="application/vnd.openxmlformats-officedocument.presentationml.notesSlide+xml" PartName="/ppt/notesSlides/notesSlide20.xml"/>
  <Override ContentType="application/vnd.openxmlformats-officedocument.presentationml.notesSlide+xml" PartName="/ppt/notesSlides/notesSlide21.xml"/>
  <Override ContentType="application/vnd.openxmlformats-officedocument.presentationml.notesSlide+xml" PartName="/ppt/notesSlides/notesSlide22.xml"/>
  <Override ContentType="application/vnd.openxmlformats-officedocument.presentationml.notesSlide+xml" PartName="/ppt/notesSlides/notesSlide23.xml"/>
  <Override ContentType="application/vnd.openxmlformats-officedocument.presentationml.notesSlide+xml" PartName="/ppt/notesSlides/notesSlide24.xml"/>
  <Override ContentType="application/vnd.openxmlformats-officedocument.presentationml.notesSlide+xml" PartName="/ppt/notesSlides/notesSlide25.xml"/>
  <Override ContentType="application/vnd.openxmlformats-officedocument.presentationml.notesSlide+xml" PartName="/ppt/notesSlides/notesSlide26.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34"/>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x="18288000" cy="10287000"/>
  <p:notesSz cx="6858000" cy="9144000"/>
  <p:embeddedFontLst>
    <p:embeddedFont>
      <p:font typeface="프리젠테이션 Bold" charset="1" panose="00000000000000000000"/>
      <p:regular r:id="rId37"/>
    </p:embeddedFont>
    <p:embeddedFont>
      <p:font typeface="프리젠테이션 Semi-Bold" charset="1" panose="00000000000000000000"/>
      <p:regular r:id="rId39"/>
    </p:embeddedFont>
    <p:embeddedFont>
      <p:font typeface="프리젠테이션" charset="1" panose="00000000000000000000"/>
      <p:regular r:id="rId40"/>
    </p:embeddedFont>
    <p:embeddedFont>
      <p:font typeface="Arimo Bold" charset="1" panose="020B0704020202020204"/>
      <p:regular r:id="rId48"/>
    </p:embeddedFont>
    <p:embeddedFont>
      <p:font typeface="Arimo" charset="1" panose="020B0604020202020204"/>
      <p:regular r:id="rId49"/>
    </p:embeddedFont>
    <p:embeddedFont>
      <p:font typeface="DIN Next Bold" charset="1" panose="020B0803020203050203"/>
      <p:regular r:id="rId60"/>
    </p:embeddedFont>
    <p:embeddedFont>
      <p:font typeface="프리젠테이션 Ultra-Bold" charset="1" panose="00000000000000000000"/>
      <p:regular r:id="rId6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notesMasters/notesMaster1.xml" Type="http://schemas.openxmlformats.org/officeDocument/2006/relationships/notesMaster"/><Relationship Id="rId35" Target="theme/theme2.xml" Type="http://schemas.openxmlformats.org/officeDocument/2006/relationships/theme"/><Relationship Id="rId36" Target="notesSlides/notesSlide1.xml" Type="http://schemas.openxmlformats.org/officeDocument/2006/relationships/notesSlide"/><Relationship Id="rId37" Target="fonts/font37.fntdata" Type="http://schemas.openxmlformats.org/officeDocument/2006/relationships/font"/><Relationship Id="rId38" Target="notesSlides/notesSlide2.xml" Type="http://schemas.openxmlformats.org/officeDocument/2006/relationships/notesSlide"/><Relationship Id="rId39" Target="fonts/font39.fntdata" Type="http://schemas.openxmlformats.org/officeDocument/2006/relationships/font"/><Relationship Id="rId4" Target="theme/theme1.xml" Type="http://schemas.openxmlformats.org/officeDocument/2006/relationships/theme"/><Relationship Id="rId40" Target="fonts/font40.fntdata" Type="http://schemas.openxmlformats.org/officeDocument/2006/relationships/font"/><Relationship Id="rId41" Target="notesSlides/notesSlide3.xml" Type="http://schemas.openxmlformats.org/officeDocument/2006/relationships/notesSlide"/><Relationship Id="rId42" Target="notesSlides/notesSlide4.xml" Type="http://schemas.openxmlformats.org/officeDocument/2006/relationships/notesSlide"/><Relationship Id="rId43" Target="notesSlides/notesSlide5.xml" Type="http://schemas.openxmlformats.org/officeDocument/2006/relationships/notesSlide"/><Relationship Id="rId44" Target="notesSlides/notesSlide6.xml" Type="http://schemas.openxmlformats.org/officeDocument/2006/relationships/notesSlide"/><Relationship Id="rId45" Target="notesSlides/notesSlide7.xml" Type="http://schemas.openxmlformats.org/officeDocument/2006/relationships/notesSlide"/><Relationship Id="rId46" Target="notesSlides/notesSlide8.xml" Type="http://schemas.openxmlformats.org/officeDocument/2006/relationships/notesSlide"/><Relationship Id="rId47" Target="notesSlides/notesSlide9.xml" Type="http://schemas.openxmlformats.org/officeDocument/2006/relationships/notesSlide"/><Relationship Id="rId48" Target="fonts/font48.fntdata" Type="http://schemas.openxmlformats.org/officeDocument/2006/relationships/font"/><Relationship Id="rId49" Target="fonts/font49.fntdata" Type="http://schemas.openxmlformats.org/officeDocument/2006/relationships/font"/><Relationship Id="rId5" Target="tableStyles.xml" Type="http://schemas.openxmlformats.org/officeDocument/2006/relationships/tableStyles"/><Relationship Id="rId50" Target="notesSlides/notesSlide10.xml" Type="http://schemas.openxmlformats.org/officeDocument/2006/relationships/notesSlide"/><Relationship Id="rId51" Target="notesSlides/notesSlide11.xml" Type="http://schemas.openxmlformats.org/officeDocument/2006/relationships/notesSlide"/><Relationship Id="rId52" Target="notesSlides/notesSlide12.xml" Type="http://schemas.openxmlformats.org/officeDocument/2006/relationships/notesSlide"/><Relationship Id="rId53" Target="notesSlides/notesSlide13.xml" Type="http://schemas.openxmlformats.org/officeDocument/2006/relationships/notesSlide"/><Relationship Id="rId54" Target="notesSlides/notesSlide14.xml" Type="http://schemas.openxmlformats.org/officeDocument/2006/relationships/notesSlide"/><Relationship Id="rId55" Target="notesSlides/notesSlide15.xml" Type="http://schemas.openxmlformats.org/officeDocument/2006/relationships/notesSlide"/><Relationship Id="rId56" Target="notesSlides/notesSlide16.xml" Type="http://schemas.openxmlformats.org/officeDocument/2006/relationships/notesSlide"/><Relationship Id="rId57" Target="notesSlides/notesSlide17.xml" Type="http://schemas.openxmlformats.org/officeDocument/2006/relationships/notesSlide"/><Relationship Id="rId58" Target="notesSlides/notesSlide18.xml" Type="http://schemas.openxmlformats.org/officeDocument/2006/relationships/notesSlide"/><Relationship Id="rId59" Target="notesSlides/notesSlide19.xml" Type="http://schemas.openxmlformats.org/officeDocument/2006/relationships/notesSlide"/><Relationship Id="rId6" Target="slides/slide1.xml" Type="http://schemas.openxmlformats.org/officeDocument/2006/relationships/slide"/><Relationship Id="rId60" Target="fonts/font60.fntdata" Type="http://schemas.openxmlformats.org/officeDocument/2006/relationships/font"/><Relationship Id="rId61" Target="notesSlides/notesSlide20.xml" Type="http://schemas.openxmlformats.org/officeDocument/2006/relationships/notesSlide"/><Relationship Id="rId62" Target="notesSlides/notesSlide21.xml" Type="http://schemas.openxmlformats.org/officeDocument/2006/relationships/notesSlide"/><Relationship Id="rId63" Target="notesSlides/notesSlide22.xml" Type="http://schemas.openxmlformats.org/officeDocument/2006/relationships/notesSlide"/><Relationship Id="rId64" Target="notesSlides/notesSlide23.xml" Type="http://schemas.openxmlformats.org/officeDocument/2006/relationships/notesSlide"/><Relationship Id="rId65" Target="notesSlides/notesSlide24.xml" Type="http://schemas.openxmlformats.org/officeDocument/2006/relationships/notesSlide"/><Relationship Id="rId66" Target="notesSlides/notesSlide25.xml" Type="http://schemas.openxmlformats.org/officeDocument/2006/relationships/notesSlide"/><Relationship Id="rId67" Target="notesSlides/notesSlide26.xml" Type="http://schemas.openxmlformats.org/officeDocument/2006/relationships/notesSlide"/><Relationship Id="rId68" Target="fonts/font68.fntdata" Type="http://schemas.openxmlformats.org/officeDocument/2006/relationships/font"/><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5.xml" Type="http://schemas.openxmlformats.org/officeDocument/2006/relationships/slide"/></Relationships>
</file>

<file path=ppt/notesSlides/_rels/notesSlide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6.xml" Type="http://schemas.openxmlformats.org/officeDocument/2006/relationships/slide"/></Relationships>
</file>

<file path=ppt/notesSlides/_rels/notesSlide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_rels/notesSlide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_rels/notesSlide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0.xml" Type="http://schemas.openxmlformats.org/officeDocument/2006/relationships/slide"/></Relationships>
</file>

<file path=ppt/notesSlides/_rels/notesSlide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1.xml" Type="http://schemas.openxmlformats.org/officeDocument/2006/relationships/slide"/></Relationships>
</file>

<file path=ppt/notesSlides/_rels/notesSlide1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2.xml" Type="http://schemas.openxmlformats.org/officeDocument/2006/relationships/slide"/></Relationships>
</file>

<file path=ppt/notesSlides/_rels/notesSlide1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3.xml" Type="http://schemas.openxmlformats.org/officeDocument/2006/relationships/slide"/></Relationships>
</file>

<file path=ppt/notesSlides/_rels/notesSlide1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4.xml" Type="http://schemas.openxmlformats.org/officeDocument/2006/relationships/slide"/></Relationships>
</file>

<file path=ppt/notesSlides/_rels/notesSlide1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5.xml" Type="http://schemas.openxmlformats.org/officeDocument/2006/relationships/slide"/></Relationships>
</file>

<file path=ppt/notesSlides/_rels/notesSlide1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6.xml" Type="http://schemas.openxmlformats.org/officeDocument/2006/relationships/slide"/></Relationships>
</file>

<file path=ppt/notesSlides/_rels/notesSlide1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7.xml" Type="http://schemas.openxmlformats.org/officeDocument/2006/relationships/slide"/></Relationships>
</file>

<file path=ppt/notesSlides/_rels/notesSlide1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8.xml" Type="http://schemas.openxmlformats.org/officeDocument/2006/relationships/slide"/></Relationships>
</file>

<file path=ppt/notesSlides/_rels/notesSlide17.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9.xml" Type="http://schemas.openxmlformats.org/officeDocument/2006/relationships/slide"/></Relationships>
</file>

<file path=ppt/notesSlides/_rels/notesSlide18.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0.xml" Type="http://schemas.openxmlformats.org/officeDocument/2006/relationships/slide"/></Relationships>
</file>

<file path=ppt/notesSlides/_rels/notesSlide19.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1.xml" Type="http://schemas.openxmlformats.org/officeDocument/2006/relationships/slide"/></Relationships>
</file>

<file path=ppt/notesSlides/_rels/notesSlide20.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2.xml" Type="http://schemas.openxmlformats.org/officeDocument/2006/relationships/slide"/></Relationships>
</file>

<file path=ppt/notesSlides/_rels/notesSlide2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3.xml" Type="http://schemas.openxmlformats.org/officeDocument/2006/relationships/slide"/></Relationships>
</file>

<file path=ppt/notesSlides/_rels/notesSlide2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4.xml" Type="http://schemas.openxmlformats.org/officeDocument/2006/relationships/slide"/></Relationships>
</file>

<file path=ppt/notesSlides/_rels/notesSlide2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5.xml" Type="http://schemas.openxmlformats.org/officeDocument/2006/relationships/slide"/></Relationships>
</file>

<file path=ppt/notesSlides/_rels/notesSlide24.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6.xml" Type="http://schemas.openxmlformats.org/officeDocument/2006/relationships/slide"/></Relationships>
</file>

<file path=ppt/notesSlides/_rels/notesSlide25.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7.xml" Type="http://schemas.openxmlformats.org/officeDocument/2006/relationships/slide"/></Relationships>
</file>

<file path=ppt/notesSlides/_rels/notesSlide26.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8.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2차시는 Markdown! AI에게 지시하고 AI가 결과를 돌려줄 때 가장 많이 쓰는 문서 형식을 배웁니다. 지난 시간에 만든 my-intro 폴더를 열어 두세요.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오늘은 ① Markdown 이해(20분) → 휴식 → ② 문법 실습(30분) → 휴식 → ③ Markdown vs HTML 토론(10분) → ④ 마무리(10분) 순서로 진행합니다.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Markdown은 복잡한 프로그램 없이 글자 몇 개(#, -, *)만으로 문서 서식을 표현하는 가벼운 언어입니다. 원본은 그냥 텍스트라 어디서나 열리고, 미리보기를 하면 예쁜 문서로 보입니다. ChatGPT·Claude의 답변에서 보이는 굵은 글씨·목록도 사실 Markdown입니다.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① 미리보기 없이 원본만 봐도 제목·목록이 눈에 들어옵니다. ② LLM은 Markdown으로 대답하는 것이 기본이고, 우리가 Markdown으로 부탁하면 구조를 더 잘 이해합니다. ③ GitHub README, Notion, Obsidian 등 대부분의 도구가 지원합니다.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가장 많이 쓰는 4가지만 먼저 보여줍니다. 나머지(인용, 코드, 이미지, 표, 수식)는 실습에서 하나씩 직접 써 봅니다. 파란 글자가 실제로 입력하는 부분입니다.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Antigravity IDE(VS Code 기반)는 Markdown 미리보기를 기본 지원합니다. Ctrl+Shift+V는 새 탭에서, Ctrl+K 누른 뒤 V는 오른쪽에 나란히 미리보기를 엽니다. Antigravity 2.0 채팅에서 에이전트가 쓰는 계획서·보고서도 모두 Markdown입니다. ※ 강사용: 왼쪽 박스는 실제 화면 캡처로 교체하세요.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휴식 10분. 다음 파트는 IDE에서 직접 입력하는 실습이므로 my-intro 폴더를 열어 두도록 안내하세요. 폴더가 없는 사람은 새 폴더를 만들어도 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두 번째 파트: my-intro 폴더에 README.md를 만들고 4단계로 문법을 하나씩 추가해 나만의 소개 문서를 완성합니다. 모든 단계에서 Ctrl+K → V로 미리보기를 옆에 띄워 두고 바로 확인하게 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1 (약 7분): IDE에서 my-intro 폴더에 README.md 파일을 만들고 왼쪽 내용을 직접 타이핑합니다(복사보다 직접 치는 것을 권장). Ctrl+K → V로 미리보기를 옆에 띄우고, # 뒤 띄어쓰기를 빼면 어떻게 되는지도 실험해 보게 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2 (약 7분): 기호를 글자 양쪽에 감싸는 방식입니다. 백틱(`)은 많이 헷갈리니 키보드 위치를 꼭 보여주세요(숫자 1 왼쪽, 물결표 ~와 같은 키). 코드 블록은 나중에 AI가 코드를 보여줄 때 쓰는 형식과 같습니다.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3 (약 7분): 링크와 이미지는 모양이 거의 같고 앞에 느낌표(!)가 있느냐의 차이입니다. 내 사진 파일을 my-intro 폴더에 넣고 이름을 me.png로 바꾸면 바로 보입니다. 사진이 없으면 picsum.photos 주소로 임의 사진을 띄워 보세요.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실습 4 (약 7분): 표는 세로선(|)으로 칸을 나누고, 두 번째 줄의 --- 가 제목행과 내용을 구분합니다. 콜론(:) 위치로 정렬을 바꿉니다. 수식은 LaTeX 문법이라 어렵게 느껴질 수 있으니 '이런 것도 된다' 정도로만 보여주고, 필요하면 AI에게 '이 공식을 LaTeX로 써줘'라고 부탁하면 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보너스 (남는 시간): 직접 쓴 README를 Antigravity 2.0 에이전트에게 다듬게 합니다. 핵심은 마지막 줄 '사용한 문법을 설명해줘' — AI를 선생님처럼 활용하는 방법입니다. IDE에서 어떤 줄이 바뀌는지 비교해 보게 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오늘 실습한 문법을 한 장으로 정리했습니다. 캡처해서 보관하거나 노션 교재에서 다시 볼 수 있다고 안내하세요. 다 외울 필요는 없고, 기억이 안 나면 AI에게 물어보면 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휴식 10분. 다음 파트는 토론이라 휴식 중에 생각할 거리를 미리 던져 두세요. README를 다 못 끝낸 사람은 이 시간에 마무리해도 좋습니다.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세 번째 파트: 정답이 있는 주제가 아니라 토론입니다. 각자 의견을 들어 본 뒤 강사의 생각과 HTML 보고서 데모를 보여줍니다.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AI 에이전트가 일을 끝내면 결과물(계획서, 보고서, 정리 문서)을 남깁니다. 이걸 Markdown으로 받을지 HTML로 받을지는 누가 읽는지(나, 팀, AI), 얼마나 많은지에 따라 달라집니다.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Markdown은 기록·추적·AI 입력에 강하고, HTML은 시각적 보고에 강합니다. Git은 7차시 배포에서 다시 나오니 '파일의 변경 이력을 기록하는 도구' 정도로만 소개하세요.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토론 (약 4분): 정답은 없습니다. 예시 질문 — '팀장님께 보고한다면?', '내 공부 노트라면?', 'AI에게 다시 읽힐 문서라면?' 상황을 바꿔 가며 의견을 들어 보세요.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강사 의견: Markdown은 LLM과 사람이 동시에 보기 좋고 산출물 추적에 뛰어납니다. Obsidian은 Markdown 기반 노트 앱이라 LLM이 최소한으로 관여하는 문서 작업에 안성맞춤. 다만 LLM 산출물이 많으면 사람이 다 읽기에 시간도 부족하고 집중력도 떨어지므로, 간단한 HTML 보고용 파일로 받는 것이 최선입니다.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강사가 실제로 쓰는 보고서 구성: ① LLM이 작업한 파일 목록을 요약하고 핵심 키워드를 뽑아 한 번 더 요약 ② 핵심 내용을 3줄 이내로 히어로 섹션에 ③ 키워드를 그룹으로 묶어 카드 그리드로 ④ 추가/수정/삭제된 파일을 아래에 리스트로. 핵심은 실무자가 한눈에 파악할 수 있도록 시각적으로 구성하는 것입니다.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데모: 강사가 미리 작업해 둔 프로젝트에서 이 프롬프트를 실행하고 완성된 report.html을 브라우저로 보여주세요. 시간이 부족하면 미리 만들어 둔 예시 파일로 대체합니다. 앞 슬라이드의 4단계 구성이 그대로 프롬프트가 된 것임을 강조하세요.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오늘 배운 것 정리: ① Markdown은 기호 몇 개로 문서를 꾸미는 언어 ② 실습으로 나만의 README.md를 구조·스타일·링크·표 4단계로 완성 ③ AI 결과물은 기록·추적용이면 Markdown, 대량 보고용이면 HTML로 상황에 맞게 선택. 오늘 만든 README.md는 앞으로 모든 프로젝트의 기본 문서가 됩니다.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3차시 예고: AI에게 일을 '잘' 시키는 방법을 배웁니다. 프롬프트(무엇을 어떻게 말할지), 컨텍스트(AI에게 어떤 자료를 줄지), 하네스·루프(AI가 스스로 반복하며 일하도록 구조를 짜는 법). 프롬프트와 규칙 파일은 대부분 Markdown으로 쓰기 때문에 오늘 배운 문법이 그대로 쓰입니다.</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질의응답 (약 5분): 실습 중 README가 미리보기에서 깨졌던 부분, 표·수식 문법 등을 중심으로 질문을 받습니다. 질문이 없으면 '오늘 가장 유용했던 문법 하나'를 2~3명에게 물어보세요.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마무리: 완성한 README.md(또는 미리보기 캡처)를 단톡방에 공유하도록 안내하세요. 수업 후에는 해크닉이 이어집니다. 3차시에 만나요!</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1.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svg" Type="http://schemas.openxmlformats.org/officeDocument/2006/relationships/image"/><Relationship Id="rId11" Target="../media/image22.png" Type="http://schemas.openxmlformats.org/officeDocument/2006/relationships/image"/><Relationship Id="rId12" Target="../media/image23.svg" Type="http://schemas.openxmlformats.org/officeDocument/2006/relationships/image"/><Relationship Id="rId2" Target="../notesSlides/notesSlide4.xml" Type="http://schemas.openxmlformats.org/officeDocument/2006/relationships/notesSlide"/><Relationship Id="rId3" Target="../media/image7.png" Type="http://schemas.openxmlformats.org/officeDocument/2006/relationships/image"/><Relationship Id="rId4" Target="../media/image8.svg" Type="http://schemas.openxmlformats.org/officeDocument/2006/relationships/image"/><Relationship Id="rId5" Target="../media/image16.png" Type="http://schemas.openxmlformats.org/officeDocument/2006/relationships/image"/><Relationship Id="rId6" Target="../media/image17.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2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2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5.jpe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8.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9.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0.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1.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3.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4.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5.jpe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6.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7.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8.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8.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9.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9.png" Type="http://schemas.openxmlformats.org/officeDocument/2006/relationships/image"/><Relationship Id="rId6" Target="../media/image30.svg" Type="http://schemas.openxmlformats.org/officeDocument/2006/relationships/image"/><Relationship Id="rId7" Target="../media/image31.png" Type="http://schemas.openxmlformats.org/officeDocument/2006/relationships/image"/><Relationship Id="rId8" Target="../media/image32.sv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0.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33.png" Type="http://schemas.openxmlformats.org/officeDocument/2006/relationships/image"/><Relationship Id="rId6" Target="../media/image34.svg" Type="http://schemas.openxmlformats.org/officeDocument/2006/relationships/image"/><Relationship Id="rId7" Target="../media/image35.png" Type="http://schemas.openxmlformats.org/officeDocument/2006/relationships/image"/><Relationship Id="rId8" Target="../media/image36.sv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1.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6.png" Type="http://schemas.openxmlformats.org/officeDocument/2006/relationships/image"/><Relationship Id="rId6" Target="../media/image27.sv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2.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21.svg" Type="http://schemas.openxmlformats.org/officeDocument/2006/relationships/image"/><Relationship Id="rId11" Target="../media/image22.png" Type="http://schemas.openxmlformats.org/officeDocument/2006/relationships/image"/><Relationship Id="rId12" Target="../media/image23.svg" Type="http://schemas.openxmlformats.org/officeDocument/2006/relationships/image"/><Relationship Id="rId2" Target="../notesSlides/notesSlide23.xml" Type="http://schemas.openxmlformats.org/officeDocument/2006/relationships/notesSlide"/><Relationship Id="rId3" Target="../media/image7.png" Type="http://schemas.openxmlformats.org/officeDocument/2006/relationships/image"/><Relationship Id="rId4" Target="../media/image8.svg" Type="http://schemas.openxmlformats.org/officeDocument/2006/relationships/image"/><Relationship Id="rId5" Target="../media/image16.png" Type="http://schemas.openxmlformats.org/officeDocument/2006/relationships/image"/><Relationship Id="rId6" Target="../media/image17.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20.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4.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37.jpeg" Type="http://schemas.openxmlformats.org/officeDocument/2006/relationships/image"/><Relationship Id="rId6" Target="../media/image12.png" Type="http://schemas.openxmlformats.org/officeDocument/2006/relationships/image"/><Relationship Id="rId7" Target="../media/image13.svg" Type="http://schemas.openxmlformats.org/officeDocument/2006/relationships/image"/><Relationship Id="rId8" Target="../media/image14.png" Type="http://schemas.openxmlformats.org/officeDocument/2006/relationships/image"/><Relationship Id="rId9" Target="../media/image15.sv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5.xml" Type="http://schemas.openxmlformats.org/officeDocument/2006/relationships/notesSlide"/><Relationship Id="rId3" Target="../media/image9.png" Type="http://schemas.openxmlformats.org/officeDocument/2006/relationships/image"/><Relationship Id="rId4" Target="../media/image10.svg" Type="http://schemas.openxmlformats.org/officeDocument/2006/relationships/image"/><Relationship Id="rId5" Target="../media/image29.png" Type="http://schemas.openxmlformats.org/officeDocument/2006/relationships/image"/><Relationship Id="rId6" Target="../media/image30.svg" Type="http://schemas.openxmlformats.org/officeDocument/2006/relationships/image"/><Relationship Id="rId7" Target="../media/image31.png" Type="http://schemas.openxmlformats.org/officeDocument/2006/relationships/image"/><Relationship Id="rId8" Target="../media/image32.sv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6.xml" Type="http://schemas.openxmlformats.org/officeDocument/2006/relationships/notesSlide"/><Relationship Id="rId3" Target="../media/image1.png" Type="http://schemas.openxmlformats.org/officeDocument/2006/relationships/image"/><Relationship Id="rId4" Target="../media/image2.svg" Type="http://schemas.openxmlformats.org/officeDocument/2006/relationships/image"/><Relationship Id="rId5" Target="../media/image3.png" Type="http://schemas.openxmlformats.org/officeDocument/2006/relationships/image"/><Relationship Id="rId6" Target="../media/image4.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VIBE CODING 기초</a:t>
            </a:r>
          </a:p>
        </p:txBody>
      </p:sp>
      <p:sp>
        <p:nvSpPr>
          <p:cNvPr name="TextBox 19" id="19"/>
          <p:cNvSpPr txBox="true"/>
          <p:nvPr/>
        </p:nvSpPr>
        <p:spPr>
          <a:xfrm rot="0">
            <a:off x="2377195" y="3813005"/>
            <a:ext cx="716107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2차시</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Markdown 이해 · 문법 실습 · Markdown vs HTML</a:t>
            </a:r>
          </a:p>
        </p:txBody>
      </p:sp>
      <p:sp>
        <p:nvSpPr>
          <p:cNvPr name="TextBox 21" id="21"/>
          <p:cNvSpPr txBox="true"/>
          <p:nvPr/>
        </p:nvSpPr>
        <p:spPr>
          <a:xfrm rot="0">
            <a:off x="2443870" y="5460741"/>
            <a:ext cx="728798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Markdown 이해와 실습</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TextBox 16" id="16"/>
          <p:cNvSpPr txBox="true"/>
          <p:nvPr/>
        </p:nvSpPr>
        <p:spPr>
          <a:xfrm rot="0">
            <a:off x="2091821" y="3201454"/>
            <a:ext cx="4351624" cy="1532001"/>
          </a:xfrm>
          <a:prstGeom prst="rect">
            <a:avLst/>
          </a:prstGeom>
        </p:spPr>
        <p:txBody>
          <a:bodyPr anchor="t" rtlCol="false" tIns="0" lIns="0" bIns="0" rIns="0">
            <a:spAutoFit/>
          </a:bodyPr>
          <a:lstStyle/>
          <a:p>
            <a:pPr algn="l">
              <a:lnSpc>
                <a:spcPts val="12192"/>
              </a:lnSpc>
            </a:pPr>
            <a:r>
              <a:rPr lang="en-US" b="true" sz="9600">
                <a:solidFill>
                  <a:srgbClr val="747EA3"/>
                </a:solidFill>
                <a:latin typeface="프리젠테이션 Bold"/>
                <a:ea typeface="프리젠테이션 Bold"/>
                <a:cs typeface="프리젠테이션 Bold"/>
                <a:sym typeface="프리젠테이션 Bold"/>
              </a:rPr>
              <a:t>INDEX</a:t>
            </a:r>
          </a:p>
        </p:txBody>
      </p:sp>
      <p:sp>
        <p:nvSpPr>
          <p:cNvPr name="TextBox 17" id="17"/>
          <p:cNvSpPr txBox="true"/>
          <p:nvPr/>
        </p:nvSpPr>
        <p:spPr>
          <a:xfrm rot="0">
            <a:off x="2109189" y="4672145"/>
            <a:ext cx="4753408" cy="341376"/>
          </a:xfrm>
          <a:prstGeom prst="rect">
            <a:avLst/>
          </a:prstGeom>
        </p:spPr>
        <p:txBody>
          <a:bodyPr anchor="t" rtlCol="false" tIns="0" lIns="0" bIns="0" rIns="0">
            <a:spAutoFit/>
          </a:bodyPr>
          <a:lstStyle/>
          <a:p>
            <a:pPr algn="l" marL="0" indent="0" lvl="0">
              <a:lnSpc>
                <a:spcPts val="2771"/>
              </a:lnSpc>
              <a:spcBef>
                <a:spcPct val="0"/>
              </a:spcBef>
            </a:pPr>
            <a:r>
              <a:rPr lang="en-US" b="true" sz="1799" spc="-30" strike="noStrike" u="none">
                <a:solidFill>
                  <a:srgbClr val="5170FF"/>
                </a:solidFill>
                <a:latin typeface="프리젠테이션 Bold"/>
                <a:ea typeface="프리젠테이션 Bold"/>
                <a:cs typeface="프리젠테이션 Bold"/>
                <a:sym typeface="프리젠테이션 Bold"/>
              </a:rPr>
              <a:t>2차시 수업 순서 (90분)</a:t>
            </a:r>
          </a:p>
        </p:txBody>
      </p:sp>
      <p:grpSp>
        <p:nvGrpSpPr>
          <p:cNvPr name="Group 18" id="18"/>
          <p:cNvGrpSpPr/>
          <p:nvPr/>
        </p:nvGrpSpPr>
        <p:grpSpPr>
          <a:xfrm rot="0">
            <a:off x="7600950" y="3238500"/>
            <a:ext cx="8750967" cy="3351235"/>
            <a:chOff x="0" y="0"/>
            <a:chExt cx="11667955" cy="4468314"/>
          </a:xfrm>
        </p:grpSpPr>
        <p:sp>
          <p:nvSpPr>
            <p:cNvPr name="AutoShape 19" id="19"/>
            <p:cNvSpPr/>
            <p:nvPr/>
          </p:nvSpPr>
          <p:spPr>
            <a:xfrm>
              <a:off x="36676" y="934034"/>
              <a:ext cx="11631279" cy="0"/>
            </a:xfrm>
            <a:prstGeom prst="line">
              <a:avLst/>
            </a:prstGeom>
            <a:ln cap="flat" w="12700">
              <a:solidFill>
                <a:srgbClr val="222222">
                  <a:alpha val="14902"/>
                </a:srgbClr>
              </a:solidFill>
              <a:prstDash val="solid"/>
              <a:headEnd type="none" len="sm" w="sm"/>
              <a:tailEnd type="none" len="sm" w="sm"/>
            </a:ln>
          </p:spPr>
        </p:sp>
        <p:sp>
          <p:nvSpPr>
            <p:cNvPr name="AutoShape 20" id="20"/>
            <p:cNvSpPr/>
            <p:nvPr/>
          </p:nvSpPr>
          <p:spPr>
            <a:xfrm>
              <a:off x="36676" y="2234157"/>
              <a:ext cx="11631279" cy="0"/>
            </a:xfrm>
            <a:prstGeom prst="line">
              <a:avLst/>
            </a:prstGeom>
            <a:ln cap="flat" w="12700">
              <a:solidFill>
                <a:srgbClr val="222222">
                  <a:alpha val="14902"/>
                </a:srgbClr>
              </a:solidFill>
              <a:prstDash val="solid"/>
              <a:headEnd type="none" len="sm" w="sm"/>
              <a:tailEnd type="none" len="sm" w="sm"/>
            </a:ln>
          </p:spPr>
        </p:sp>
        <p:sp>
          <p:nvSpPr>
            <p:cNvPr name="AutoShape 21" id="21"/>
            <p:cNvSpPr/>
            <p:nvPr/>
          </p:nvSpPr>
          <p:spPr>
            <a:xfrm>
              <a:off x="36676" y="3534280"/>
              <a:ext cx="11631279" cy="0"/>
            </a:xfrm>
            <a:prstGeom prst="line">
              <a:avLst/>
            </a:prstGeom>
            <a:ln cap="flat" w="12700">
              <a:solidFill>
                <a:srgbClr val="222222">
                  <a:alpha val="14902"/>
                </a:srgbClr>
              </a:solidFill>
              <a:prstDash val="solid"/>
              <a:headEnd type="none" len="sm" w="sm"/>
              <a:tailEnd type="none" len="sm" w="sm"/>
            </a:ln>
          </p:spPr>
        </p:sp>
        <p:sp>
          <p:nvSpPr>
            <p:cNvPr name="TextBox 22" id="22"/>
            <p:cNvSpPr txBox="true"/>
            <p:nvPr/>
          </p:nvSpPr>
          <p:spPr>
            <a:xfrm rot="0">
              <a:off x="1058941" y="1338223"/>
              <a:ext cx="6928367"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문법 실습: 나의 README</a:t>
              </a:r>
            </a:p>
          </p:txBody>
        </p:sp>
        <p:sp>
          <p:nvSpPr>
            <p:cNvPr name="TextBox 23" id="23"/>
            <p:cNvSpPr txBox="true"/>
            <p:nvPr/>
          </p:nvSpPr>
          <p:spPr>
            <a:xfrm rot="0">
              <a:off x="0" y="1391606"/>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2</a:t>
              </a:r>
            </a:p>
          </p:txBody>
        </p:sp>
        <p:sp>
          <p:nvSpPr>
            <p:cNvPr name="TextBox 24" id="24"/>
            <p:cNvSpPr txBox="true"/>
            <p:nvPr/>
          </p:nvSpPr>
          <p:spPr>
            <a:xfrm rot="0">
              <a:off x="1058941" y="3938470"/>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마무리 &amp; 질의응답</a:t>
              </a:r>
            </a:p>
          </p:txBody>
        </p:sp>
        <p:sp>
          <p:nvSpPr>
            <p:cNvPr name="TextBox 25" id="25"/>
            <p:cNvSpPr txBox="true"/>
            <p:nvPr/>
          </p:nvSpPr>
          <p:spPr>
            <a:xfrm rot="0">
              <a:off x="0" y="3991852"/>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4</a:t>
              </a:r>
            </a:p>
          </p:txBody>
        </p:sp>
        <p:sp>
          <p:nvSpPr>
            <p:cNvPr name="TextBox 26" id="26"/>
            <p:cNvSpPr txBox="true"/>
            <p:nvPr/>
          </p:nvSpPr>
          <p:spPr>
            <a:xfrm rot="0">
              <a:off x="1058941" y="38100"/>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Markdown 문서의 이해</a:t>
              </a:r>
            </a:p>
          </p:txBody>
        </p:sp>
        <p:sp>
          <p:nvSpPr>
            <p:cNvPr name="TextBox 27" id="27"/>
            <p:cNvSpPr txBox="true"/>
            <p:nvPr/>
          </p:nvSpPr>
          <p:spPr>
            <a:xfrm rot="0">
              <a:off x="0" y="91483"/>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1</a:t>
              </a:r>
            </a:p>
          </p:txBody>
        </p:sp>
        <p:sp>
          <p:nvSpPr>
            <p:cNvPr name="TextBox 28" id="28"/>
            <p:cNvSpPr txBox="true"/>
            <p:nvPr/>
          </p:nvSpPr>
          <p:spPr>
            <a:xfrm rot="0">
              <a:off x="1058941" y="2638346"/>
              <a:ext cx="6595062" cy="529844"/>
            </a:xfrm>
            <a:prstGeom prst="rect">
              <a:avLst/>
            </a:prstGeom>
          </p:spPr>
          <p:txBody>
            <a:bodyPr anchor="t" rtlCol="false" tIns="0" lIns="0" bIns="0" rIns="0">
              <a:spAutoFit/>
            </a:bodyPr>
            <a:lstStyle/>
            <a:p>
              <a:pPr algn="l" marL="0" indent="0" lvl="0">
                <a:lnSpc>
                  <a:spcPts val="2856"/>
                </a:lnSpc>
                <a:spcBef>
                  <a:spcPct val="0"/>
                </a:spcBef>
              </a:pPr>
              <a:r>
                <a:rPr lang="en-US" b="true" sz="2800" spc="-56" strike="noStrike" u="none">
                  <a:solidFill>
                    <a:srgbClr val="000000"/>
                  </a:solidFill>
                  <a:latin typeface="프리젠테이션 Bold"/>
                  <a:ea typeface="프리젠테이션 Bold"/>
                  <a:cs typeface="프리젠테이션 Bold"/>
                  <a:sym typeface="프리젠테이션 Bold"/>
                </a:rPr>
                <a:t>Markdown vs HTML</a:t>
              </a:r>
            </a:p>
          </p:txBody>
        </p:sp>
        <p:sp>
          <p:nvSpPr>
            <p:cNvPr name="TextBox 29" id="29"/>
            <p:cNvSpPr txBox="true"/>
            <p:nvPr/>
          </p:nvSpPr>
          <p:spPr>
            <a:xfrm rot="0">
              <a:off x="0" y="2691729"/>
              <a:ext cx="624642" cy="470704"/>
            </a:xfrm>
            <a:prstGeom prst="rect">
              <a:avLst/>
            </a:prstGeom>
          </p:spPr>
          <p:txBody>
            <a:bodyPr anchor="t" rtlCol="false" tIns="0" lIns="0" bIns="0" rIns="0">
              <a:spAutoFit/>
            </a:bodyPr>
            <a:lstStyle/>
            <a:p>
              <a:pPr algn="ctr">
                <a:lnSpc>
                  <a:spcPts val="2323"/>
                </a:lnSpc>
              </a:pPr>
              <a:r>
                <a:rPr lang="en-US" b="true" sz="2799" spc="212">
                  <a:solidFill>
                    <a:srgbClr val="5170FF"/>
                  </a:solidFill>
                  <a:latin typeface="프리젠테이션 Semi-Bold"/>
                  <a:ea typeface="프리젠테이션 Semi-Bold"/>
                  <a:cs typeface="프리젠테이션 Semi-Bold"/>
                  <a:sym typeface="프리젠테이션 Semi-Bold"/>
                </a:rPr>
                <a:t>3</a:t>
              </a:r>
            </a:p>
          </p:txBody>
        </p:sp>
      </p:grpSp>
      <p:sp>
        <p:nvSpPr>
          <p:cNvPr name="Freeform 30" id="30"/>
          <p:cNvSpPr/>
          <p:nvPr/>
        </p:nvSpPr>
        <p:spPr>
          <a:xfrm flipH="false" flipV="false" rot="0">
            <a:off x="2137764" y="2174998"/>
            <a:ext cx="1092574" cy="1021557"/>
          </a:xfrm>
          <a:custGeom>
            <a:avLst/>
            <a:gdLst/>
            <a:ahLst/>
            <a:cxnLst/>
            <a:rect r="r" b="b" t="t" l="l"/>
            <a:pathLst>
              <a:path h="1021557" w="1092574">
                <a:moveTo>
                  <a:pt x="0" y="0"/>
                </a:moveTo>
                <a:lnTo>
                  <a:pt x="1092574" y="0"/>
                </a:lnTo>
                <a:lnTo>
                  <a:pt x="1092574" y="1021556"/>
                </a:lnTo>
                <a:lnTo>
                  <a:pt x="0" y="102155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31" id="31"/>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32" id="32"/>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- 2 -</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01</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MARKDOWN 이해</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20분</a:t>
            </a:r>
          </a:p>
        </p:txBody>
      </p:sp>
      <p:sp>
        <p:nvSpPr>
          <p:cNvPr name="TextBox 21" id="21"/>
          <p:cNvSpPr txBox="true"/>
          <p:nvPr/>
        </p:nvSpPr>
        <p:spPr>
          <a:xfrm rot="0">
            <a:off x="2443870" y="5460741"/>
            <a:ext cx="1095375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Markdown이란? · 문법 체계 · Antigravity에서 쓰기</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44379" y="534854"/>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696061"/>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오늘의 시간표</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graphicFrame>
        <p:nvGraphicFramePr>
          <p:cNvPr name="Table 18" id="18"/>
          <p:cNvGraphicFramePr>
            <a:graphicFrameLocks noGrp="true"/>
          </p:cNvGraphicFramePr>
          <p:nvPr/>
        </p:nvGraphicFramePr>
        <p:xfrm>
          <a:off x="1717296" y="3187045"/>
          <a:ext cx="14853407" cy="4261327"/>
        </p:xfrm>
        <a:graphic>
          <a:graphicData uri="http://schemas.openxmlformats.org/drawingml/2006/table">
            <a:tbl>
              <a:tblPr/>
              <a:tblGrid>
                <a:gridCol w="3495006"/>
                <a:gridCol w="2021978"/>
                <a:gridCol w="9336423"/>
              </a:tblGrid>
              <a:tr h="899743">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파트</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시간</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내용</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5170FF"/>
                    </a:solidFill>
                  </a:tcPr>
                </a:tc>
              </a:tr>
              <a:tr h="1099102">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① Markdown 이해</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19:00 ~19:20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Markdown이란?, 문법 체계, Antigravity에서 쓰기  →  🍵 10분 휴식</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② 문법 실습</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19:30 ~20:00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나의 README.md 완성하기 (구조 · 스타일 · 링크 · 표)  →  🍵 10분 휴식</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③ MD vs HTML</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20:10 ~20:20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AI 결과물은 어떤 형식으로? 토론 + HTML 보고서 데모</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r h="754161">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④ 마무리</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solidFill>
                      <a:srgbClr val="F5F5F5"/>
                    </a:solidFill>
                  </a:tcPr>
                </a:tc>
                <a:tc>
                  <a:txBody>
                    <a:bodyPr anchor="t" rtlCol="false"/>
                    <a:lstStyle/>
                    <a:p>
                      <a:pPr algn="ctr" marL="0" indent="0" lvl="0">
                        <a:lnSpc>
                          <a:spcPts val="2520"/>
                        </a:lnSpc>
                        <a:spcBef>
                          <a:spcPct val="0"/>
                        </a:spcBef>
                        <a:defRPr/>
                      </a:pPr>
                      <a:r>
                        <a:rPr lang="en-US" b="true" sz="1800" strike="noStrike" u="none">
                          <a:solidFill>
                            <a:srgbClr val="FF0000"/>
                          </a:solidFill>
                          <a:latin typeface="프리젠테이션 Bold"/>
                          <a:ea typeface="프리젠테이션 Bold"/>
                          <a:cs typeface="프리젠테이션 Bold"/>
                          <a:sym typeface="프리젠테이션 Bold"/>
                        </a:rPr>
                        <a:t>20:20 ~20:30</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c>
                  <a:txBody>
                    <a:bodyPr anchor="t" rtlCol="false"/>
                    <a:lstStyle/>
                    <a:p>
                      <a:pPr algn="ctr" marL="0" indent="0" lvl="0">
                        <a:lnSpc>
                          <a:spcPts val="2800"/>
                        </a:lnSpc>
                        <a:spcBef>
                          <a:spcPct val="0"/>
                        </a:spcBef>
                        <a:defRPr/>
                      </a:pPr>
                      <a:r>
                        <a:rPr lang="en-US" sz="2000" strike="noStrike" u="none">
                          <a:solidFill>
                            <a:srgbClr val="333333"/>
                          </a:solidFill>
                          <a:latin typeface="프리젠테이션"/>
                          <a:ea typeface="프리젠테이션"/>
                          <a:cs typeface="프리젠테이션"/>
                          <a:sym typeface="프리젠테이션"/>
                        </a:rPr>
                        <a:t>질의응답, 다음 수업 안내  →  해크닉 🧺🍱</a:t>
                      </a:r>
                      <a:endParaRPr lang="en-US" sz="1100"/>
                    </a:p>
                  </a:txBody>
                  <a:tcPr marL="190500" marR="190500" marT="190500" marB="190500" anchor="ctr">
                    <a:lnL cmpd="sng" algn="ctr" cap="flat" w="9525">
                      <a:solidFill>
                        <a:srgbClr val="747EA3"/>
                      </a:solidFill>
                      <a:prstDash val="solid"/>
                      <a:round/>
                      <a:headEnd type="none" w="med" len="med"/>
                      <a:tailEnd type="none" w="med" len="med"/>
                    </a:lnL>
                    <a:lnR cmpd="sng" algn="ctr" cap="flat" w="9525">
                      <a:solidFill>
                        <a:srgbClr val="747EA3"/>
                      </a:solidFill>
                      <a:prstDash val="solid"/>
                      <a:round/>
                      <a:headEnd type="none" w="med" len="med"/>
                      <a:tailEnd type="none" w="med" len="med"/>
                    </a:lnR>
                    <a:lnT cmpd="sng" algn="ctr" cap="flat" w="9525">
                      <a:solidFill>
                        <a:srgbClr val="747EA3"/>
                      </a:solidFill>
                      <a:prstDash val="solid"/>
                      <a:round/>
                      <a:headEnd type="none" w="med" len="med"/>
                      <a:tailEnd type="none" w="med" len="med"/>
                    </a:lnT>
                    <a:lnB cmpd="sng" algn="ctr" cap="flat" w="9525">
                      <a:solidFill>
                        <a:srgbClr val="747EA3"/>
                      </a:solidFill>
                      <a:prstDash val="solid"/>
                      <a:round/>
                      <a:headEnd type="none" w="med" len="med"/>
                      <a:tailEnd type="none" w="med" len="med"/>
                    </a:lnB>
                  </a:tcPr>
                </a:tc>
              </a:tr>
            </a:tbl>
          </a:graphicData>
        </a:graphic>
      </p:graphicFrame>
      <p:sp>
        <p:nvSpPr>
          <p:cNvPr name="TextBox 19" id="19"/>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20" id="2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- 4 -</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기호가 들어간 원문이 예쁜 문서로 바뀌는 Markdown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0" t="-3714" r="0" b="-3714"/>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Mark(표시) + down = 가벼운 문법</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메모장으로도 열리는 순수 텍스트</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2004년 John Gruber가 만듦</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기호로 꾸미는 문서</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Markdown이란?</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글자 앞뒤에 # - * 같은 기호를 붙이면</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제목 · 목록 · 굵게로 자동 변신!</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파일 이름은 README.md 처럼 .md</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- 5 -</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768468"/>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왜 Markdown일까?</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sp>
        <p:nvSpPr>
          <p:cNvPr name="Freeform 18" id="18"/>
          <p:cNvSpPr/>
          <p:nvPr/>
        </p:nvSpPr>
        <p:spPr>
          <a:xfrm flipH="false" flipV="false" rot="0">
            <a:off x="2944444" y="3048665"/>
            <a:ext cx="1906863" cy="1756697"/>
          </a:xfrm>
          <a:custGeom>
            <a:avLst/>
            <a:gdLst/>
            <a:ahLst/>
            <a:cxnLst/>
            <a:rect r="r" b="b" t="t" l="l"/>
            <a:pathLst>
              <a:path h="1756697" w="1906863">
                <a:moveTo>
                  <a:pt x="0" y="0"/>
                </a:moveTo>
                <a:lnTo>
                  <a:pt x="1906863" y="0"/>
                </a:lnTo>
                <a:lnTo>
                  <a:pt x="1906863" y="1756697"/>
                </a:lnTo>
                <a:lnTo>
                  <a:pt x="0" y="17566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8176076" y="3176873"/>
            <a:ext cx="1935847" cy="1500282"/>
          </a:xfrm>
          <a:custGeom>
            <a:avLst/>
            <a:gdLst/>
            <a:ahLst/>
            <a:cxnLst/>
            <a:rect r="r" b="b" t="t" l="l"/>
            <a:pathLst>
              <a:path h="1500282" w="1935847">
                <a:moveTo>
                  <a:pt x="0" y="0"/>
                </a:moveTo>
                <a:lnTo>
                  <a:pt x="1935848" y="0"/>
                </a:lnTo>
                <a:lnTo>
                  <a:pt x="1935848" y="1500282"/>
                </a:lnTo>
                <a:lnTo>
                  <a:pt x="0" y="150028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13580283" y="3112769"/>
            <a:ext cx="1638732" cy="1628490"/>
          </a:xfrm>
          <a:custGeom>
            <a:avLst/>
            <a:gdLst/>
            <a:ahLst/>
            <a:cxnLst/>
            <a:rect r="r" b="b" t="t" l="l"/>
            <a:pathLst>
              <a:path h="1628490" w="1638732">
                <a:moveTo>
                  <a:pt x="0" y="0"/>
                </a:moveTo>
                <a:lnTo>
                  <a:pt x="1638732" y="0"/>
                </a:lnTo>
                <a:lnTo>
                  <a:pt x="1638732" y="1628489"/>
                </a:lnTo>
                <a:lnTo>
                  <a:pt x="0" y="162848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1" id="21"/>
          <p:cNvGrpSpPr/>
          <p:nvPr/>
        </p:nvGrpSpPr>
        <p:grpSpPr>
          <a:xfrm rot="0">
            <a:off x="1845660" y="5336790"/>
            <a:ext cx="4104431" cy="2654612"/>
            <a:chOff x="0" y="0"/>
            <a:chExt cx="5472575" cy="3539482"/>
          </a:xfrm>
        </p:grpSpPr>
        <p:sp>
          <p:nvSpPr>
            <p:cNvPr name="TextBox 22" id="22"/>
            <p:cNvSpPr txBox="true"/>
            <p:nvPr/>
          </p:nvSpPr>
          <p:spPr>
            <a:xfrm rot="0">
              <a:off x="326998" y="2356477"/>
              <a:ext cx="4818580" cy="1183005"/>
            </a:xfrm>
            <a:prstGeom prst="rect">
              <a:avLst/>
            </a:prstGeom>
          </p:spPr>
          <p:txBody>
            <a:bodyPr anchor="t" rtlCol="false" tIns="0" lIns="0" bIns="0" rIns="0">
              <a:spAutoFit/>
            </a:bodyPr>
            <a:lstStyle/>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원본 그대로 봐도</a:t>
              </a:r>
            </a:p>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구조가 한눈에!</a:t>
              </a:r>
            </a:p>
          </p:txBody>
        </p:sp>
        <p:sp>
          <p:nvSpPr>
            <p:cNvPr name="TextBox 23" id="23"/>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사람이</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읽기 쉽다</a:t>
              </a:r>
            </a:p>
          </p:txBody>
        </p:sp>
        <p:sp>
          <p:nvSpPr>
            <p:cNvPr name="Freeform 24" id="24"/>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5" id="25"/>
          <p:cNvGrpSpPr/>
          <p:nvPr/>
        </p:nvGrpSpPr>
        <p:grpSpPr>
          <a:xfrm rot="0">
            <a:off x="7091784" y="5336790"/>
            <a:ext cx="4104431" cy="2654612"/>
            <a:chOff x="0" y="0"/>
            <a:chExt cx="5472575" cy="3539482"/>
          </a:xfrm>
        </p:grpSpPr>
        <p:sp>
          <p:nvSpPr>
            <p:cNvPr name="TextBox 26" id="26"/>
            <p:cNvSpPr txBox="true"/>
            <p:nvPr/>
          </p:nvSpPr>
          <p:spPr>
            <a:xfrm rot="0">
              <a:off x="275465" y="2356477"/>
              <a:ext cx="4921645" cy="1183005"/>
            </a:xfrm>
            <a:prstGeom prst="rect">
              <a:avLst/>
            </a:prstGeom>
          </p:spPr>
          <p:txBody>
            <a:bodyPr anchor="t" rtlCol="false" tIns="0" lIns="0" bIns="0" rIns="0">
              <a:spAutoFit/>
            </a:bodyPr>
            <a:lstStyle/>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프롬프트 · AI 답변의</a:t>
              </a:r>
            </a:p>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기본 언어</a:t>
              </a:r>
            </a:p>
          </p:txBody>
        </p:sp>
        <p:sp>
          <p:nvSpPr>
            <p:cNvPr name="TextBox 27" id="27"/>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AI가</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잘 이해한다</a:t>
              </a:r>
            </a:p>
          </p:txBody>
        </p:sp>
        <p:sp>
          <p:nvSpPr>
            <p:cNvPr name="Freeform 28" id="28"/>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9" id="29"/>
          <p:cNvGrpSpPr/>
          <p:nvPr/>
        </p:nvGrpSpPr>
        <p:grpSpPr>
          <a:xfrm rot="0">
            <a:off x="12347433" y="5336790"/>
            <a:ext cx="4104431" cy="2654612"/>
            <a:chOff x="0" y="0"/>
            <a:chExt cx="5472575" cy="3539482"/>
          </a:xfrm>
        </p:grpSpPr>
        <p:sp>
          <p:nvSpPr>
            <p:cNvPr name="TextBox 30" id="30"/>
            <p:cNvSpPr txBox="true"/>
            <p:nvPr/>
          </p:nvSpPr>
          <p:spPr>
            <a:xfrm rot="0">
              <a:off x="344175" y="2356477"/>
              <a:ext cx="4784225" cy="1183005"/>
            </a:xfrm>
            <a:prstGeom prst="rect">
              <a:avLst/>
            </a:prstGeom>
          </p:spPr>
          <p:txBody>
            <a:bodyPr anchor="t" rtlCol="false" tIns="0" lIns="0" bIns="0" rIns="0">
              <a:spAutoFit/>
            </a:bodyPr>
            <a:lstStyle/>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GitHub · Notion</a:t>
              </a:r>
            </a:p>
            <a:p>
              <a:pPr algn="ctr" marL="0" indent="0" lvl="0">
                <a:lnSpc>
                  <a:spcPts val="3600"/>
                </a:lnSpc>
                <a:spcBef>
                  <a:spcPct val="0"/>
                </a:spcBef>
              </a:pPr>
              <a:r>
                <a:rPr lang="en-US" b="true" sz="2400" spc="-48" strike="noStrike" u="none">
                  <a:solidFill>
                    <a:srgbClr val="5170FF"/>
                  </a:solidFill>
                  <a:latin typeface="프리젠테이션 Bold"/>
                  <a:ea typeface="프리젠테이션 Bold"/>
                  <a:cs typeface="프리젠테이션 Bold"/>
                  <a:sym typeface="프리젠테이션 Bold"/>
                </a:rPr>
                <a:t>Obsidian · 블로그</a:t>
              </a:r>
            </a:p>
          </p:txBody>
        </p:sp>
        <p:sp>
          <p:nvSpPr>
            <p:cNvPr name="TextBox 31" id="31"/>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어디서나</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쓰인다</a:t>
              </a:r>
            </a:p>
          </p:txBody>
        </p:sp>
        <p:sp>
          <p:nvSpPr>
            <p:cNvPr name="Freeform 32" id="32"/>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- 6 -</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문법 한눈에 보기</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17" id="17"/>
          <p:cNvGraphicFramePr>
            <a:graphicFrameLocks noGrp="true"/>
          </p:cNvGraphicFramePr>
          <p:nvPr/>
        </p:nvGraphicFramePr>
        <p:xfrm>
          <a:off x="1717296" y="3731994"/>
          <a:ext cx="14853407" cy="3917157"/>
        </p:xfrm>
        <a:graphic>
          <a:graphicData uri="http://schemas.openxmlformats.org/drawingml/2006/table">
            <a:tbl>
              <a:tblPr/>
              <a:tblGrid>
                <a:gridCol w="3495006"/>
                <a:gridCol w="3931697"/>
                <a:gridCol w="7426704"/>
              </a:tblGrid>
              <a:tr h="899920">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요소</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이렇게 쓰면</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이렇게 보여요</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제목</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5170FF"/>
                          </a:solidFill>
                          <a:latin typeface="프리젠테이션 Bold"/>
                          <a:ea typeface="프리젠테이션 Bold"/>
                          <a:cs typeface="프리젠테이션 Bold"/>
                          <a:sym typeface="프리젠테이션 Bold"/>
                        </a:rPr>
                        <a:t># 제목</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크고 굵은 제목 (#이 많을수록 작아짐)</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목록</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5170FF"/>
                          </a:solidFill>
                          <a:latin typeface="프리젠테이션 Bold"/>
                          <a:ea typeface="프리젠테이션 Bold"/>
                          <a:cs typeface="프리젠테이션 Bold"/>
                          <a:sym typeface="프리젠테이션 Bold"/>
                        </a:rPr>
                        <a:t>- 항목</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 글머리 기호 목록 (1. 은 번호 목록)</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강조</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5170FF"/>
                          </a:solidFill>
                          <a:latin typeface="프리젠테이션 Bold"/>
                          <a:ea typeface="프리젠테이션 Bold"/>
                          <a:cs typeface="프리젠테이션 Bold"/>
                          <a:sym typeface="프리젠테이션 Bold"/>
                        </a:rPr>
                        <a:t>**굵게**</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굵은 글씨로 강조 (*하나는 기울임)</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링크</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5170FF"/>
                          </a:solidFill>
                          <a:latin typeface="프리젠테이션 Bold"/>
                          <a:ea typeface="프리젠테이션 Bold"/>
                          <a:cs typeface="프리젠테이션 Bold"/>
                          <a:sym typeface="프리젠테이션 Bold"/>
                        </a:rPr>
                        <a:t>[글자](주소)</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클릭하면 이동하는 파란 글자</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bl>
          </a:graphicData>
        </a:graphic>
      </p:graphicFrame>
      <p:sp>
        <p:nvSpPr>
          <p:cNvPr name="TextBox 18" id="18"/>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9" id="19"/>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- 7 -</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옆에 띄우기: Ctrl + K → V</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Mac은 Ctrl 대신 Cmd</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2.0 채팅 답변도 Markdown!</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3단계면 끝!</a:t>
              </a:r>
            </a:p>
          </p:txBody>
        </p:sp>
      </p:grpSp>
      <p:sp>
        <p:nvSpPr>
          <p:cNvPr name="Freeform 29" id="29"/>
          <p:cNvSpPr/>
          <p:nvPr/>
        </p:nvSpPr>
        <p:spPr>
          <a:xfrm flipH="false" flipV="false" rot="0">
            <a:off x="1155335" y="3432112"/>
            <a:ext cx="8750665" cy="4719890"/>
          </a:xfrm>
          <a:custGeom>
            <a:avLst/>
            <a:gdLst/>
            <a:ahLst/>
            <a:cxnLst/>
            <a:rect r="r" b="b" t="t" l="l"/>
            <a:pathLst>
              <a:path h="4719890" w="8750665">
                <a:moveTo>
                  <a:pt x="0" y="0"/>
                </a:moveTo>
                <a:lnTo>
                  <a:pt x="8750665" y="0"/>
                </a:lnTo>
                <a:lnTo>
                  <a:pt x="8750665" y="4719890"/>
                </a:lnTo>
                <a:lnTo>
                  <a:pt x="0" y="4719890"/>
                </a:lnTo>
                <a:lnTo>
                  <a:pt x="0" y="0"/>
                </a:lnTo>
                <a:close/>
              </a:path>
            </a:pathLst>
          </a:custGeom>
          <a:blipFill>
            <a:blip r:embed="rId9"/>
            <a:stretch>
              <a:fillRect l="0" t="0" r="0" b="0"/>
            </a:stretch>
          </a:blipFill>
        </p:spPr>
      </p:sp>
      <p:sp>
        <p:nvSpPr>
          <p:cNvPr name="TextBox 30" id="30"/>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Antigravity에서 .md 쓰기</a:t>
            </a:r>
          </a:p>
        </p:txBody>
      </p:sp>
      <p:sp>
        <p:nvSpPr>
          <p:cNvPr name="TextBox 31" id="31"/>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IDE에서 새 파일 → README.md</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Markdown 문법으로 작성</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Ctrl + Shift + V 로 미리보기</a:t>
            </a:r>
          </a:p>
        </p:txBody>
      </p:sp>
      <p:sp>
        <p:nvSpPr>
          <p:cNvPr name="TextBox 32" id="32"/>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3" id="33"/>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- 8 -</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쉬는 시간</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801544"/>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10분 쉬어 갈게요!</a:t>
            </a:r>
          </a:p>
        </p:txBody>
      </p:sp>
      <p:sp>
        <p:nvSpPr>
          <p:cNvPr name="TextBox 18" id="18"/>
          <p:cNvSpPr txBox="true"/>
          <p:nvPr/>
        </p:nvSpPr>
        <p:spPr>
          <a:xfrm rot="0">
            <a:off x="3432477" y="6600042"/>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19:30에 다시 시작합니다</a:t>
            </a:r>
          </a:p>
        </p:txBody>
      </p:sp>
      <p:sp>
        <p:nvSpPr>
          <p:cNvPr name="TextBox 19" id="19"/>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다음 파트: 문법 실습!</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Antigravity IDE에서 my-intro 폴더를 열어 두세요.</a:t>
            </a:r>
          </a:p>
        </p:txBody>
      </p:sp>
      <p:sp>
        <p:nvSpPr>
          <p:cNvPr name="TextBox 20" id="20"/>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Freeform 21" id="21" descr="녹차 한 잔과 노트북, 시계가 있는 휴식 일러스트"/>
          <p:cNvSpPr/>
          <p:nvPr/>
        </p:nvSpPr>
        <p:spPr>
          <a:xfrm flipH="false" flipV="false" rot="0">
            <a:off x="6191250" y="2143125"/>
            <a:ext cx="5905500" cy="3324225"/>
          </a:xfrm>
          <a:custGeom>
            <a:avLst/>
            <a:gdLst/>
            <a:ahLst/>
            <a:cxnLst/>
            <a:rect r="r" b="b" t="t" l="l"/>
            <a:pathLst>
              <a:path h="3324225" w="5905500">
                <a:moveTo>
                  <a:pt x="0" y="0"/>
                </a:moveTo>
                <a:lnTo>
                  <a:pt x="5905500" y="0"/>
                </a:lnTo>
                <a:lnTo>
                  <a:pt x="5905500" y="3324225"/>
                </a:lnTo>
                <a:lnTo>
                  <a:pt x="0" y="3324225"/>
                </a:lnTo>
                <a:lnTo>
                  <a:pt x="0" y="0"/>
                </a:lnTo>
                <a:close/>
              </a:path>
            </a:pathLst>
          </a:custGeom>
          <a:blipFill>
            <a:blip r:embed="rId5"/>
            <a:stretch>
              <a:fillRect l="-147" t="0" r="-147"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02</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문법 실습</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30분 · 구조 → 스타일 → 링크·이미지 → 표·수식</a:t>
            </a:r>
          </a:p>
        </p:txBody>
      </p:sp>
      <p:sp>
        <p:nvSpPr>
          <p:cNvPr name="TextBox 21" id="21"/>
          <p:cNvSpPr txBox="true"/>
          <p:nvPr/>
        </p:nvSpPr>
        <p:spPr>
          <a:xfrm rot="0">
            <a:off x="2443870" y="5460741"/>
            <a:ext cx="1095375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나의 README.md 완성하기</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뒤에는 꼭 한 칸 띄기!</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하위 목록은 스페이스 2칸</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이름·내용은 내 정보로!</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규칙 4가지</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1] 문서 구조 만들기</a:t>
            </a:r>
          </a:p>
        </p:txBody>
      </p:sp>
      <p:sp>
        <p:nvSpPr>
          <p:cNvPr name="TextBox 30" id="30"/>
          <p:cNvSpPr txBox="true"/>
          <p:nvPr/>
        </p:nvSpPr>
        <p:spPr>
          <a:xfrm rot="0">
            <a:off x="10472784" y="3604117"/>
            <a:ext cx="7086813" cy="18230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 개수 == 제목 크기 (1~6개)</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 또는 1. == 목록 (들여쓰면 하위)</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&gt; == 인용구</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④ 빈 줄 == 단락 나누기</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my-intro/README.md</a:t>
            </a:r>
          </a:p>
        </p:txBody>
      </p:sp>
      <p:sp>
        <p:nvSpPr>
          <p:cNvPr name="TextBox 39" id="39"/>
          <p:cNvSpPr txBox="true"/>
          <p:nvPr/>
        </p:nvSpPr>
        <p:spPr>
          <a:xfrm rot="0">
            <a:off x="2143125" y="3619500"/>
            <a:ext cx="7524750" cy="4585335"/>
          </a:xfrm>
          <a:prstGeom prst="rect">
            <a:avLst/>
          </a:prstGeom>
        </p:spPr>
        <p:txBody>
          <a:bodyPr anchor="t" rtlCol="false" tIns="0" lIns="0" bIns="0" rIns="0">
            <a:spAutoFit/>
          </a:bodyPr>
          <a:lstStyle/>
          <a:p>
            <a:pPr algn="l">
              <a:lnSpc>
                <a:spcPts val="2430"/>
              </a:lnSpc>
            </a:pPr>
            <a:r>
              <a:rPr lang="en-US" sz="1800">
                <a:solidFill>
                  <a:srgbClr val="EEF1FF"/>
                </a:solidFill>
                <a:latin typeface="Arimo"/>
                <a:ea typeface="Arimo"/>
                <a:cs typeface="Arimo"/>
                <a:sym typeface="Arimo"/>
              </a:rPr>
              <a:t># 홍길동의 README</a:t>
            </a:r>
          </a:p>
          <a:p>
            <a:pPr algn="l">
              <a:lnSpc>
                <a:spcPts val="2430"/>
              </a:lnSpc>
            </a:pPr>
            <a:r>
              <a:rPr lang="en-US" sz="1800">
                <a:solidFill>
                  <a:srgbClr val="EEF1FF"/>
                </a:solidFill>
                <a:latin typeface="Arimo"/>
                <a:ea typeface="Arimo"/>
                <a:cs typeface="Arimo"/>
                <a:sym typeface="Arimo"/>
              </a:rPr>
              <a:t>## 👋 소개</a:t>
            </a:r>
          </a:p>
          <a:p>
            <a:pPr algn="l">
              <a:lnSpc>
                <a:spcPts val="2430"/>
              </a:lnSpc>
            </a:pPr>
            <a:r>
              <a:rPr lang="en-US" sz="1800">
                <a:solidFill>
                  <a:srgbClr val="EEF1FF"/>
                </a:solidFill>
                <a:latin typeface="Arimo"/>
                <a:ea typeface="Arimo"/>
                <a:cs typeface="Arimo"/>
                <a:sym typeface="Arimo"/>
              </a:rPr>
              <a:t>경영학과 3학년, AI 입문자입니다.</a:t>
            </a:r>
          </a:p>
          <a:p>
            <a:pPr algn="l">
              <a:lnSpc>
                <a:spcPts val="2430"/>
              </a:lnSpc>
            </a:pPr>
          </a:p>
          <a:p>
            <a:pPr algn="l">
              <a:lnSpc>
                <a:spcPts val="2430"/>
              </a:lnSpc>
            </a:pPr>
            <a:r>
              <a:rPr lang="en-US" sz="1800">
                <a:solidFill>
                  <a:srgbClr val="EEF1FF"/>
                </a:solidFill>
                <a:latin typeface="Arimo"/>
                <a:ea typeface="Arimo"/>
                <a:cs typeface="Arimo"/>
                <a:sym typeface="Arimo"/>
              </a:rPr>
              <a:t>## 🎯 관심사</a:t>
            </a:r>
          </a:p>
          <a:p>
            <a:pPr algn="l">
              <a:lnSpc>
                <a:spcPts val="2430"/>
              </a:lnSpc>
            </a:pPr>
            <a:r>
              <a:rPr lang="en-US" sz="1800">
                <a:solidFill>
                  <a:srgbClr val="EEF1FF"/>
                </a:solidFill>
                <a:latin typeface="Arimo"/>
                <a:ea typeface="Arimo"/>
                <a:cs typeface="Arimo"/>
                <a:sym typeface="Arimo"/>
              </a:rPr>
              <a:t>- AI</a:t>
            </a:r>
          </a:p>
          <a:p>
            <a:pPr algn="l">
              <a:lnSpc>
                <a:spcPts val="2430"/>
              </a:lnSpc>
            </a:pPr>
            <a:r>
              <a:rPr lang="en-US" sz="1800">
                <a:solidFill>
                  <a:srgbClr val="EEF1FF"/>
                </a:solidFill>
                <a:latin typeface="Arimo"/>
                <a:ea typeface="Arimo"/>
                <a:cs typeface="Arimo"/>
                <a:sym typeface="Arimo"/>
              </a:rPr>
              <a:t>- 여행</a:t>
            </a:r>
          </a:p>
          <a:p>
            <a:pPr algn="l">
              <a:lnSpc>
                <a:spcPts val="2430"/>
              </a:lnSpc>
            </a:pPr>
            <a:r>
              <a:rPr lang="en-US" sz="1800">
                <a:solidFill>
                  <a:srgbClr val="EEF1FF"/>
                </a:solidFill>
                <a:latin typeface="Arimo"/>
                <a:ea typeface="Arimo"/>
                <a:cs typeface="Arimo"/>
                <a:sym typeface="Arimo"/>
              </a:rPr>
              <a:t>  - 국내 여행</a:t>
            </a:r>
          </a:p>
          <a:p>
            <a:pPr algn="l">
              <a:lnSpc>
                <a:spcPts val="2430"/>
              </a:lnSpc>
            </a:pPr>
            <a:r>
              <a:rPr lang="en-US" sz="1800">
                <a:solidFill>
                  <a:srgbClr val="EEF1FF"/>
                </a:solidFill>
                <a:latin typeface="Arimo"/>
                <a:ea typeface="Arimo"/>
                <a:cs typeface="Arimo"/>
                <a:sym typeface="Arimo"/>
              </a:rPr>
              <a:t>- 사진</a:t>
            </a:r>
          </a:p>
          <a:p>
            <a:pPr algn="l">
              <a:lnSpc>
                <a:spcPts val="2430"/>
              </a:lnSpc>
            </a:pPr>
          </a:p>
          <a:p>
            <a:pPr algn="l">
              <a:lnSpc>
                <a:spcPts val="2430"/>
              </a:lnSpc>
            </a:pPr>
            <a:r>
              <a:rPr lang="en-US" sz="1800">
                <a:solidFill>
                  <a:srgbClr val="EEF1FF"/>
                </a:solidFill>
                <a:latin typeface="Arimo"/>
                <a:ea typeface="Arimo"/>
                <a:cs typeface="Arimo"/>
                <a:sym typeface="Arimo"/>
              </a:rPr>
              <a:t>## 📅 이번 학기 목표</a:t>
            </a:r>
          </a:p>
          <a:p>
            <a:pPr algn="l">
              <a:lnSpc>
                <a:spcPts val="2430"/>
              </a:lnSpc>
            </a:pPr>
            <a:r>
              <a:rPr lang="en-US" sz="1800">
                <a:solidFill>
                  <a:srgbClr val="EEF1FF"/>
                </a:solidFill>
                <a:latin typeface="Arimo"/>
                <a:ea typeface="Arimo"/>
                <a:cs typeface="Arimo"/>
                <a:sym typeface="Arimo"/>
              </a:rPr>
              <a:t>1. Antigravity 익숙해지기</a:t>
            </a:r>
          </a:p>
          <a:p>
            <a:pPr algn="l">
              <a:lnSpc>
                <a:spcPts val="2430"/>
              </a:lnSpc>
            </a:pPr>
            <a:r>
              <a:rPr lang="en-US" sz="1800">
                <a:solidFill>
                  <a:srgbClr val="EEF1FF"/>
                </a:solidFill>
                <a:latin typeface="Arimo"/>
                <a:ea typeface="Arimo"/>
                <a:cs typeface="Arimo"/>
                <a:sym typeface="Arimo"/>
              </a:rPr>
              <a:t>2. 미니 프로젝트 완성하기</a:t>
            </a:r>
          </a:p>
          <a:p>
            <a:pPr algn="l">
              <a:lnSpc>
                <a:spcPts val="2430"/>
              </a:lnSpc>
            </a:pPr>
          </a:p>
          <a:p>
            <a:pPr algn="l">
              <a:lnSpc>
                <a:spcPts val="2430"/>
              </a:lnSpc>
            </a:pPr>
            <a:r>
              <a:rPr lang="en-US" sz="1800">
                <a:solidFill>
                  <a:srgbClr val="EEF1FF"/>
                </a:solidFill>
                <a:latin typeface="Arimo"/>
                <a:ea typeface="Arimo"/>
                <a:cs typeface="Arimo"/>
                <a:sym typeface="Arimo"/>
              </a:rPr>
              <a:t>&gt; 오늘 할 일을 내일로 미루지 말자!</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- 11 -</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백틱 ` 은 숫자 1 왼쪽 키</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3개 == 여러 줄 코드 블록</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뒤 언어 이름 == 색 칠하기</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스타일 규칙</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2] 텍스트 꾸미기</a:t>
            </a:r>
          </a:p>
        </p:txBody>
      </p:sp>
      <p:sp>
        <p:nvSpPr>
          <p:cNvPr name="TextBox 30" id="30"/>
          <p:cNvSpPr txBox="true"/>
          <p:nvPr/>
        </p:nvSpPr>
        <p:spPr>
          <a:xfrm rot="0">
            <a:off x="10472784" y="3604117"/>
            <a:ext cx="7086813" cy="18230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**글자** == 굵게</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*글자* == 기울임</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~~글자~~ == 취소선</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④ `글자` == 코드 (백틱)</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README.md 에 이어서 쓰기</a:t>
            </a:r>
          </a:p>
        </p:txBody>
      </p:sp>
      <p:sp>
        <p:nvSpPr>
          <p:cNvPr name="TextBox 39" id="39"/>
          <p:cNvSpPr txBox="true"/>
          <p:nvPr/>
        </p:nvSpPr>
        <p:spPr>
          <a:xfrm rot="0">
            <a:off x="2143125" y="3752850"/>
            <a:ext cx="7524750" cy="3800475"/>
          </a:xfrm>
          <a:prstGeom prst="rect">
            <a:avLst/>
          </a:prstGeom>
        </p:spPr>
        <p:txBody>
          <a:bodyPr anchor="t" rtlCol="false" tIns="0" lIns="0" bIns="0" rIns="0">
            <a:spAutoFit/>
          </a:bodyPr>
          <a:lstStyle/>
          <a:p>
            <a:pPr algn="l">
              <a:lnSpc>
                <a:spcPts val="3045"/>
              </a:lnSpc>
            </a:pPr>
            <a:r>
              <a:rPr lang="en-US" sz="2100">
                <a:solidFill>
                  <a:srgbClr val="EEF1FF"/>
                </a:solidFill>
                <a:latin typeface="Arimo"/>
                <a:ea typeface="Arimo"/>
                <a:cs typeface="Arimo"/>
                <a:sym typeface="Arimo"/>
              </a:rPr>
              <a:t>## 💪 나의 강점</a:t>
            </a:r>
          </a:p>
          <a:p>
            <a:pPr algn="l">
              <a:lnSpc>
                <a:spcPts val="3045"/>
              </a:lnSpc>
            </a:pPr>
            <a:r>
              <a:rPr lang="en-US" sz="2100">
                <a:solidFill>
                  <a:srgbClr val="EEF1FF"/>
                </a:solidFill>
                <a:latin typeface="Arimo"/>
                <a:ea typeface="Arimo"/>
                <a:cs typeface="Arimo"/>
                <a:sym typeface="Arimo"/>
              </a:rPr>
              <a:t>**끈기**가 있고, *호기심*이 많습니다.</a:t>
            </a:r>
          </a:p>
          <a:p>
            <a:pPr algn="l">
              <a:lnSpc>
                <a:spcPts val="3045"/>
              </a:lnSpc>
            </a:pPr>
            <a:r>
              <a:rPr lang="en-US" sz="2100">
                <a:solidFill>
                  <a:srgbClr val="EEF1FF"/>
                </a:solidFill>
                <a:latin typeface="Arimo"/>
                <a:ea typeface="Arimo"/>
                <a:cs typeface="Arimo"/>
                <a:sym typeface="Arimo"/>
              </a:rPr>
              <a:t>~~코딩은 어렵다~~ → 이제 AI와 함께!</a:t>
            </a:r>
          </a:p>
          <a:p>
            <a:pPr algn="l">
              <a:lnSpc>
                <a:spcPts val="3045"/>
              </a:lnSpc>
            </a:pPr>
          </a:p>
          <a:p>
            <a:pPr algn="l">
              <a:lnSpc>
                <a:spcPts val="3045"/>
              </a:lnSpc>
            </a:pPr>
            <a:r>
              <a:rPr lang="en-US" sz="2100">
                <a:solidFill>
                  <a:srgbClr val="EEF1FF"/>
                </a:solidFill>
                <a:latin typeface="Arimo"/>
                <a:ea typeface="Arimo"/>
                <a:cs typeface="Arimo"/>
                <a:sym typeface="Arimo"/>
              </a:rPr>
              <a:t>## 💻 좋아하는 코드</a:t>
            </a:r>
          </a:p>
          <a:p>
            <a:pPr algn="l">
              <a:lnSpc>
                <a:spcPts val="3045"/>
              </a:lnSpc>
            </a:pPr>
            <a:r>
              <a:rPr lang="en-US" sz="2100">
                <a:solidFill>
                  <a:srgbClr val="EEF1FF"/>
                </a:solidFill>
                <a:latin typeface="Arimo"/>
                <a:ea typeface="Arimo"/>
                <a:cs typeface="Arimo"/>
                <a:sym typeface="Arimo"/>
              </a:rPr>
              <a:t>인라인 코드: `print("hello")`</a:t>
            </a:r>
          </a:p>
          <a:p>
            <a:pPr algn="l">
              <a:lnSpc>
                <a:spcPts val="3045"/>
              </a:lnSpc>
            </a:pPr>
          </a:p>
          <a:p>
            <a:pPr algn="l">
              <a:lnSpc>
                <a:spcPts val="3045"/>
              </a:lnSpc>
            </a:pPr>
            <a:r>
              <a:rPr lang="en-US" sz="2100">
                <a:solidFill>
                  <a:srgbClr val="EEF1FF"/>
                </a:solidFill>
                <a:latin typeface="Arimo"/>
                <a:ea typeface="Arimo"/>
                <a:cs typeface="Arimo"/>
                <a:sym typeface="Arimo"/>
              </a:rPr>
              <a:t>```python</a:t>
            </a:r>
          </a:p>
          <a:p>
            <a:pPr algn="l">
              <a:lnSpc>
                <a:spcPts val="3045"/>
              </a:lnSpc>
            </a:pPr>
            <a:r>
              <a:rPr lang="en-US" sz="2100">
                <a:solidFill>
                  <a:srgbClr val="EEF1FF"/>
                </a:solidFill>
                <a:latin typeface="Arimo"/>
                <a:ea typeface="Arimo"/>
                <a:cs typeface="Arimo"/>
                <a:sym typeface="Arimo"/>
              </a:rPr>
              <a:t>print("안녕하세요, 홍길동입니다!")</a:t>
            </a:r>
          </a:p>
          <a:p>
            <a:pPr algn="l">
              <a:lnSpc>
                <a:spcPts val="3045"/>
              </a:lnSpc>
            </a:pPr>
            <a:r>
              <a:rPr lang="en-US" sz="2100">
                <a:solidFill>
                  <a:srgbClr val="EEF1FF"/>
                </a:solidFill>
                <a:latin typeface="Arimo"/>
                <a:ea typeface="Arimo"/>
                <a:cs typeface="Arimo"/>
                <a:sym typeface="Arimo"/>
              </a:rPr>
              <a:t>```</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- 12 -</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me.png는 README와 같은 폴더에</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설명 == 이미지가 안 뜨면 대신 표시</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웹 이미지는 주소를 그대로</a:t>
              </a:r>
            </a:p>
          </p:txBody>
        </p:sp>
      </p:grpSp>
      <p:grpSp>
        <p:nvGrpSpPr>
          <p:cNvPr name="Group 26" id="26"/>
          <p:cNvGrpSpPr/>
          <p:nvPr/>
        </p:nvGrpSpPr>
        <p:grpSpPr>
          <a:xfrm rot="0">
            <a:off x="10472784" y="2884234"/>
            <a:ext cx="7042754" cy="547878"/>
            <a:chOff x="0" y="0"/>
            <a:chExt cx="9390339"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8890000"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링크 · 이미지 규칙</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3] 링크와 이미지</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[보일 글자](주소) == 링크</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![설명](경로) == 이미지</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느낌표 ! 하나 차이!</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README.md 에 이어서 쓰기</a:t>
            </a:r>
          </a:p>
        </p:txBody>
      </p:sp>
      <p:sp>
        <p:nvSpPr>
          <p:cNvPr name="TextBox 39" id="39"/>
          <p:cNvSpPr txBox="true"/>
          <p:nvPr/>
        </p:nvSpPr>
        <p:spPr>
          <a:xfrm rot="0">
            <a:off x="2143125" y="3743325"/>
            <a:ext cx="7524750" cy="3187065"/>
          </a:xfrm>
          <a:prstGeom prst="rect">
            <a:avLst/>
          </a:prstGeom>
        </p:spPr>
        <p:txBody>
          <a:bodyPr anchor="t" rtlCol="false" tIns="0" lIns="0" bIns="0" rIns="0">
            <a:spAutoFit/>
          </a:bodyPr>
          <a:lstStyle/>
          <a:p>
            <a:pPr algn="l">
              <a:lnSpc>
                <a:spcPts val="3150"/>
              </a:lnSpc>
            </a:pPr>
            <a:r>
              <a:rPr lang="en-US" sz="2100">
                <a:solidFill>
                  <a:srgbClr val="EEF1FF"/>
                </a:solidFill>
                <a:latin typeface="Arimo"/>
                <a:ea typeface="Arimo"/>
                <a:cs typeface="Arimo"/>
                <a:sym typeface="Arimo"/>
              </a:rPr>
              <a:t>## 🔗 링크</a:t>
            </a:r>
          </a:p>
          <a:p>
            <a:pPr algn="l">
              <a:lnSpc>
                <a:spcPts val="3150"/>
              </a:lnSpc>
            </a:pPr>
            <a:r>
              <a:rPr lang="en-US" sz="2100">
                <a:solidFill>
                  <a:srgbClr val="EEF1FF"/>
                </a:solidFill>
                <a:latin typeface="Arimo"/>
                <a:ea typeface="Arimo"/>
                <a:cs typeface="Arimo"/>
                <a:sym typeface="Arimo"/>
              </a:rPr>
              <a:t>- [해달 GitHub](https://github.com)</a:t>
            </a:r>
          </a:p>
          <a:p>
            <a:pPr algn="l">
              <a:lnSpc>
                <a:spcPts val="3150"/>
              </a:lnSpc>
            </a:pPr>
            <a:r>
              <a:rPr lang="en-US" sz="2100">
                <a:solidFill>
                  <a:srgbClr val="EEF1FF"/>
                </a:solidFill>
                <a:latin typeface="Arimo"/>
                <a:ea typeface="Arimo"/>
                <a:cs typeface="Arimo"/>
                <a:sym typeface="Arimo"/>
              </a:rPr>
              <a:t>- [Antigravity](https://antigravity.google)</a:t>
            </a:r>
          </a:p>
          <a:p>
            <a:pPr algn="l">
              <a:lnSpc>
                <a:spcPts val="3150"/>
              </a:lnSpc>
            </a:pPr>
          </a:p>
          <a:p>
            <a:pPr algn="l">
              <a:lnSpc>
                <a:spcPts val="3150"/>
              </a:lnSpc>
            </a:pPr>
            <a:r>
              <a:rPr lang="en-US" sz="2100">
                <a:solidFill>
                  <a:srgbClr val="EEF1FF"/>
                </a:solidFill>
                <a:latin typeface="Arimo"/>
                <a:ea typeface="Arimo"/>
                <a:cs typeface="Arimo"/>
                <a:sym typeface="Arimo"/>
              </a:rPr>
              <a:t>## 🖼️ 사진</a:t>
            </a:r>
          </a:p>
          <a:p>
            <a:pPr algn="l">
              <a:lnSpc>
                <a:spcPts val="3150"/>
              </a:lnSpc>
            </a:pPr>
            <a:r>
              <a:rPr lang="en-US" sz="2100">
                <a:solidFill>
                  <a:srgbClr val="EEF1FF"/>
                </a:solidFill>
                <a:latin typeface="Arimo"/>
                <a:ea typeface="Arimo"/>
                <a:cs typeface="Arimo"/>
                <a:sym typeface="Arimo"/>
              </a:rPr>
              <a:t>![내 프로필 사진](./me.png)</a:t>
            </a:r>
          </a:p>
          <a:p>
            <a:pPr algn="l">
              <a:lnSpc>
                <a:spcPts val="3150"/>
              </a:lnSpc>
            </a:pPr>
          </a:p>
          <a:p>
            <a:pPr algn="l">
              <a:lnSpc>
                <a:spcPts val="3150"/>
              </a:lnSpc>
            </a:pPr>
            <a:r>
              <a:rPr lang="en-US" sz="2100">
                <a:solidFill>
                  <a:srgbClr val="EEF1FF"/>
                </a:solidFill>
                <a:latin typeface="Arimo"/>
                <a:ea typeface="Arimo"/>
                <a:cs typeface="Arimo"/>
                <a:sym typeface="Arimo"/>
              </a:rPr>
              <a:t>![랜덤 풍경](https://picsum.photos/400/200)</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- 13 -</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표는 AI에게 맡겨도 OK!</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 두 개 == 가운데 큰 수식</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수식은 미리보기에서 확인</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표 · 수식 규칙</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[실습 4] 표와 수식</a:t>
            </a:r>
          </a:p>
        </p:txBody>
      </p:sp>
      <p:sp>
        <p:nvSpPr>
          <p:cNvPr name="TextBox 30" id="30"/>
          <p:cNvSpPr txBox="true"/>
          <p:nvPr/>
        </p:nvSpPr>
        <p:spPr>
          <a:xfrm rot="0">
            <a:off x="10472784" y="3604117"/>
            <a:ext cx="7086813" cy="18230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 로 칸을 나눔</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2번째 줄 --- == 머리행 구분</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 가운데 / ---: 오른쪽</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④ $수식$ == LaTeX 수식</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README.md 에 이어서 쓰기</a:t>
            </a:r>
          </a:p>
        </p:txBody>
      </p:sp>
      <p:sp>
        <p:nvSpPr>
          <p:cNvPr name="TextBox 39" id="39"/>
          <p:cNvSpPr txBox="true"/>
          <p:nvPr/>
        </p:nvSpPr>
        <p:spPr>
          <a:xfrm rot="0">
            <a:off x="2143125" y="3667125"/>
            <a:ext cx="7524750" cy="4010978"/>
          </a:xfrm>
          <a:prstGeom prst="rect">
            <a:avLst/>
          </a:prstGeom>
        </p:spPr>
        <p:txBody>
          <a:bodyPr anchor="t" rtlCol="false" tIns="0" lIns="0" bIns="0" rIns="0">
            <a:spAutoFit/>
          </a:bodyPr>
          <a:lstStyle/>
          <a:p>
            <a:pPr algn="l">
              <a:lnSpc>
                <a:spcPts val="2632"/>
              </a:lnSpc>
            </a:pPr>
            <a:r>
              <a:rPr lang="en-US" sz="1950">
                <a:solidFill>
                  <a:srgbClr val="EEF1FF"/>
                </a:solidFill>
                <a:latin typeface="Arimo"/>
                <a:ea typeface="Arimo"/>
                <a:cs typeface="Arimo"/>
                <a:sym typeface="Arimo"/>
              </a:rPr>
              <a:t>## 🗓️ 주간 계획표</a:t>
            </a:r>
          </a:p>
          <a:p>
            <a:pPr algn="l">
              <a:lnSpc>
                <a:spcPts val="2632"/>
              </a:lnSpc>
            </a:pPr>
            <a:r>
              <a:rPr lang="en-US" sz="1950">
                <a:solidFill>
                  <a:srgbClr val="EEF1FF"/>
                </a:solidFill>
                <a:latin typeface="Arimo"/>
                <a:ea typeface="Arimo"/>
                <a:cs typeface="Arimo"/>
                <a:sym typeface="Arimo"/>
              </a:rPr>
              <a:t>| 요일 | 할 일 | 시간 |</a:t>
            </a:r>
          </a:p>
          <a:p>
            <a:pPr algn="l">
              <a:lnSpc>
                <a:spcPts val="2632"/>
              </a:lnSpc>
            </a:pPr>
            <a:r>
              <a:rPr lang="en-US" sz="1950">
                <a:solidFill>
                  <a:srgbClr val="EEF1FF"/>
                </a:solidFill>
                <a:latin typeface="Arimo"/>
                <a:ea typeface="Arimo"/>
                <a:cs typeface="Arimo"/>
                <a:sym typeface="Arimo"/>
              </a:rPr>
              <a:t>| :--- | :---: | ---: |</a:t>
            </a:r>
          </a:p>
          <a:p>
            <a:pPr algn="l">
              <a:lnSpc>
                <a:spcPts val="2632"/>
              </a:lnSpc>
            </a:pPr>
            <a:r>
              <a:rPr lang="en-US" sz="1950">
                <a:solidFill>
                  <a:srgbClr val="EEF1FF"/>
                </a:solidFill>
                <a:latin typeface="Arimo"/>
                <a:ea typeface="Arimo"/>
                <a:cs typeface="Arimo"/>
                <a:sym typeface="Arimo"/>
              </a:rPr>
              <a:t>| 월 | 바이브코딩 수업 | 19:00 |</a:t>
            </a:r>
          </a:p>
          <a:p>
            <a:pPr algn="l">
              <a:lnSpc>
                <a:spcPts val="2632"/>
              </a:lnSpc>
            </a:pPr>
            <a:r>
              <a:rPr lang="en-US" sz="1950">
                <a:solidFill>
                  <a:srgbClr val="EEF1FF"/>
                </a:solidFill>
                <a:latin typeface="Arimo"/>
                <a:ea typeface="Arimo"/>
                <a:cs typeface="Arimo"/>
                <a:sym typeface="Arimo"/>
              </a:rPr>
              <a:t>| 수 | 복습 &amp; 과제 | 20:00 |</a:t>
            </a:r>
          </a:p>
          <a:p>
            <a:pPr algn="l">
              <a:lnSpc>
                <a:spcPts val="2632"/>
              </a:lnSpc>
            </a:pPr>
          </a:p>
          <a:p>
            <a:pPr algn="l">
              <a:lnSpc>
                <a:spcPts val="2632"/>
              </a:lnSpc>
            </a:pPr>
            <a:r>
              <a:rPr lang="en-US" sz="1950">
                <a:solidFill>
                  <a:srgbClr val="EEF1FF"/>
                </a:solidFill>
                <a:latin typeface="Arimo"/>
                <a:ea typeface="Arimo"/>
                <a:cs typeface="Arimo"/>
                <a:sym typeface="Arimo"/>
              </a:rPr>
              <a:t>## 🧮 좋아하는 공식</a:t>
            </a:r>
          </a:p>
          <a:p>
            <a:pPr algn="l">
              <a:lnSpc>
                <a:spcPts val="2632"/>
              </a:lnSpc>
            </a:pPr>
            <a:r>
              <a:rPr lang="en-US" sz="1950">
                <a:solidFill>
                  <a:srgbClr val="EEF1FF"/>
                </a:solidFill>
                <a:latin typeface="Arimo"/>
                <a:ea typeface="Arimo"/>
                <a:cs typeface="Arimo"/>
                <a:sym typeface="Arimo"/>
              </a:rPr>
              <a:t>인라인: $E = mc^2$</a:t>
            </a:r>
          </a:p>
          <a:p>
            <a:pPr algn="l">
              <a:lnSpc>
                <a:spcPts val="2632"/>
              </a:lnSpc>
            </a:pPr>
          </a:p>
          <a:p>
            <a:pPr algn="l">
              <a:lnSpc>
                <a:spcPts val="2632"/>
              </a:lnSpc>
            </a:pPr>
            <a:r>
              <a:rPr lang="en-US" sz="1950">
                <a:solidFill>
                  <a:srgbClr val="EEF1FF"/>
                </a:solidFill>
                <a:latin typeface="Arimo"/>
                <a:ea typeface="Arimo"/>
                <a:cs typeface="Arimo"/>
                <a:sym typeface="Arimo"/>
              </a:rPr>
              <a:t>$$</a:t>
            </a:r>
          </a:p>
          <a:p>
            <a:pPr algn="l">
              <a:lnSpc>
                <a:spcPts val="2632"/>
              </a:lnSpc>
            </a:pPr>
            <a:r>
              <a:rPr lang="en-US" sz="1950">
                <a:solidFill>
                  <a:srgbClr val="EEF1FF"/>
                </a:solidFill>
                <a:latin typeface="Arimo"/>
                <a:ea typeface="Arimo"/>
                <a:cs typeface="Arimo"/>
                <a:sym typeface="Arimo"/>
              </a:rPr>
              <a:t>\frac{a + b}{2}</a:t>
            </a:r>
          </a:p>
          <a:p>
            <a:pPr algn="l">
              <a:lnSpc>
                <a:spcPts val="2632"/>
              </a:lnSpc>
            </a:pPr>
            <a:r>
              <a:rPr lang="en-US" sz="1950">
                <a:solidFill>
                  <a:srgbClr val="EEF1FF"/>
                </a:solidFill>
                <a:latin typeface="Arimo"/>
                <a:ea typeface="Arimo"/>
                <a:cs typeface="Arimo"/>
                <a:sym typeface="Arimo"/>
              </a:rPr>
              <a:t>$$</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- 14 -</a:t>
            </a: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원본은 미리 복사해 두기</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마음에 안 들면 되돌리기 요청</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완성본은 단톡방에 공유!</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AI와 함께 완성</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[보너스] AI에게 다듬기 맡기기</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내가 쓴 초안을 AI에게 맡기고</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바뀐 부분을 IDE에서 확인</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모르는 문법은 다시 질문!</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Antigravity 2.0 채팅창에 입력</a:t>
            </a:r>
          </a:p>
        </p:txBody>
      </p:sp>
      <p:sp>
        <p:nvSpPr>
          <p:cNvPr name="TextBox 39" id="39"/>
          <p:cNvSpPr txBox="true"/>
          <p:nvPr/>
        </p:nvSpPr>
        <p:spPr>
          <a:xfrm rot="0">
            <a:off x="2143125" y="3733800"/>
            <a:ext cx="7524750" cy="3419475"/>
          </a:xfrm>
          <a:prstGeom prst="rect">
            <a:avLst/>
          </a:prstGeom>
        </p:spPr>
        <p:txBody>
          <a:bodyPr anchor="t" rtlCol="false" tIns="0" lIns="0" bIns="0" rIns="0">
            <a:spAutoFit/>
          </a:bodyPr>
          <a:lstStyle/>
          <a:p>
            <a:pPr algn="l">
              <a:lnSpc>
                <a:spcPts val="3375"/>
              </a:lnSpc>
            </a:pPr>
            <a:r>
              <a:rPr lang="en-US" sz="2250">
                <a:solidFill>
                  <a:srgbClr val="EEF1FF"/>
                </a:solidFill>
                <a:latin typeface="Arimo"/>
                <a:ea typeface="Arimo"/>
                <a:cs typeface="Arimo"/>
                <a:sym typeface="Arimo"/>
              </a:rPr>
              <a:t>README.md를 더 보기 좋게 다듬어줘.</a:t>
            </a:r>
          </a:p>
          <a:p>
            <a:pPr algn="l">
              <a:lnSpc>
                <a:spcPts val="3375"/>
              </a:lnSpc>
            </a:pPr>
            <a:r>
              <a:rPr lang="en-US" sz="2250">
                <a:solidFill>
                  <a:srgbClr val="EEF1FF"/>
                </a:solidFill>
                <a:latin typeface="Arimo"/>
                <a:ea typeface="Arimo"/>
                <a:cs typeface="Arimo"/>
                <a:sym typeface="Arimo"/>
              </a:rPr>
              <a:t>- Markdown 문법만 사용할 것</a:t>
            </a:r>
          </a:p>
          <a:p>
            <a:pPr algn="l">
              <a:lnSpc>
                <a:spcPts val="3375"/>
              </a:lnSpc>
            </a:pPr>
            <a:r>
              <a:rPr lang="en-US" sz="2250">
                <a:solidFill>
                  <a:srgbClr val="EEF1FF"/>
                </a:solidFill>
                <a:latin typeface="Arimo"/>
                <a:ea typeface="Arimo"/>
                <a:cs typeface="Arimo"/>
                <a:sym typeface="Arimo"/>
              </a:rPr>
              <a:t>- 섹션마다 어울리는 이모지 추가</a:t>
            </a:r>
          </a:p>
          <a:p>
            <a:pPr algn="l">
              <a:lnSpc>
                <a:spcPts val="3375"/>
              </a:lnSpc>
            </a:pPr>
            <a:r>
              <a:rPr lang="en-US" sz="2250">
                <a:solidFill>
                  <a:srgbClr val="EEF1FF"/>
                </a:solidFill>
                <a:latin typeface="Arimo"/>
                <a:ea typeface="Arimo"/>
                <a:cs typeface="Arimo"/>
                <a:sym typeface="Arimo"/>
              </a:rPr>
              <a:t>- '나의 기술 스택'을 표로 정리</a:t>
            </a:r>
          </a:p>
          <a:p>
            <a:pPr algn="l">
              <a:lnSpc>
                <a:spcPts val="3375"/>
              </a:lnSpc>
            </a:pPr>
            <a:r>
              <a:rPr lang="en-US" sz="2250">
                <a:solidFill>
                  <a:srgbClr val="EEF1FF"/>
                </a:solidFill>
                <a:latin typeface="Arimo"/>
                <a:ea typeface="Arimo"/>
                <a:cs typeface="Arimo"/>
                <a:sym typeface="Arimo"/>
              </a:rPr>
              <a:t>- 맨 위에 한 줄 소개를 인용구로</a:t>
            </a:r>
          </a:p>
          <a:p>
            <a:pPr algn="l">
              <a:lnSpc>
                <a:spcPts val="3375"/>
              </a:lnSpc>
            </a:pPr>
          </a:p>
          <a:p>
            <a:pPr algn="l">
              <a:lnSpc>
                <a:spcPts val="3375"/>
              </a:lnSpc>
            </a:pPr>
            <a:r>
              <a:rPr lang="en-US" sz="2250">
                <a:solidFill>
                  <a:srgbClr val="EEF1FF"/>
                </a:solidFill>
                <a:latin typeface="Arimo"/>
                <a:ea typeface="Arimo"/>
                <a:cs typeface="Arimo"/>
                <a:sym typeface="Arimo"/>
              </a:rPr>
              <a:t>다듬은 뒤, 사용한 Markdown 문법을</a:t>
            </a:r>
          </a:p>
          <a:p>
            <a:pPr algn="l">
              <a:lnSpc>
                <a:spcPts val="3375"/>
              </a:lnSpc>
            </a:pPr>
            <a:r>
              <a:rPr lang="en-US" sz="2250">
                <a:solidFill>
                  <a:srgbClr val="EEF1FF"/>
                </a:solidFill>
                <a:latin typeface="Arimo"/>
                <a:ea typeface="Arimo"/>
                <a:cs typeface="Arimo"/>
                <a:sym typeface="Arimo"/>
              </a:rPr>
              <a:t>하나씩 쉽게 설명해줘.</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- 15 -</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Markdown 치트시트</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7" id="17"/>
          <p:cNvGrpSpPr/>
          <p:nvPr/>
        </p:nvGrpSpPr>
        <p:grpSpPr>
          <a:xfrm rot="0">
            <a:off x="1717296" y="2898323"/>
            <a:ext cx="7335408" cy="2752701"/>
            <a:chOff x="0" y="0"/>
            <a:chExt cx="1931959" cy="724991"/>
          </a:xfrm>
        </p:grpSpPr>
        <p:sp>
          <p:nvSpPr>
            <p:cNvPr name="Freeform 18" id="18"/>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19" id="19"/>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0" id="20"/>
          <p:cNvGrpSpPr/>
          <p:nvPr/>
        </p:nvGrpSpPr>
        <p:grpSpPr>
          <a:xfrm rot="0">
            <a:off x="1717296" y="5846679"/>
            <a:ext cx="7335408" cy="2752701"/>
            <a:chOff x="0" y="0"/>
            <a:chExt cx="1931959" cy="724991"/>
          </a:xfrm>
        </p:grpSpPr>
        <p:sp>
          <p:nvSpPr>
            <p:cNvPr name="Freeform 21" id="21"/>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2" id="22"/>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3" id="23"/>
          <p:cNvGrpSpPr/>
          <p:nvPr/>
        </p:nvGrpSpPr>
        <p:grpSpPr>
          <a:xfrm rot="0">
            <a:off x="9244821" y="2898323"/>
            <a:ext cx="7335408" cy="2752701"/>
            <a:chOff x="0" y="0"/>
            <a:chExt cx="1931959" cy="724991"/>
          </a:xfrm>
        </p:grpSpPr>
        <p:sp>
          <p:nvSpPr>
            <p:cNvPr name="Freeform 24" id="24"/>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5" id="25"/>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6" id="26"/>
          <p:cNvGrpSpPr/>
          <p:nvPr/>
        </p:nvGrpSpPr>
        <p:grpSpPr>
          <a:xfrm rot="0">
            <a:off x="9244821" y="5846679"/>
            <a:ext cx="7335408" cy="2752701"/>
            <a:chOff x="0" y="0"/>
            <a:chExt cx="1931959" cy="724991"/>
          </a:xfrm>
        </p:grpSpPr>
        <p:sp>
          <p:nvSpPr>
            <p:cNvPr name="Freeform 27" id="27"/>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8" id="28"/>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9" id="29"/>
          <p:cNvGrpSpPr/>
          <p:nvPr/>
        </p:nvGrpSpPr>
        <p:grpSpPr>
          <a:xfrm rot="0">
            <a:off x="7512059" y="5378921"/>
            <a:ext cx="3263882" cy="851964"/>
            <a:chOff x="0" y="0"/>
            <a:chExt cx="859623" cy="224386"/>
          </a:xfrm>
        </p:grpSpPr>
        <p:sp>
          <p:nvSpPr>
            <p:cNvPr name="Freeform 30" id="30"/>
            <p:cNvSpPr/>
            <p:nvPr/>
          </p:nvSpPr>
          <p:spPr>
            <a:xfrm flipH="false" flipV="false" rot="0">
              <a:off x="0" y="0"/>
              <a:ext cx="859623" cy="224386"/>
            </a:xfrm>
            <a:custGeom>
              <a:avLst/>
              <a:gdLst/>
              <a:ahLst/>
              <a:cxnLst/>
              <a:rect r="r" b="b" t="t" l="l"/>
              <a:pathLst>
                <a:path h="224386" w="859623">
                  <a:moveTo>
                    <a:pt x="35580" y="0"/>
                  </a:moveTo>
                  <a:lnTo>
                    <a:pt x="824043" y="0"/>
                  </a:lnTo>
                  <a:cubicBezTo>
                    <a:pt x="833480" y="0"/>
                    <a:pt x="842530" y="3749"/>
                    <a:pt x="849202" y="10421"/>
                  </a:cubicBezTo>
                  <a:cubicBezTo>
                    <a:pt x="855875" y="17094"/>
                    <a:pt x="859623" y="26144"/>
                    <a:pt x="859623" y="35580"/>
                  </a:cubicBezTo>
                  <a:lnTo>
                    <a:pt x="859623" y="188806"/>
                  </a:lnTo>
                  <a:cubicBezTo>
                    <a:pt x="859623" y="208456"/>
                    <a:pt x="843694" y="224386"/>
                    <a:pt x="824043" y="224386"/>
                  </a:cubicBezTo>
                  <a:lnTo>
                    <a:pt x="35580" y="224386"/>
                  </a:lnTo>
                  <a:cubicBezTo>
                    <a:pt x="26144" y="224386"/>
                    <a:pt x="17094" y="220637"/>
                    <a:pt x="10421" y="213964"/>
                  </a:cubicBezTo>
                  <a:cubicBezTo>
                    <a:pt x="3749" y="207292"/>
                    <a:pt x="0" y="198242"/>
                    <a:pt x="0" y="188806"/>
                  </a:cubicBezTo>
                  <a:lnTo>
                    <a:pt x="0" y="35580"/>
                  </a:lnTo>
                  <a:cubicBezTo>
                    <a:pt x="0" y="26144"/>
                    <a:pt x="3749" y="17094"/>
                    <a:pt x="10421" y="10421"/>
                  </a:cubicBezTo>
                  <a:cubicBezTo>
                    <a:pt x="17094" y="3749"/>
                    <a:pt x="26144" y="0"/>
                    <a:pt x="35580" y="0"/>
                  </a:cubicBezTo>
                  <a:close/>
                </a:path>
              </a:pathLst>
            </a:custGeom>
            <a:solidFill>
              <a:srgbClr val="5170FF"/>
            </a:solidFill>
            <a:ln cap="sq">
              <a:noFill/>
              <a:prstDash val="solid"/>
              <a:miter/>
            </a:ln>
          </p:spPr>
        </p:sp>
        <p:sp>
          <p:nvSpPr>
            <p:cNvPr name="TextBox 31" id="31"/>
            <p:cNvSpPr txBox="true"/>
            <p:nvPr/>
          </p:nvSpPr>
          <p:spPr>
            <a:xfrm>
              <a:off x="0" y="19050"/>
              <a:ext cx="859623" cy="205336"/>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2" id="32"/>
          <p:cNvSpPr txBox="true"/>
          <p:nvPr/>
        </p:nvSpPr>
        <p:spPr>
          <a:xfrm rot="0">
            <a:off x="7512059" y="5550371"/>
            <a:ext cx="326388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FFFFFF"/>
                </a:solidFill>
                <a:latin typeface="프리젠테이션 Bold"/>
                <a:ea typeface="프리젠테이션 Bold"/>
                <a:cs typeface="프리젠테이션 Bold"/>
                <a:sym typeface="프리젠테이션 Bold"/>
              </a:rPr>
              <a:t>한 장 요약</a:t>
            </a:r>
          </a:p>
        </p:txBody>
      </p:sp>
      <p:sp>
        <p:nvSpPr>
          <p:cNvPr name="TextBox 33" id="33"/>
          <p:cNvSpPr txBox="true"/>
          <p:nvPr/>
        </p:nvSpPr>
        <p:spPr>
          <a:xfrm rot="0">
            <a:off x="3020968"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① 문서 구조</a:t>
            </a:r>
          </a:p>
        </p:txBody>
      </p:sp>
      <p:sp>
        <p:nvSpPr>
          <p:cNvPr name="TextBox 34" id="34"/>
          <p:cNvSpPr txBox="true"/>
          <p:nvPr/>
        </p:nvSpPr>
        <p:spPr>
          <a:xfrm rot="0">
            <a:off x="3020968"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③ 링크 · 이미지</a:t>
            </a:r>
          </a:p>
        </p:txBody>
      </p:sp>
      <p:sp>
        <p:nvSpPr>
          <p:cNvPr name="TextBox 35" id="35"/>
          <p:cNvSpPr txBox="true"/>
          <p:nvPr/>
        </p:nvSpPr>
        <p:spPr>
          <a:xfrm rot="0">
            <a:off x="10548493"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② 텍스트 스타일</a:t>
            </a:r>
          </a:p>
        </p:txBody>
      </p:sp>
      <p:sp>
        <p:nvSpPr>
          <p:cNvPr name="TextBox 36" id="36"/>
          <p:cNvSpPr txBox="true"/>
          <p:nvPr/>
        </p:nvSpPr>
        <p:spPr>
          <a:xfrm rot="0">
            <a:off x="10548493"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④ 표 · 수식</a:t>
            </a:r>
          </a:p>
        </p:txBody>
      </p:sp>
      <p:grpSp>
        <p:nvGrpSpPr>
          <p:cNvPr name="Group 37" id="37"/>
          <p:cNvGrpSpPr/>
          <p:nvPr/>
        </p:nvGrpSpPr>
        <p:grpSpPr>
          <a:xfrm rot="0">
            <a:off x="3158735" y="4303307"/>
            <a:ext cx="4713902" cy="304800"/>
            <a:chOff x="0" y="0"/>
            <a:chExt cx="6285203" cy="406400"/>
          </a:xfrm>
        </p:grpSpPr>
        <p:sp>
          <p:nvSpPr>
            <p:cNvPr name="TextBox 38" id="38"/>
            <p:cNvSpPr txBox="true"/>
            <p:nvPr/>
          </p:nvSpPr>
          <p:spPr>
            <a:xfrm rot="0">
              <a:off x="303953" y="-76200"/>
              <a:ext cx="598125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 제목   ## 소제목   &gt; 인용</a:t>
              </a:r>
            </a:p>
          </p:txBody>
        </p:sp>
        <p:sp>
          <p:nvSpPr>
            <p:cNvPr name="Freeform 39" id="39"/>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0" id="40"/>
          <p:cNvGrpSpPr/>
          <p:nvPr/>
        </p:nvGrpSpPr>
        <p:grpSpPr>
          <a:xfrm rot="0">
            <a:off x="3165348" y="7251663"/>
            <a:ext cx="4740356" cy="304800"/>
            <a:chOff x="0" y="0"/>
            <a:chExt cx="6320475" cy="406400"/>
          </a:xfrm>
        </p:grpSpPr>
        <p:sp>
          <p:nvSpPr>
            <p:cNvPr name="TextBox 41" id="41"/>
            <p:cNvSpPr txBox="true"/>
            <p:nvPr/>
          </p:nvSpPr>
          <p:spPr>
            <a:xfrm rot="0">
              <a:off x="303953" y="-76200"/>
              <a:ext cx="6016522"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[보일 글자](주소)</a:t>
              </a:r>
            </a:p>
          </p:txBody>
        </p:sp>
        <p:sp>
          <p:nvSpPr>
            <p:cNvPr name="Freeform 42" id="42"/>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3" id="43"/>
          <p:cNvGrpSpPr/>
          <p:nvPr/>
        </p:nvGrpSpPr>
        <p:grpSpPr>
          <a:xfrm rot="0">
            <a:off x="10615438" y="4303307"/>
            <a:ext cx="4739353" cy="304800"/>
            <a:chOff x="0" y="0"/>
            <a:chExt cx="6319138" cy="406400"/>
          </a:xfrm>
        </p:grpSpPr>
        <p:sp>
          <p:nvSpPr>
            <p:cNvPr name="TextBox 44" id="44"/>
            <p:cNvSpPr txBox="true"/>
            <p:nvPr/>
          </p:nvSpPr>
          <p:spPr>
            <a:xfrm rot="0">
              <a:off x="303953" y="-76200"/>
              <a:ext cx="601518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**굵게**   *기울임*   ~~취소~~</a:t>
              </a:r>
            </a:p>
          </p:txBody>
        </p:sp>
        <p:sp>
          <p:nvSpPr>
            <p:cNvPr name="Freeform 45" id="45"/>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6" id="46"/>
          <p:cNvGrpSpPr/>
          <p:nvPr/>
        </p:nvGrpSpPr>
        <p:grpSpPr>
          <a:xfrm rot="0">
            <a:off x="10631382" y="7251663"/>
            <a:ext cx="4655560" cy="304800"/>
            <a:chOff x="0" y="0"/>
            <a:chExt cx="6207413" cy="406400"/>
          </a:xfrm>
        </p:grpSpPr>
        <p:sp>
          <p:nvSpPr>
            <p:cNvPr name="TextBox 47" id="47"/>
            <p:cNvSpPr txBox="true"/>
            <p:nvPr/>
          </p:nvSpPr>
          <p:spPr>
            <a:xfrm rot="0">
              <a:off x="303953" y="-76200"/>
              <a:ext cx="590346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 칸 | 칸 |  +  |---|---|</a:t>
              </a:r>
            </a:p>
          </p:txBody>
        </p:sp>
        <p:sp>
          <p:nvSpPr>
            <p:cNvPr name="Freeform 48" id="48"/>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9" id="49"/>
          <p:cNvGrpSpPr/>
          <p:nvPr/>
        </p:nvGrpSpPr>
        <p:grpSpPr>
          <a:xfrm rot="0">
            <a:off x="3158735" y="4790276"/>
            <a:ext cx="4753583" cy="304800"/>
            <a:chOff x="0" y="0"/>
            <a:chExt cx="6338111" cy="406400"/>
          </a:xfrm>
        </p:grpSpPr>
        <p:sp>
          <p:nvSpPr>
            <p:cNvPr name="TextBox 50" id="50"/>
            <p:cNvSpPr txBox="true"/>
            <p:nvPr/>
          </p:nvSpPr>
          <p:spPr>
            <a:xfrm rot="0">
              <a:off x="303953" y="-76200"/>
              <a:ext cx="6034158"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 목록   1. 번호 목록</a:t>
              </a:r>
            </a:p>
          </p:txBody>
        </p:sp>
        <p:sp>
          <p:nvSpPr>
            <p:cNvPr name="Freeform 51" id="51"/>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2" id="52"/>
          <p:cNvGrpSpPr/>
          <p:nvPr/>
        </p:nvGrpSpPr>
        <p:grpSpPr>
          <a:xfrm rot="0">
            <a:off x="3165348" y="7738632"/>
            <a:ext cx="4771754" cy="304800"/>
            <a:chOff x="0" y="0"/>
            <a:chExt cx="6362338" cy="406400"/>
          </a:xfrm>
        </p:grpSpPr>
        <p:sp>
          <p:nvSpPr>
            <p:cNvPr name="TextBox 53" id="53"/>
            <p:cNvSpPr txBox="true"/>
            <p:nvPr/>
          </p:nvSpPr>
          <p:spPr>
            <a:xfrm rot="0">
              <a:off x="303953" y="-76200"/>
              <a:ext cx="605838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![설명](이미지 경로)</a:t>
              </a:r>
            </a:p>
          </p:txBody>
        </p:sp>
        <p:sp>
          <p:nvSpPr>
            <p:cNvPr name="Freeform 54" id="54"/>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5" id="55"/>
          <p:cNvGrpSpPr/>
          <p:nvPr/>
        </p:nvGrpSpPr>
        <p:grpSpPr>
          <a:xfrm rot="0">
            <a:off x="10615438" y="4790276"/>
            <a:ext cx="4753583" cy="304800"/>
            <a:chOff x="0" y="0"/>
            <a:chExt cx="6338111" cy="406400"/>
          </a:xfrm>
        </p:grpSpPr>
        <p:sp>
          <p:nvSpPr>
            <p:cNvPr name="TextBox 56" id="56"/>
            <p:cNvSpPr txBox="true"/>
            <p:nvPr/>
          </p:nvSpPr>
          <p:spPr>
            <a:xfrm rot="0">
              <a:off x="303953" y="-76200"/>
              <a:ext cx="6034158"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`코드`   ``` 코드 블록 ```</a:t>
              </a:r>
            </a:p>
          </p:txBody>
        </p:sp>
        <p:sp>
          <p:nvSpPr>
            <p:cNvPr name="Freeform 57" id="57"/>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8" id="58"/>
          <p:cNvGrpSpPr/>
          <p:nvPr/>
        </p:nvGrpSpPr>
        <p:grpSpPr>
          <a:xfrm rot="0">
            <a:off x="10631382" y="7738632"/>
            <a:ext cx="4721694" cy="304800"/>
            <a:chOff x="0" y="0"/>
            <a:chExt cx="6295592" cy="406400"/>
          </a:xfrm>
        </p:grpSpPr>
        <p:sp>
          <p:nvSpPr>
            <p:cNvPr name="TextBox 59" id="59"/>
            <p:cNvSpPr txBox="true"/>
            <p:nvPr/>
          </p:nvSpPr>
          <p:spPr>
            <a:xfrm rot="0">
              <a:off x="303953" y="-76200"/>
              <a:ext cx="5991639"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$인라인 수식$   $$블록 수식$$</a:t>
              </a:r>
            </a:p>
          </p:txBody>
        </p:sp>
        <p:sp>
          <p:nvSpPr>
            <p:cNvPr name="Freeform 60" id="60"/>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sp>
        <p:nvSpPr>
          <p:cNvPr name="AutoShape 61" id="61"/>
          <p:cNvSpPr/>
          <p:nvPr/>
        </p:nvSpPr>
        <p:spPr>
          <a:xfrm>
            <a:off x="3020968" y="3946119"/>
            <a:ext cx="4728065" cy="0"/>
          </a:xfrm>
          <a:prstGeom prst="line">
            <a:avLst/>
          </a:prstGeom>
          <a:ln cap="rnd" w="9525">
            <a:solidFill>
              <a:srgbClr val="747EA3">
                <a:alpha val="29804"/>
              </a:srgbClr>
            </a:solidFill>
            <a:prstDash val="solid"/>
            <a:headEnd type="none" len="sm" w="sm"/>
            <a:tailEnd type="none" len="sm" w="sm"/>
          </a:ln>
        </p:spPr>
      </p:sp>
      <p:sp>
        <p:nvSpPr>
          <p:cNvPr name="AutoShape 62" id="62"/>
          <p:cNvSpPr/>
          <p:nvPr/>
        </p:nvSpPr>
        <p:spPr>
          <a:xfrm flipV="true">
            <a:off x="3020968" y="6894476"/>
            <a:ext cx="4728065" cy="0"/>
          </a:xfrm>
          <a:prstGeom prst="line">
            <a:avLst/>
          </a:prstGeom>
          <a:ln cap="rnd" w="9525">
            <a:solidFill>
              <a:srgbClr val="747EA3">
                <a:alpha val="29804"/>
              </a:srgbClr>
            </a:solidFill>
            <a:prstDash val="solid"/>
            <a:headEnd type="none" len="sm" w="sm"/>
            <a:tailEnd type="none" len="sm" w="sm"/>
          </a:ln>
        </p:spPr>
      </p:sp>
      <p:sp>
        <p:nvSpPr>
          <p:cNvPr name="AutoShape 63" id="63"/>
          <p:cNvSpPr/>
          <p:nvPr/>
        </p:nvSpPr>
        <p:spPr>
          <a:xfrm>
            <a:off x="10548493" y="3946119"/>
            <a:ext cx="4728065" cy="0"/>
          </a:xfrm>
          <a:prstGeom prst="line">
            <a:avLst/>
          </a:prstGeom>
          <a:ln cap="rnd" w="9525">
            <a:solidFill>
              <a:srgbClr val="747EA3">
                <a:alpha val="29804"/>
              </a:srgbClr>
            </a:solidFill>
            <a:prstDash val="solid"/>
            <a:headEnd type="none" len="sm" w="sm"/>
            <a:tailEnd type="none" len="sm" w="sm"/>
          </a:ln>
        </p:spPr>
      </p:sp>
      <p:sp>
        <p:nvSpPr>
          <p:cNvPr name="AutoShape 64" id="64"/>
          <p:cNvSpPr/>
          <p:nvPr/>
        </p:nvSpPr>
        <p:spPr>
          <a:xfrm>
            <a:off x="10615438" y="6894476"/>
            <a:ext cx="4661120" cy="0"/>
          </a:xfrm>
          <a:prstGeom prst="line">
            <a:avLst/>
          </a:prstGeom>
          <a:ln cap="rnd" w="9525">
            <a:solidFill>
              <a:srgbClr val="747EA3">
                <a:alpha val="29804"/>
              </a:srgbClr>
            </a:solidFill>
            <a:prstDash val="solid"/>
            <a:headEnd type="none" len="sm" w="sm"/>
            <a:tailEnd type="none" len="sm" w="sm"/>
          </a:ln>
        </p:spPr>
      </p:sp>
      <p:sp>
        <p:nvSpPr>
          <p:cNvPr name="TextBox 65" id="6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66" id="66"/>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- 16 -</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쉬는 시간</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801544"/>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수고했어요! 10분 휴식</a:t>
            </a:r>
          </a:p>
        </p:txBody>
      </p:sp>
      <p:sp>
        <p:nvSpPr>
          <p:cNvPr name="TextBox 18" id="18"/>
          <p:cNvSpPr txBox="true"/>
          <p:nvPr/>
        </p:nvSpPr>
        <p:spPr>
          <a:xfrm rot="0">
            <a:off x="3432477" y="6600042"/>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20:10에 다시 시작합니다</a:t>
            </a:r>
          </a:p>
        </p:txBody>
      </p:sp>
      <p:sp>
        <p:nvSpPr>
          <p:cNvPr name="TextBox 19" id="19"/>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다음 파트: Markdown vs HTML 토론!</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AI 결과물을 어떤 형식으로 받고 싶은지 생각해 보세요.</a:t>
            </a:r>
          </a:p>
        </p:txBody>
      </p:sp>
      <p:sp>
        <p:nvSpPr>
          <p:cNvPr name="TextBox 20" id="20"/>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Freeform 21" id="21" descr="녹차 한 잔과 노트북, 시계가 있는 휴식 일러스트"/>
          <p:cNvSpPr/>
          <p:nvPr/>
        </p:nvSpPr>
        <p:spPr>
          <a:xfrm flipH="false" flipV="false" rot="0">
            <a:off x="6191250" y="2143125"/>
            <a:ext cx="5905500" cy="3324225"/>
          </a:xfrm>
          <a:custGeom>
            <a:avLst/>
            <a:gdLst/>
            <a:ahLst/>
            <a:cxnLst/>
            <a:rect r="r" b="b" t="t" l="l"/>
            <a:pathLst>
              <a:path h="3324225" w="5905500">
                <a:moveTo>
                  <a:pt x="0" y="0"/>
                </a:moveTo>
                <a:lnTo>
                  <a:pt x="5905500" y="0"/>
                </a:lnTo>
                <a:lnTo>
                  <a:pt x="5905500" y="3324225"/>
                </a:lnTo>
                <a:lnTo>
                  <a:pt x="0" y="3324225"/>
                </a:lnTo>
                <a:lnTo>
                  <a:pt x="0" y="0"/>
                </a:lnTo>
                <a:close/>
              </a:path>
            </a:pathLst>
          </a:custGeom>
          <a:blipFill>
            <a:blip r:embed="rId5"/>
            <a:stretch>
              <a:fillRect l="-147" t="0" r="-147"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
        <p:nvSpPr>
          <p:cNvPr name="TextBox 18" id="18"/>
          <p:cNvSpPr txBox="true"/>
          <p:nvPr/>
        </p:nvSpPr>
        <p:spPr>
          <a:xfrm rot="0">
            <a:off x="2377195" y="2557664"/>
            <a:ext cx="14882105"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000000"/>
                </a:solidFill>
                <a:latin typeface="프리젠테이션 Bold"/>
                <a:ea typeface="프리젠테이션 Bold"/>
                <a:cs typeface="프리젠테이션 Bold"/>
                <a:sym typeface="프리젠테이션 Bold"/>
              </a:rPr>
              <a:t>PART 03</a:t>
            </a:r>
          </a:p>
        </p:txBody>
      </p:sp>
      <p:sp>
        <p:nvSpPr>
          <p:cNvPr name="TextBox 19" id="19"/>
          <p:cNvSpPr txBox="true"/>
          <p:nvPr/>
        </p:nvSpPr>
        <p:spPr>
          <a:xfrm rot="0">
            <a:off x="2377195" y="3813005"/>
            <a:ext cx="12382500" cy="1533894"/>
          </a:xfrm>
          <a:prstGeom prst="rect">
            <a:avLst/>
          </a:prstGeom>
        </p:spPr>
        <p:txBody>
          <a:bodyPr anchor="t" rtlCol="false" tIns="0" lIns="0" bIns="0" rIns="0">
            <a:spAutoFit/>
          </a:bodyPr>
          <a:lstStyle/>
          <a:p>
            <a:pPr algn="l" marL="0" indent="0" lvl="0">
              <a:lnSpc>
                <a:spcPts val="12193"/>
              </a:lnSpc>
              <a:spcBef>
                <a:spcPct val="0"/>
              </a:spcBef>
            </a:pPr>
            <a:r>
              <a:rPr lang="en-US" b="true" sz="9601" strike="noStrike" u="none">
                <a:solidFill>
                  <a:srgbClr val="5170FF"/>
                </a:solidFill>
                <a:latin typeface="프리젠테이션 Bold"/>
                <a:ea typeface="프리젠테이션 Bold"/>
                <a:cs typeface="프리젠테이션 Bold"/>
                <a:sym typeface="프리젠테이션 Bold"/>
              </a:rPr>
              <a:t>MD VS HTML</a:t>
            </a:r>
          </a:p>
        </p:txBody>
      </p:sp>
      <p:sp>
        <p:nvSpPr>
          <p:cNvPr name="TextBox 20" id="20"/>
          <p:cNvSpPr txBox="true"/>
          <p:nvPr/>
        </p:nvSpPr>
        <p:spPr>
          <a:xfrm rot="0">
            <a:off x="2461238" y="6029828"/>
            <a:ext cx="10520872" cy="341376"/>
          </a:xfrm>
          <a:prstGeom prst="rect">
            <a:avLst/>
          </a:prstGeom>
        </p:spPr>
        <p:txBody>
          <a:bodyPr anchor="t" rtlCol="false" tIns="0" lIns="0" bIns="0" rIns="0">
            <a:spAutoFit/>
          </a:bodyPr>
          <a:lstStyle/>
          <a:p>
            <a:pPr algn="l" marL="0" indent="0" lvl="0">
              <a:lnSpc>
                <a:spcPts val="2771"/>
              </a:lnSpc>
              <a:spcBef>
                <a:spcPct val="0"/>
              </a:spcBef>
            </a:pPr>
            <a:r>
              <a:rPr lang="en-US" b="true" sz="1799" spc="-17" strike="noStrike" u="none">
                <a:solidFill>
                  <a:srgbClr val="5170FF"/>
                </a:solidFill>
                <a:latin typeface="프리젠테이션 Bold"/>
                <a:ea typeface="프리젠테이션 Bold"/>
                <a:cs typeface="프리젠테이션 Bold"/>
                <a:sym typeface="프리젠테이션 Bold"/>
              </a:rPr>
              <a:t>⏱ 교육 시간 10분 · 토론 + HTML 보고서 데모</a:t>
            </a:r>
          </a:p>
        </p:txBody>
      </p:sp>
      <p:sp>
        <p:nvSpPr>
          <p:cNvPr name="TextBox 21" id="21"/>
          <p:cNvSpPr txBox="true"/>
          <p:nvPr/>
        </p:nvSpPr>
        <p:spPr>
          <a:xfrm rot="0">
            <a:off x="2443870" y="5460741"/>
            <a:ext cx="10953750" cy="456184"/>
          </a:xfrm>
          <a:prstGeom prst="rect">
            <a:avLst/>
          </a:prstGeom>
        </p:spPr>
        <p:txBody>
          <a:bodyPr anchor="t" rtlCol="false" tIns="0" lIns="0" bIns="0" rIns="0">
            <a:spAutoFit/>
          </a:bodyPr>
          <a:lstStyle/>
          <a:p>
            <a:pPr algn="l" marL="0" indent="0" lvl="0">
              <a:lnSpc>
                <a:spcPts val="3667"/>
              </a:lnSpc>
              <a:spcBef>
                <a:spcPct val="0"/>
              </a:spcBef>
            </a:pPr>
            <a:r>
              <a:rPr lang="en-US" b="true" sz="2799" spc="-114" strike="noStrike" u="none">
                <a:solidFill>
                  <a:srgbClr val="000000">
                    <a:alpha val="93725"/>
                  </a:srgbClr>
                </a:solidFill>
                <a:latin typeface="프리젠테이션 Bold"/>
                <a:ea typeface="프리젠테이션 Bold"/>
                <a:cs typeface="프리젠테이션 Bold"/>
                <a:sym typeface="프리젠테이션 Bold"/>
              </a:rPr>
              <a:t>AI 결과물은 어떤 형식으로 받을까?</a:t>
            </a:r>
          </a:p>
        </p:txBody>
      </p:sp>
      <p:sp>
        <p:nvSpPr>
          <p:cNvPr name="AutoShape 22" id="22"/>
          <p:cNvSpPr/>
          <p:nvPr/>
        </p:nvSpPr>
        <p:spPr>
          <a:xfrm flipH="true" flipV="true">
            <a:off x="4613382" y="7266893"/>
            <a:ext cx="0" cy="212812"/>
          </a:xfrm>
          <a:prstGeom prst="line">
            <a:avLst/>
          </a:prstGeom>
          <a:ln cap="flat" w="9525">
            <a:solidFill>
              <a:srgbClr val="222222">
                <a:alpha val="22745"/>
              </a:srgbClr>
            </a:solidFill>
            <a:prstDash val="solid"/>
            <a:headEnd type="none" len="sm" w="sm"/>
            <a:tailEnd type="none" len="sm" w="sm"/>
          </a:ln>
        </p:spPr>
      </p:sp>
      <p:sp>
        <p:nvSpPr>
          <p:cNvPr name="TextBox 23" id="23"/>
          <p:cNvSpPr txBox="true"/>
          <p:nvPr/>
        </p:nvSpPr>
        <p:spPr>
          <a:xfrm rot="0">
            <a:off x="2443870" y="7187244"/>
            <a:ext cx="2074261" cy="334010"/>
          </a:xfrm>
          <a:prstGeom prst="rect">
            <a:avLst/>
          </a:prstGeom>
        </p:spPr>
        <p:txBody>
          <a:bodyPr anchor="t" rtlCol="false" tIns="0" lIns="0" bIns="0" rIns="0">
            <a:spAutoFit/>
          </a:bodyPr>
          <a:lstStyle/>
          <a:p>
            <a:pPr algn="l" marL="0" indent="0" lvl="1">
              <a:lnSpc>
                <a:spcPts val="2620"/>
              </a:lnSpc>
              <a:spcBef>
                <a:spcPct val="0"/>
              </a:spcBef>
            </a:pPr>
            <a:r>
              <a:rPr lang="en-US" b="true" sz="2000" spc="-80" strike="noStrike" u="none">
                <a:solidFill>
                  <a:srgbClr val="222222"/>
                </a:solidFill>
                <a:latin typeface="프리젠테이션 Bold"/>
                <a:ea typeface="프리젠테이션 Bold"/>
                <a:cs typeface="프리젠테이션 Bold"/>
                <a:sym typeface="프리젠테이션 Bold"/>
              </a:rPr>
              <a:t>해달 교육운영진 </a:t>
            </a:r>
            <a:r>
              <a:rPr lang="en-US" b="true" sz="2000" spc="-80"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4" id="24"/>
          <p:cNvSpPr txBox="true"/>
          <p:nvPr/>
        </p:nvSpPr>
        <p:spPr>
          <a:xfrm rot="0">
            <a:off x="4873801" y="7278683"/>
            <a:ext cx="2358365" cy="246380"/>
          </a:xfrm>
          <a:prstGeom prst="rect">
            <a:avLst/>
          </a:prstGeom>
        </p:spPr>
        <p:txBody>
          <a:bodyPr anchor="t" rtlCol="false" tIns="0" lIns="0" bIns="0" rIns="0">
            <a:spAutoFit/>
          </a:bodyPr>
          <a:lstStyle/>
          <a:p>
            <a:pPr algn="just" marL="0" indent="0" lvl="0">
              <a:lnSpc>
                <a:spcPts val="1660"/>
              </a:lnSpc>
              <a:spcBef>
                <a:spcPct val="0"/>
              </a:spcBef>
            </a:pPr>
            <a:r>
              <a:rPr lang="en-US" b="true" sz="2000" spc="34" strike="noStrike" u="none">
                <a:solidFill>
                  <a:srgbClr val="000000"/>
                </a:solidFill>
                <a:latin typeface="프리젠테이션 Bold"/>
                <a:ea typeface="프리젠테이션 Bold"/>
                <a:cs typeface="프리젠테이션 Bold"/>
                <a:sym typeface="프리젠테이션 Bold"/>
              </a:rPr>
              <a:t>문의: 단톡방</a:t>
            </a:r>
          </a:p>
        </p:txBody>
      </p:sp>
      <p:sp>
        <p:nvSpPr>
          <p:cNvPr name="AutoShape 25" id="25"/>
          <p:cNvSpPr/>
          <p:nvPr/>
        </p:nvSpPr>
        <p:spPr>
          <a:xfrm>
            <a:off x="2461238" y="6934831"/>
            <a:ext cx="8718036" cy="0"/>
          </a:xfrm>
          <a:prstGeom prst="line">
            <a:avLst/>
          </a:prstGeom>
          <a:ln cap="flat" w="9525">
            <a:solidFill>
              <a:srgbClr val="222222">
                <a:alpha val="22745"/>
              </a:srgbClr>
            </a:solidFill>
            <a:prstDash val="solid"/>
            <a:headEnd type="none" len="sm" w="sm"/>
            <a:tailEnd type="none" len="sm" w="sm"/>
          </a:ln>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AI가 텍스트 문서와 웹 대시보드 보고서를 내밀고 사람이 고민하는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0" t="-3714" r="0" b="-3714"/>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AI는 둘 다 잘 만들어요</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관건은 '누가, 얼마나' 읽나</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사람 + AI 모두 고려하기</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두 가지 선택지</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AI 결과물, 어떤 형식으로?</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Markdown: 텍스트 문서 (.md)</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HTML: 웹페이지 보고서 (.html)</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상황에 따라 골라 쓰기!</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- 19 -</a:t>
            </a:r>
          </a:p>
        </p:txBody>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Markdown vs HTML 비교</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17" id="17"/>
          <p:cNvGraphicFramePr>
            <a:graphicFrameLocks noGrp="true"/>
          </p:cNvGraphicFramePr>
          <p:nvPr/>
        </p:nvGraphicFramePr>
        <p:xfrm>
          <a:off x="1717296" y="3731994"/>
          <a:ext cx="14853407" cy="3917157"/>
        </p:xfrm>
        <a:graphic>
          <a:graphicData uri="http://schemas.openxmlformats.org/drawingml/2006/table">
            <a:tbl>
              <a:tblPr/>
              <a:tblGrid>
                <a:gridCol w="3495006"/>
                <a:gridCol w="3931697"/>
                <a:gridCol w="7426704"/>
              </a:tblGrid>
              <a:tr h="899920">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비교 항목</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Markdown</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c>
                  <a:txBody>
                    <a:bodyPr anchor="t" rtlCol="false"/>
                    <a:lstStyle/>
                    <a:p>
                      <a:pPr algn="ctr" marL="0" indent="0" lvl="0">
                        <a:lnSpc>
                          <a:spcPts val="3359"/>
                        </a:lnSpc>
                        <a:spcBef>
                          <a:spcPct val="0"/>
                        </a:spcBef>
                        <a:defRPr/>
                      </a:pPr>
                      <a:r>
                        <a:rPr lang="en-US" b="true" sz="2400" strike="noStrike" u="none">
                          <a:solidFill>
                            <a:srgbClr val="FEFEFE"/>
                          </a:solidFill>
                          <a:latin typeface="프리젠테이션 Bold"/>
                          <a:ea typeface="프리젠테이션 Bold"/>
                          <a:cs typeface="프리젠테이션 Bold"/>
                          <a:sym typeface="프리젠테이션 Bold"/>
                        </a:rPr>
                        <a:t>HTML</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5170FF"/>
                    </a:solidFill>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사람이 읽기</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 원본도 OK</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 브라우저로 열어야 보기 좋음</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AI가 다루기</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 가볍고 정확</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 태그가 많아 길고 무거움</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변경 추적</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 한 줄씩 비교</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sz="1950" strike="noStrike" u="none">
                          <a:solidFill>
                            <a:srgbClr val="333333"/>
                          </a:solidFill>
                          <a:latin typeface="프리젠테이션"/>
                          <a:ea typeface="프리젠테이션"/>
                          <a:cs typeface="프리젠테이션"/>
                          <a:sym typeface="프리젠테이션"/>
                        </a:rPr>
                        <a:t>🔺 코드가 섞여 Git으로 비교하기 어려움</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r h="754309">
                <a:tc>
                  <a:txBody>
                    <a:bodyPr anchor="t" rtlCol="false"/>
                    <a:lstStyle/>
                    <a:p>
                      <a:pPr algn="ctr" marL="0" indent="0" lvl="0">
                        <a:lnSpc>
                          <a:spcPts val="2800"/>
                        </a:lnSpc>
                        <a:spcBef>
                          <a:spcPct val="0"/>
                        </a:spcBef>
                        <a:defRPr/>
                      </a:pPr>
                      <a:r>
                        <a:rPr lang="en-US" b="true" sz="2000" strike="noStrike" u="none">
                          <a:solidFill>
                            <a:srgbClr val="333333"/>
                          </a:solidFill>
                          <a:latin typeface="프리젠테이션 Bold"/>
                          <a:ea typeface="프리젠테이션 Bold"/>
                          <a:cs typeface="프리젠테이션 Bold"/>
                          <a:sym typeface="프리젠테이션 Bold"/>
                        </a:rPr>
                        <a:t>시각적 보고</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solidFill>
                      <a:srgbClr val="F5F5F5"/>
                    </a:solidFill>
                  </a:tcPr>
                </a:tc>
                <a:tc>
                  <a:txBody>
                    <a:bodyPr anchor="t" rtlCol="false"/>
                    <a:lstStyle/>
                    <a:p>
                      <a:pPr algn="ctr" marL="0" indent="0" lvl="0">
                        <a:lnSpc>
                          <a:spcPts val="2729"/>
                        </a:lnSpc>
                        <a:spcBef>
                          <a:spcPct val="0"/>
                        </a:spcBef>
                        <a:defRPr/>
                      </a:pPr>
                      <a:r>
                        <a:rPr lang="en-US" b="true" sz="1950" strike="noStrike" u="none">
                          <a:solidFill>
                            <a:srgbClr val="333333"/>
                          </a:solidFill>
                          <a:latin typeface="프리젠테이션 Bold"/>
                          <a:ea typeface="프리젠테이션 Bold"/>
                          <a:cs typeface="프리젠테이션 Bold"/>
                          <a:sym typeface="프리젠테이션 Bold"/>
                        </a:rPr>
                        <a:t>🔺 단순한 문서</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c>
                  <a:txBody>
                    <a:bodyPr anchor="t" rtlCol="false"/>
                    <a:lstStyle/>
                    <a:p>
                      <a:pPr algn="ctr" marL="0" indent="0" lvl="0">
                        <a:lnSpc>
                          <a:spcPts val="2729"/>
                        </a:lnSpc>
                        <a:spcBef>
                          <a:spcPct val="0"/>
                        </a:spcBef>
                        <a:defRPr/>
                      </a:pPr>
                      <a:r>
                        <a:rPr lang="en-US" b="true" sz="1950" strike="noStrike" u="none">
                          <a:solidFill>
                            <a:srgbClr val="5170FF"/>
                          </a:solidFill>
                          <a:latin typeface="프리젠테이션 Bold"/>
                          <a:ea typeface="프리젠테이션 Bold"/>
                          <a:cs typeface="프리젠테이션 Bold"/>
                          <a:sym typeface="프리젠테이션 Bold"/>
                        </a:rPr>
                        <a:t>⭕ 카드 · 색 · 차트로 한눈에!</a:t>
                      </a:r>
                      <a:endParaRPr lang="en-US" sz="1100"/>
                    </a:p>
                  </a:txBody>
                  <a:tcPr marL="190500" marR="190500" marT="190500" marB="190500" anchor="ctr">
                    <a:lnL cmpd="sng" algn="ctr" cap="flat" w="9525">
                      <a:solidFill>
                        <a:srgbClr val="B3B3B3"/>
                      </a:solidFill>
                      <a:prstDash val="solid"/>
                      <a:round/>
                      <a:headEnd type="none" w="med" len="med"/>
                      <a:tailEnd type="none" w="med" len="med"/>
                    </a:lnL>
                    <a:lnR cmpd="sng" algn="ctr" cap="flat" w="9525">
                      <a:solidFill>
                        <a:srgbClr val="B3B3B3"/>
                      </a:solidFill>
                      <a:prstDash val="solid"/>
                      <a:round/>
                      <a:headEnd type="none" w="med" len="med"/>
                      <a:tailEnd type="none" w="med" len="med"/>
                    </a:lnR>
                    <a:lnT cmpd="sng" algn="ctr" cap="flat" w="9525">
                      <a:solidFill>
                        <a:srgbClr val="B3B3B3"/>
                      </a:solidFill>
                      <a:prstDash val="solid"/>
                      <a:round/>
                      <a:headEnd type="none" w="med" len="med"/>
                      <a:tailEnd type="none" w="med" len="med"/>
                    </a:lnT>
                    <a:lnB cmpd="sng" algn="ctr" cap="flat" w="9525">
                      <a:solidFill>
                        <a:srgbClr val="B3B3B3"/>
                      </a:solidFill>
                      <a:prstDash val="solid"/>
                      <a:round/>
                      <a:headEnd type="none" w="med" len="med"/>
                      <a:tailEnd type="none" w="med" len="med"/>
                    </a:lnB>
                  </a:tcPr>
                </a:tc>
              </a:tr>
            </a:tbl>
          </a:graphicData>
        </a:graphic>
      </p:graphicFrame>
      <p:sp>
        <p:nvSpPr>
          <p:cNvPr name="TextBox 18" id="18"/>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19" id="19"/>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- 20 -</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토론 타임</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801544"/>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AI 결과물, Markdown vs HTML?</a:t>
            </a:r>
          </a:p>
        </p:txBody>
      </p:sp>
      <p:sp>
        <p:nvSpPr>
          <p:cNvPr name="TextBox 18" id="18"/>
          <p:cNvSpPr txBox="true"/>
          <p:nvPr/>
        </p:nvSpPr>
        <p:spPr>
          <a:xfrm rot="0">
            <a:off x="3432477" y="6600042"/>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여러분의 선택은?</a:t>
            </a:r>
          </a:p>
        </p:txBody>
      </p:sp>
      <p:sp>
        <p:nvSpPr>
          <p:cNvPr name="Freeform 19" id="19"/>
          <p:cNvSpPr/>
          <p:nvPr/>
        </p:nvSpPr>
        <p:spPr>
          <a:xfrm flipH="true" flipV="false" rot="0">
            <a:off x="7153634" y="3343132"/>
            <a:ext cx="2003592" cy="1570315"/>
          </a:xfrm>
          <a:custGeom>
            <a:avLst/>
            <a:gdLst/>
            <a:ahLst/>
            <a:cxnLst/>
            <a:rect r="r" b="b" t="t" l="l"/>
            <a:pathLst>
              <a:path h="1570315" w="2003592">
                <a:moveTo>
                  <a:pt x="2003593" y="0"/>
                </a:moveTo>
                <a:lnTo>
                  <a:pt x="0" y="0"/>
                </a:lnTo>
                <a:lnTo>
                  <a:pt x="0" y="1570316"/>
                </a:lnTo>
                <a:lnTo>
                  <a:pt x="2003593" y="1570316"/>
                </a:lnTo>
                <a:lnTo>
                  <a:pt x="2003593"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0" id="20"/>
          <p:cNvSpPr/>
          <p:nvPr/>
        </p:nvSpPr>
        <p:spPr>
          <a:xfrm flipH="false" flipV="false" rot="0">
            <a:off x="9133758" y="3914364"/>
            <a:ext cx="2003592" cy="1570315"/>
          </a:xfrm>
          <a:custGeom>
            <a:avLst/>
            <a:gdLst/>
            <a:ahLst/>
            <a:cxnLst/>
            <a:rect r="r" b="b" t="t" l="l"/>
            <a:pathLst>
              <a:path h="1570315" w="2003592">
                <a:moveTo>
                  <a:pt x="0" y="0"/>
                </a:moveTo>
                <a:lnTo>
                  <a:pt x="2003592" y="0"/>
                </a:lnTo>
                <a:lnTo>
                  <a:pt x="2003592" y="1570315"/>
                </a:lnTo>
                <a:lnTo>
                  <a:pt x="0" y="157031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1" id="21"/>
          <p:cNvSpPr txBox="true"/>
          <p:nvPr/>
        </p:nvSpPr>
        <p:spPr>
          <a:xfrm rot="0">
            <a:off x="7291556" y="3386575"/>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Q</a:t>
            </a:r>
          </a:p>
        </p:txBody>
      </p:sp>
      <p:sp>
        <p:nvSpPr>
          <p:cNvPr name="TextBox 22" id="22"/>
          <p:cNvSpPr txBox="true"/>
          <p:nvPr/>
        </p:nvSpPr>
        <p:spPr>
          <a:xfrm rot="0">
            <a:off x="9271679" y="3957807"/>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A</a:t>
            </a:r>
          </a:p>
        </p:txBody>
      </p:sp>
      <p:sp>
        <p:nvSpPr>
          <p:cNvPr name="TextBox 23" id="23"/>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나는 어떤 상황에서 어떤 형식이 좋을까?</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옆 사람과 1분 이야기 → 2~3명 발표</a:t>
            </a:r>
          </a:p>
        </p:txBody>
      </p:sp>
      <p:sp>
        <p:nvSpPr>
          <p:cNvPr name="TextBox 24" id="24"/>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강사의 생각</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AutoShape 17" id="17"/>
          <p:cNvSpPr/>
          <p:nvPr/>
        </p:nvSpPr>
        <p:spPr>
          <a:xfrm>
            <a:off x="6024486" y="2898323"/>
            <a:ext cx="0" cy="1053640"/>
          </a:xfrm>
          <a:prstGeom prst="line">
            <a:avLst/>
          </a:prstGeom>
          <a:ln cap="flat" w="9525">
            <a:solidFill>
              <a:srgbClr val="50535F"/>
            </a:solidFill>
            <a:prstDash val="solid"/>
            <a:headEnd type="none" len="sm" w="sm"/>
            <a:tailEnd type="none" len="sm" w="sm"/>
          </a:ln>
        </p:spPr>
      </p:sp>
      <p:sp>
        <p:nvSpPr>
          <p:cNvPr name="TextBox 18" id="18"/>
          <p:cNvSpPr txBox="true"/>
          <p:nvPr/>
        </p:nvSpPr>
        <p:spPr>
          <a:xfrm rot="0">
            <a:off x="3048547" y="3118668"/>
            <a:ext cx="263252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한 줄 결론</a:t>
            </a:r>
          </a:p>
        </p:txBody>
      </p:sp>
      <p:sp>
        <p:nvSpPr>
          <p:cNvPr name="Freeform 19" id="19"/>
          <p:cNvSpPr/>
          <p:nvPr/>
        </p:nvSpPr>
        <p:spPr>
          <a:xfrm flipH="false" flipV="false" rot="0">
            <a:off x="1983625" y="3078692"/>
            <a:ext cx="840475" cy="714403"/>
          </a:xfrm>
          <a:custGeom>
            <a:avLst/>
            <a:gdLst/>
            <a:ahLst/>
            <a:cxnLst/>
            <a:rect r="r" b="b" t="t" l="l"/>
            <a:pathLst>
              <a:path h="714403" w="840475">
                <a:moveTo>
                  <a:pt x="0" y="0"/>
                </a:moveTo>
                <a:lnTo>
                  <a:pt x="840474" y="0"/>
                </a:lnTo>
                <a:lnTo>
                  <a:pt x="840474" y="714404"/>
                </a:lnTo>
                <a:lnTo>
                  <a:pt x="0" y="71440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0" id="20"/>
          <p:cNvSpPr txBox="true"/>
          <p:nvPr/>
        </p:nvSpPr>
        <p:spPr>
          <a:xfrm rot="0">
            <a:off x="6506746" y="2933210"/>
            <a:ext cx="9816540" cy="9086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평소 기록·추적은 Markdown,</a:t>
            </a:r>
          </a:p>
          <a:p>
            <a:pPr algn="l" marL="0" indent="0" lvl="0">
              <a:lnSpc>
                <a:spcPts val="3600"/>
              </a:lnSpc>
              <a:spcBef>
                <a:spcPct val="0"/>
              </a:spcBef>
            </a:pPr>
            <a:r>
              <a:rPr lang="en-US" b="true" sz="2400" spc="-48" strike="noStrike" u="none">
                <a:solidFill>
                  <a:srgbClr val="747EA3"/>
                </a:solidFill>
                <a:latin typeface="프리젠테이션 Bold"/>
                <a:ea typeface="프리젠테이션 Bold"/>
                <a:cs typeface="프리젠테이션 Bold"/>
                <a:sym typeface="프리젠테이션 Bold"/>
              </a:rPr>
              <a:t>양이 많은 결과 보고는 HTML로!</a:t>
            </a:r>
          </a:p>
        </p:txBody>
      </p:sp>
      <p:grpSp>
        <p:nvGrpSpPr>
          <p:cNvPr name="Group 21" id="21"/>
          <p:cNvGrpSpPr/>
          <p:nvPr/>
        </p:nvGrpSpPr>
        <p:grpSpPr>
          <a:xfrm rot="0">
            <a:off x="1705928" y="4639191"/>
            <a:ext cx="4832311" cy="3960188"/>
            <a:chOff x="0" y="0"/>
            <a:chExt cx="1272707" cy="1043013"/>
          </a:xfrm>
        </p:grpSpPr>
        <p:sp>
          <p:nvSpPr>
            <p:cNvPr name="Freeform 22" id="22"/>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3" id="23"/>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4" id="24"/>
          <p:cNvGrpSpPr/>
          <p:nvPr/>
        </p:nvGrpSpPr>
        <p:grpSpPr>
          <a:xfrm rot="0">
            <a:off x="6726923" y="4639191"/>
            <a:ext cx="4832311" cy="3960188"/>
            <a:chOff x="0" y="0"/>
            <a:chExt cx="1272707" cy="1043013"/>
          </a:xfrm>
        </p:grpSpPr>
        <p:sp>
          <p:nvSpPr>
            <p:cNvPr name="Freeform 25" id="25"/>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6" id="26"/>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grpSp>
        <p:nvGrpSpPr>
          <p:cNvPr name="Group 27" id="27"/>
          <p:cNvGrpSpPr/>
          <p:nvPr/>
        </p:nvGrpSpPr>
        <p:grpSpPr>
          <a:xfrm rot="0">
            <a:off x="11747917" y="4639191"/>
            <a:ext cx="4832311" cy="3960188"/>
            <a:chOff x="0" y="0"/>
            <a:chExt cx="1272707" cy="1043013"/>
          </a:xfrm>
        </p:grpSpPr>
        <p:sp>
          <p:nvSpPr>
            <p:cNvPr name="Freeform 28" id="28"/>
            <p:cNvSpPr/>
            <p:nvPr/>
          </p:nvSpPr>
          <p:spPr>
            <a:xfrm flipH="false" flipV="false" rot="0">
              <a:off x="0" y="0"/>
              <a:ext cx="1272707" cy="1043012"/>
            </a:xfrm>
            <a:custGeom>
              <a:avLst/>
              <a:gdLst/>
              <a:ahLst/>
              <a:cxnLst/>
              <a:rect r="r" b="b" t="t" l="l"/>
              <a:pathLst>
                <a:path h="1043012" w="1272707">
                  <a:moveTo>
                    <a:pt x="24032" y="0"/>
                  </a:moveTo>
                  <a:lnTo>
                    <a:pt x="1248676" y="0"/>
                  </a:lnTo>
                  <a:cubicBezTo>
                    <a:pt x="1261948" y="0"/>
                    <a:pt x="1272707" y="10759"/>
                    <a:pt x="1272707" y="24032"/>
                  </a:cubicBezTo>
                  <a:lnTo>
                    <a:pt x="1272707" y="1018981"/>
                  </a:lnTo>
                  <a:cubicBezTo>
                    <a:pt x="1272707" y="1032253"/>
                    <a:pt x="1261948" y="1043012"/>
                    <a:pt x="1248676" y="1043012"/>
                  </a:cubicBezTo>
                  <a:lnTo>
                    <a:pt x="24032" y="1043012"/>
                  </a:lnTo>
                  <a:cubicBezTo>
                    <a:pt x="17658" y="1043012"/>
                    <a:pt x="11546" y="1040481"/>
                    <a:pt x="7039" y="1035974"/>
                  </a:cubicBezTo>
                  <a:cubicBezTo>
                    <a:pt x="2532" y="1031467"/>
                    <a:pt x="0" y="1025354"/>
                    <a:pt x="0" y="1018981"/>
                  </a:cubicBezTo>
                  <a:lnTo>
                    <a:pt x="0" y="24032"/>
                  </a:lnTo>
                  <a:cubicBezTo>
                    <a:pt x="0" y="10759"/>
                    <a:pt x="10759" y="0"/>
                    <a:pt x="24032" y="0"/>
                  </a:cubicBezTo>
                  <a:close/>
                </a:path>
              </a:pathLst>
            </a:custGeom>
            <a:solidFill>
              <a:srgbClr val="747EA3"/>
            </a:solidFill>
            <a:ln cap="sq">
              <a:noFill/>
              <a:prstDash val="solid"/>
              <a:miter/>
            </a:ln>
          </p:spPr>
        </p:sp>
        <p:sp>
          <p:nvSpPr>
            <p:cNvPr name="TextBox 29" id="29"/>
            <p:cNvSpPr txBox="true"/>
            <p:nvPr/>
          </p:nvSpPr>
          <p:spPr>
            <a:xfrm>
              <a:off x="0" y="-28575"/>
              <a:ext cx="1272707" cy="1071588"/>
            </a:xfrm>
            <a:prstGeom prst="rect">
              <a:avLst/>
            </a:prstGeom>
          </p:spPr>
          <p:txBody>
            <a:bodyPr anchor="ctr" rtlCol="false" tIns="50800" lIns="50800" bIns="50800" rIns="50800"/>
            <a:lstStyle/>
            <a:p>
              <a:pPr algn="ctr" marL="0" indent="0" lvl="0">
                <a:lnSpc>
                  <a:spcPts val="2659"/>
                </a:lnSpc>
                <a:spcBef>
                  <a:spcPct val="0"/>
                </a:spcBef>
              </a:pPr>
            </a:p>
          </p:txBody>
        </p:sp>
      </p:grpSp>
      <p:sp>
        <p:nvSpPr>
          <p:cNvPr name="TextBox 30" id="30"/>
          <p:cNvSpPr txBox="true"/>
          <p:nvPr/>
        </p:nvSpPr>
        <p:spPr>
          <a:xfrm rot="0">
            <a:off x="2212939" y="6825195"/>
            <a:ext cx="381154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사람과 AI 모두 읽기 좋고</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Git으로 변경 추적이 쉬움 → MD</a:t>
            </a:r>
          </a:p>
        </p:txBody>
      </p:sp>
      <p:sp>
        <p:nvSpPr>
          <p:cNvPr name="TextBox 31" id="31"/>
          <p:cNvSpPr txBox="true"/>
          <p:nvPr/>
        </p:nvSpPr>
        <p:spPr>
          <a:xfrm rot="0">
            <a:off x="7233350" y="6825195"/>
            <a:ext cx="3819457"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Obsidian == Markdown 기반</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노트 앱 (AI 관여 최소) → MD</a:t>
            </a:r>
          </a:p>
        </p:txBody>
      </p:sp>
      <p:sp>
        <p:nvSpPr>
          <p:cNvPr name="TextBox 32" id="32"/>
          <p:cNvSpPr txBox="true"/>
          <p:nvPr/>
        </p:nvSpPr>
        <p:spPr>
          <a:xfrm rot="0">
            <a:off x="12250849" y="6825195"/>
            <a:ext cx="3767925" cy="762000"/>
          </a:xfrm>
          <a:prstGeom prst="rect">
            <a:avLst/>
          </a:prstGeom>
        </p:spPr>
        <p:txBody>
          <a:bodyPr anchor="t" rtlCol="false" tIns="0" lIns="0" bIns="0" rIns="0">
            <a:spAutoFit/>
          </a:bodyPr>
          <a:lstStyle/>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다 읽기 힘든 결과물은</a:t>
            </a:r>
          </a:p>
          <a:p>
            <a:pPr algn="ctr" marL="0" indent="0" lvl="0">
              <a:lnSpc>
                <a:spcPts val="3000"/>
              </a:lnSpc>
              <a:spcBef>
                <a:spcPct val="0"/>
              </a:spcBef>
            </a:pPr>
            <a:r>
              <a:rPr lang="en-US" b="true" sz="2000" spc="-40" strike="noStrike" u="none">
                <a:solidFill>
                  <a:srgbClr val="FEFEFE">
                    <a:alpha val="81961"/>
                  </a:srgbClr>
                </a:solidFill>
                <a:latin typeface="프리젠테이션 Bold"/>
                <a:ea typeface="프리젠테이션 Bold"/>
                <a:cs typeface="프리젠테이션 Bold"/>
                <a:sym typeface="프리젠테이션 Bold"/>
              </a:rPr>
              <a:t>HTML 한 장으로 요약 → HTML</a:t>
            </a:r>
          </a:p>
        </p:txBody>
      </p:sp>
      <p:sp>
        <p:nvSpPr>
          <p:cNvPr name="TextBox 33" id="33"/>
          <p:cNvSpPr txBox="true"/>
          <p:nvPr/>
        </p:nvSpPr>
        <p:spPr>
          <a:xfrm rot="0">
            <a:off x="1815302"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기록 · 추적</a:t>
            </a:r>
          </a:p>
        </p:txBody>
      </p:sp>
      <p:sp>
        <p:nvSpPr>
          <p:cNvPr name="TextBox 34" id="34"/>
          <p:cNvSpPr txBox="true"/>
          <p:nvPr/>
        </p:nvSpPr>
        <p:spPr>
          <a:xfrm rot="0">
            <a:off x="6839668"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가벼운 노트</a:t>
            </a:r>
          </a:p>
        </p:txBody>
      </p:sp>
      <p:sp>
        <p:nvSpPr>
          <p:cNvPr name="TextBox 35" id="35"/>
          <p:cNvSpPr txBox="true"/>
          <p:nvPr/>
        </p:nvSpPr>
        <p:spPr>
          <a:xfrm rot="0">
            <a:off x="11864034" y="5598734"/>
            <a:ext cx="4606821" cy="549529"/>
          </a:xfrm>
          <a:prstGeom prst="rect">
            <a:avLst/>
          </a:prstGeom>
        </p:spPr>
        <p:txBody>
          <a:bodyPr anchor="t" rtlCol="false" tIns="0" lIns="0" bIns="0" rIns="0">
            <a:spAutoFit/>
          </a:bodyPr>
          <a:lstStyle/>
          <a:p>
            <a:pPr algn="ctr" marL="0" indent="0" lvl="0">
              <a:lnSpc>
                <a:spcPts val="4507"/>
              </a:lnSpc>
              <a:spcBef>
                <a:spcPct val="0"/>
              </a:spcBef>
            </a:pPr>
            <a:r>
              <a:rPr lang="en-US" b="true" sz="2799" spc="-97" strike="noStrike" u="none">
                <a:solidFill>
                  <a:srgbClr val="FEFEFE"/>
                </a:solidFill>
                <a:latin typeface="프리젠테이션 Bold"/>
                <a:ea typeface="프리젠테이션 Bold"/>
                <a:cs typeface="프리젠테이션 Bold"/>
                <a:sym typeface="프리젠테이션 Bold"/>
              </a:rPr>
              <a:t>대량 보고</a:t>
            </a:r>
          </a:p>
        </p:txBody>
      </p:sp>
      <p:sp>
        <p:nvSpPr>
          <p:cNvPr name="AutoShape 36" id="36"/>
          <p:cNvSpPr/>
          <p:nvPr/>
        </p:nvSpPr>
        <p:spPr>
          <a:xfrm>
            <a:off x="2037627" y="6457826"/>
            <a:ext cx="4162171" cy="0"/>
          </a:xfrm>
          <a:prstGeom prst="line">
            <a:avLst/>
          </a:prstGeom>
          <a:ln cap="rnd" w="9525">
            <a:solidFill>
              <a:srgbClr val="FEFEFE"/>
            </a:solidFill>
            <a:prstDash val="solid"/>
            <a:headEnd type="none" len="sm" w="sm"/>
            <a:tailEnd type="none" len="sm" w="sm"/>
          </a:ln>
        </p:spPr>
      </p:sp>
      <p:sp>
        <p:nvSpPr>
          <p:cNvPr name="AutoShape 37" id="37"/>
          <p:cNvSpPr/>
          <p:nvPr/>
        </p:nvSpPr>
        <p:spPr>
          <a:xfrm>
            <a:off x="7061993" y="6457826"/>
            <a:ext cx="4162171" cy="0"/>
          </a:xfrm>
          <a:prstGeom prst="line">
            <a:avLst/>
          </a:prstGeom>
          <a:ln cap="rnd" w="9525">
            <a:solidFill>
              <a:srgbClr val="FEFEFE"/>
            </a:solidFill>
            <a:prstDash val="solid"/>
            <a:headEnd type="none" len="sm" w="sm"/>
            <a:tailEnd type="none" len="sm" w="sm"/>
          </a:ln>
        </p:spPr>
      </p:sp>
      <p:sp>
        <p:nvSpPr>
          <p:cNvPr name="AutoShape 38" id="38"/>
          <p:cNvSpPr/>
          <p:nvPr/>
        </p:nvSpPr>
        <p:spPr>
          <a:xfrm>
            <a:off x="12086359" y="6457826"/>
            <a:ext cx="4162171" cy="0"/>
          </a:xfrm>
          <a:prstGeom prst="line">
            <a:avLst/>
          </a:prstGeom>
          <a:ln cap="rnd" w="9525">
            <a:solidFill>
              <a:srgbClr val="FEFEFE"/>
            </a:solidFill>
            <a:prstDash val="solid"/>
            <a:headEnd type="none" len="sm" w="sm"/>
            <a:tailEnd type="none" len="sm" w="sm"/>
          </a:ln>
        </p:spPr>
      </p:sp>
      <p:sp>
        <p:nvSpPr>
          <p:cNvPr name="TextBox 39" id="39"/>
          <p:cNvSpPr txBox="true"/>
          <p:nvPr/>
        </p:nvSpPr>
        <p:spPr>
          <a:xfrm rot="0">
            <a:off x="2893526"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상황 01</a:t>
            </a:r>
          </a:p>
        </p:txBody>
      </p:sp>
      <p:sp>
        <p:nvSpPr>
          <p:cNvPr name="TextBox 40" id="40"/>
          <p:cNvSpPr txBox="true"/>
          <p:nvPr/>
        </p:nvSpPr>
        <p:spPr>
          <a:xfrm rot="0">
            <a:off x="7947534"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상황 02</a:t>
            </a:r>
          </a:p>
        </p:txBody>
      </p:sp>
      <p:sp>
        <p:nvSpPr>
          <p:cNvPr name="TextBox 41" id="41"/>
          <p:cNvSpPr txBox="true"/>
          <p:nvPr/>
        </p:nvSpPr>
        <p:spPr>
          <a:xfrm rot="0">
            <a:off x="12939267" y="5218788"/>
            <a:ext cx="2483896" cy="189484"/>
          </a:xfrm>
          <a:prstGeom prst="rect">
            <a:avLst/>
          </a:prstGeom>
        </p:spPr>
        <p:txBody>
          <a:bodyPr anchor="t" rtlCol="false" tIns="0" lIns="0" bIns="0" rIns="0">
            <a:spAutoFit/>
          </a:bodyPr>
          <a:lstStyle/>
          <a:p>
            <a:pPr algn="ctr" marL="0" indent="0" lvl="0">
              <a:lnSpc>
                <a:spcPts val="1327"/>
              </a:lnSpc>
              <a:spcBef>
                <a:spcPct val="0"/>
              </a:spcBef>
            </a:pPr>
            <a:r>
              <a:rPr lang="en-US" b="true" sz="1599" spc="95" strike="noStrike" u="none">
                <a:solidFill>
                  <a:srgbClr val="FEFEFE"/>
                </a:solidFill>
                <a:latin typeface="프리젠테이션 Bold"/>
                <a:ea typeface="프리젠테이션 Bold"/>
                <a:cs typeface="프리젠테이션 Bold"/>
                <a:sym typeface="프리젠테이션 Bold"/>
              </a:rPr>
              <a:t>상황 03</a:t>
            </a:r>
          </a:p>
        </p:txBody>
      </p:sp>
      <p:sp>
        <p:nvSpPr>
          <p:cNvPr name="Freeform 42" id="42"/>
          <p:cNvSpPr/>
          <p:nvPr/>
        </p:nvSpPr>
        <p:spPr>
          <a:xfrm flipH="false" flipV="false" rot="0">
            <a:off x="3173163"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3" id="43"/>
          <p:cNvSpPr/>
          <p:nvPr/>
        </p:nvSpPr>
        <p:spPr>
          <a:xfrm flipH="false" flipV="false" rot="0">
            <a:off x="8233976" y="5212756"/>
            <a:ext cx="180073" cy="137305"/>
          </a:xfrm>
          <a:custGeom>
            <a:avLst/>
            <a:gdLst/>
            <a:ahLst/>
            <a:cxnLst/>
            <a:rect r="r" b="b" t="t" l="l"/>
            <a:pathLst>
              <a:path h="137305" w="180073">
                <a:moveTo>
                  <a:pt x="0" y="0"/>
                </a:moveTo>
                <a:lnTo>
                  <a:pt x="180073" y="0"/>
                </a:lnTo>
                <a:lnTo>
                  <a:pt x="180073"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44" id="44"/>
          <p:cNvSpPr/>
          <p:nvPr/>
        </p:nvSpPr>
        <p:spPr>
          <a:xfrm flipH="false" flipV="false" rot="0">
            <a:off x="13207771" y="5212756"/>
            <a:ext cx="180073" cy="137305"/>
          </a:xfrm>
          <a:custGeom>
            <a:avLst/>
            <a:gdLst/>
            <a:ahLst/>
            <a:cxnLst/>
            <a:rect r="r" b="b" t="t" l="l"/>
            <a:pathLst>
              <a:path h="137305" w="180073">
                <a:moveTo>
                  <a:pt x="0" y="0"/>
                </a:moveTo>
                <a:lnTo>
                  <a:pt x="180072" y="0"/>
                </a:lnTo>
                <a:lnTo>
                  <a:pt x="180072" y="137305"/>
                </a:lnTo>
                <a:lnTo>
                  <a:pt x="0" y="13730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45" id="4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46" id="46"/>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- 22 -</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HTML 보고서 구성법</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7" id="17"/>
          <p:cNvGrpSpPr/>
          <p:nvPr/>
        </p:nvGrpSpPr>
        <p:grpSpPr>
          <a:xfrm rot="0">
            <a:off x="1717296" y="2898323"/>
            <a:ext cx="7335408" cy="2752701"/>
            <a:chOff x="0" y="0"/>
            <a:chExt cx="1931959" cy="724991"/>
          </a:xfrm>
        </p:grpSpPr>
        <p:sp>
          <p:nvSpPr>
            <p:cNvPr name="Freeform 18" id="18"/>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19" id="19"/>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0" id="20"/>
          <p:cNvGrpSpPr/>
          <p:nvPr/>
        </p:nvGrpSpPr>
        <p:grpSpPr>
          <a:xfrm rot="0">
            <a:off x="1717296" y="5846679"/>
            <a:ext cx="7335408" cy="2752701"/>
            <a:chOff x="0" y="0"/>
            <a:chExt cx="1931959" cy="724991"/>
          </a:xfrm>
        </p:grpSpPr>
        <p:sp>
          <p:nvSpPr>
            <p:cNvPr name="Freeform 21" id="21"/>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2" id="22"/>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3" id="23"/>
          <p:cNvGrpSpPr/>
          <p:nvPr/>
        </p:nvGrpSpPr>
        <p:grpSpPr>
          <a:xfrm rot="0">
            <a:off x="9244821" y="2898323"/>
            <a:ext cx="7335408" cy="2752701"/>
            <a:chOff x="0" y="0"/>
            <a:chExt cx="1931959" cy="724991"/>
          </a:xfrm>
        </p:grpSpPr>
        <p:sp>
          <p:nvSpPr>
            <p:cNvPr name="Freeform 24" id="24"/>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5" id="25"/>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6" id="26"/>
          <p:cNvGrpSpPr/>
          <p:nvPr/>
        </p:nvGrpSpPr>
        <p:grpSpPr>
          <a:xfrm rot="0">
            <a:off x="9244821" y="5846679"/>
            <a:ext cx="7335408" cy="2752701"/>
            <a:chOff x="0" y="0"/>
            <a:chExt cx="1931959" cy="724991"/>
          </a:xfrm>
        </p:grpSpPr>
        <p:sp>
          <p:nvSpPr>
            <p:cNvPr name="Freeform 27" id="27"/>
            <p:cNvSpPr/>
            <p:nvPr/>
          </p:nvSpPr>
          <p:spPr>
            <a:xfrm flipH="false" flipV="false" rot="0">
              <a:off x="0" y="0"/>
              <a:ext cx="1931959" cy="724991"/>
            </a:xfrm>
            <a:custGeom>
              <a:avLst/>
              <a:gdLst/>
              <a:ahLst/>
              <a:cxnLst/>
              <a:rect r="r" b="b" t="t" l="l"/>
              <a:pathLst>
                <a:path h="724991" w="1931959">
                  <a:moveTo>
                    <a:pt x="15831" y="0"/>
                  </a:moveTo>
                  <a:lnTo>
                    <a:pt x="1916128" y="0"/>
                  </a:lnTo>
                  <a:cubicBezTo>
                    <a:pt x="1920327" y="0"/>
                    <a:pt x="1924353" y="1668"/>
                    <a:pt x="1927322" y="4637"/>
                  </a:cubicBezTo>
                  <a:cubicBezTo>
                    <a:pt x="1930291" y="7606"/>
                    <a:pt x="1931959" y="11633"/>
                    <a:pt x="1931959" y="15831"/>
                  </a:cubicBezTo>
                  <a:lnTo>
                    <a:pt x="1931959" y="709160"/>
                  </a:lnTo>
                  <a:cubicBezTo>
                    <a:pt x="1931959" y="713359"/>
                    <a:pt x="1930291" y="717385"/>
                    <a:pt x="1927322" y="720354"/>
                  </a:cubicBezTo>
                  <a:cubicBezTo>
                    <a:pt x="1924353" y="723323"/>
                    <a:pt x="1920327" y="724991"/>
                    <a:pt x="1916128" y="724991"/>
                  </a:cubicBezTo>
                  <a:lnTo>
                    <a:pt x="15831" y="724991"/>
                  </a:lnTo>
                  <a:cubicBezTo>
                    <a:pt x="11633" y="724991"/>
                    <a:pt x="7606" y="723323"/>
                    <a:pt x="4637" y="720354"/>
                  </a:cubicBezTo>
                  <a:cubicBezTo>
                    <a:pt x="1668" y="717385"/>
                    <a:pt x="0" y="713359"/>
                    <a:pt x="0" y="709160"/>
                  </a:cubicBezTo>
                  <a:lnTo>
                    <a:pt x="0" y="15831"/>
                  </a:lnTo>
                  <a:cubicBezTo>
                    <a:pt x="0" y="11633"/>
                    <a:pt x="1668" y="7606"/>
                    <a:pt x="4637" y="4637"/>
                  </a:cubicBezTo>
                  <a:cubicBezTo>
                    <a:pt x="7606" y="1668"/>
                    <a:pt x="11633" y="0"/>
                    <a:pt x="15831" y="0"/>
                  </a:cubicBezTo>
                  <a:close/>
                </a:path>
              </a:pathLst>
            </a:custGeom>
            <a:solidFill>
              <a:srgbClr val="EAEAEA"/>
            </a:solidFill>
            <a:ln cap="sq">
              <a:noFill/>
              <a:prstDash val="solid"/>
              <a:miter/>
            </a:ln>
          </p:spPr>
        </p:sp>
        <p:sp>
          <p:nvSpPr>
            <p:cNvPr name="TextBox 28" id="28"/>
            <p:cNvSpPr txBox="true"/>
            <p:nvPr/>
          </p:nvSpPr>
          <p:spPr>
            <a:xfrm>
              <a:off x="0" y="19050"/>
              <a:ext cx="1931959" cy="705941"/>
            </a:xfrm>
            <a:prstGeom prst="rect">
              <a:avLst/>
            </a:prstGeom>
          </p:spPr>
          <p:txBody>
            <a:bodyPr anchor="ctr" rtlCol="false" tIns="50800" lIns="50800" bIns="50800" rIns="50800"/>
            <a:lstStyle/>
            <a:p>
              <a:pPr algn="ctr" marL="0" indent="0" lvl="0">
                <a:lnSpc>
                  <a:spcPts val="2743"/>
                </a:lnSpc>
                <a:spcBef>
                  <a:spcPct val="0"/>
                </a:spcBef>
              </a:pPr>
            </a:p>
          </p:txBody>
        </p:sp>
      </p:grpSp>
      <p:grpSp>
        <p:nvGrpSpPr>
          <p:cNvPr name="Group 29" id="29"/>
          <p:cNvGrpSpPr/>
          <p:nvPr/>
        </p:nvGrpSpPr>
        <p:grpSpPr>
          <a:xfrm rot="0">
            <a:off x="7512059" y="5378921"/>
            <a:ext cx="3263882" cy="851964"/>
            <a:chOff x="0" y="0"/>
            <a:chExt cx="859623" cy="224386"/>
          </a:xfrm>
        </p:grpSpPr>
        <p:sp>
          <p:nvSpPr>
            <p:cNvPr name="Freeform 30" id="30"/>
            <p:cNvSpPr/>
            <p:nvPr/>
          </p:nvSpPr>
          <p:spPr>
            <a:xfrm flipH="false" flipV="false" rot="0">
              <a:off x="0" y="0"/>
              <a:ext cx="859623" cy="224386"/>
            </a:xfrm>
            <a:custGeom>
              <a:avLst/>
              <a:gdLst/>
              <a:ahLst/>
              <a:cxnLst/>
              <a:rect r="r" b="b" t="t" l="l"/>
              <a:pathLst>
                <a:path h="224386" w="859623">
                  <a:moveTo>
                    <a:pt x="35580" y="0"/>
                  </a:moveTo>
                  <a:lnTo>
                    <a:pt x="824043" y="0"/>
                  </a:lnTo>
                  <a:cubicBezTo>
                    <a:pt x="833480" y="0"/>
                    <a:pt x="842530" y="3749"/>
                    <a:pt x="849202" y="10421"/>
                  </a:cubicBezTo>
                  <a:cubicBezTo>
                    <a:pt x="855875" y="17094"/>
                    <a:pt x="859623" y="26144"/>
                    <a:pt x="859623" y="35580"/>
                  </a:cubicBezTo>
                  <a:lnTo>
                    <a:pt x="859623" y="188806"/>
                  </a:lnTo>
                  <a:cubicBezTo>
                    <a:pt x="859623" y="208456"/>
                    <a:pt x="843694" y="224386"/>
                    <a:pt x="824043" y="224386"/>
                  </a:cubicBezTo>
                  <a:lnTo>
                    <a:pt x="35580" y="224386"/>
                  </a:lnTo>
                  <a:cubicBezTo>
                    <a:pt x="26144" y="224386"/>
                    <a:pt x="17094" y="220637"/>
                    <a:pt x="10421" y="213964"/>
                  </a:cubicBezTo>
                  <a:cubicBezTo>
                    <a:pt x="3749" y="207292"/>
                    <a:pt x="0" y="198242"/>
                    <a:pt x="0" y="188806"/>
                  </a:cubicBezTo>
                  <a:lnTo>
                    <a:pt x="0" y="35580"/>
                  </a:lnTo>
                  <a:cubicBezTo>
                    <a:pt x="0" y="26144"/>
                    <a:pt x="3749" y="17094"/>
                    <a:pt x="10421" y="10421"/>
                  </a:cubicBezTo>
                  <a:cubicBezTo>
                    <a:pt x="17094" y="3749"/>
                    <a:pt x="26144" y="0"/>
                    <a:pt x="35580" y="0"/>
                  </a:cubicBezTo>
                  <a:close/>
                </a:path>
              </a:pathLst>
            </a:custGeom>
            <a:solidFill>
              <a:srgbClr val="5170FF"/>
            </a:solidFill>
            <a:ln cap="sq">
              <a:noFill/>
              <a:prstDash val="solid"/>
              <a:miter/>
            </a:ln>
          </p:spPr>
        </p:sp>
        <p:sp>
          <p:nvSpPr>
            <p:cNvPr name="TextBox 31" id="31"/>
            <p:cNvSpPr txBox="true"/>
            <p:nvPr/>
          </p:nvSpPr>
          <p:spPr>
            <a:xfrm>
              <a:off x="0" y="19050"/>
              <a:ext cx="859623" cy="205336"/>
            </a:xfrm>
            <a:prstGeom prst="rect">
              <a:avLst/>
            </a:prstGeom>
          </p:spPr>
          <p:txBody>
            <a:bodyPr anchor="ctr" rtlCol="false" tIns="50800" lIns="50800" bIns="50800" rIns="50800"/>
            <a:lstStyle/>
            <a:p>
              <a:pPr algn="ctr" marL="0" indent="0" lvl="0">
                <a:lnSpc>
                  <a:spcPts val="2743"/>
                </a:lnSpc>
                <a:spcBef>
                  <a:spcPct val="0"/>
                </a:spcBef>
              </a:pPr>
            </a:p>
          </p:txBody>
        </p:sp>
      </p:grpSp>
      <p:sp>
        <p:nvSpPr>
          <p:cNvPr name="TextBox 32" id="32"/>
          <p:cNvSpPr txBox="true"/>
          <p:nvPr/>
        </p:nvSpPr>
        <p:spPr>
          <a:xfrm rot="0">
            <a:off x="7512059" y="5550371"/>
            <a:ext cx="3263882"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FFFFFF"/>
                </a:solidFill>
                <a:latin typeface="프리젠테이션 Bold"/>
                <a:ea typeface="프리젠테이션 Bold"/>
                <a:cs typeface="프리젠테이션 Bold"/>
                <a:sym typeface="프리젠테이션 Bold"/>
              </a:rPr>
              <a:t>한눈에!</a:t>
            </a:r>
          </a:p>
        </p:txBody>
      </p:sp>
      <p:sp>
        <p:nvSpPr>
          <p:cNvPr name="TextBox 33" id="33"/>
          <p:cNvSpPr txBox="true"/>
          <p:nvPr/>
        </p:nvSpPr>
        <p:spPr>
          <a:xfrm rot="0">
            <a:off x="3020968"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① 요약 재료</a:t>
            </a:r>
          </a:p>
        </p:txBody>
      </p:sp>
      <p:sp>
        <p:nvSpPr>
          <p:cNvPr name="TextBox 34" id="34"/>
          <p:cNvSpPr txBox="true"/>
          <p:nvPr/>
        </p:nvSpPr>
        <p:spPr>
          <a:xfrm rot="0">
            <a:off x="3020968"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③ 키워드 카드</a:t>
            </a:r>
          </a:p>
        </p:txBody>
      </p:sp>
      <p:sp>
        <p:nvSpPr>
          <p:cNvPr name="TextBox 35" id="35"/>
          <p:cNvSpPr txBox="true"/>
          <p:nvPr/>
        </p:nvSpPr>
        <p:spPr>
          <a:xfrm rot="0">
            <a:off x="10548493" y="3254392"/>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② 히어로 섹션</a:t>
            </a:r>
          </a:p>
        </p:txBody>
      </p:sp>
      <p:sp>
        <p:nvSpPr>
          <p:cNvPr name="TextBox 36" id="36"/>
          <p:cNvSpPr txBox="true"/>
          <p:nvPr/>
        </p:nvSpPr>
        <p:spPr>
          <a:xfrm rot="0">
            <a:off x="10548493" y="6202748"/>
            <a:ext cx="4728065" cy="484378"/>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5170FF"/>
                </a:solidFill>
                <a:latin typeface="프리젠테이션 Bold"/>
                <a:ea typeface="프리젠테이션 Bold"/>
                <a:cs typeface="프리젠테이션 Bold"/>
                <a:sym typeface="프리젠테이션 Bold"/>
              </a:rPr>
              <a:t>④ 변경 파일 목록</a:t>
            </a:r>
          </a:p>
        </p:txBody>
      </p:sp>
      <p:grpSp>
        <p:nvGrpSpPr>
          <p:cNvPr name="Group 37" id="37"/>
          <p:cNvGrpSpPr/>
          <p:nvPr/>
        </p:nvGrpSpPr>
        <p:grpSpPr>
          <a:xfrm rot="0">
            <a:off x="3138895" y="4303307"/>
            <a:ext cx="4753583" cy="304800"/>
            <a:chOff x="0" y="0"/>
            <a:chExt cx="6338111" cy="406400"/>
          </a:xfrm>
        </p:grpSpPr>
        <p:sp>
          <p:nvSpPr>
            <p:cNvPr name="TextBox 38" id="38"/>
            <p:cNvSpPr txBox="true"/>
            <p:nvPr/>
          </p:nvSpPr>
          <p:spPr>
            <a:xfrm rot="0">
              <a:off x="303953" y="-76200"/>
              <a:ext cx="6034158"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작업한 파일 목록 요약</a:t>
              </a:r>
            </a:p>
          </p:txBody>
        </p:sp>
        <p:sp>
          <p:nvSpPr>
            <p:cNvPr name="Freeform 39" id="39"/>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0" id="40"/>
          <p:cNvGrpSpPr/>
          <p:nvPr/>
        </p:nvGrpSpPr>
        <p:grpSpPr>
          <a:xfrm rot="0">
            <a:off x="3129809" y="7251663"/>
            <a:ext cx="4727129" cy="304800"/>
            <a:chOff x="0" y="0"/>
            <a:chExt cx="6302839" cy="406400"/>
          </a:xfrm>
        </p:grpSpPr>
        <p:sp>
          <p:nvSpPr>
            <p:cNvPr name="TextBox 41" id="41"/>
            <p:cNvSpPr txBox="true"/>
            <p:nvPr/>
          </p:nvSpPr>
          <p:spPr>
            <a:xfrm rot="0">
              <a:off x="303953" y="-76200"/>
              <a:ext cx="5998886"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키워드를 그룹으로 묶어</a:t>
              </a:r>
            </a:p>
          </p:txBody>
        </p:sp>
        <p:sp>
          <p:nvSpPr>
            <p:cNvPr name="Freeform 42" id="42"/>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3" id="43"/>
          <p:cNvGrpSpPr/>
          <p:nvPr/>
        </p:nvGrpSpPr>
        <p:grpSpPr>
          <a:xfrm rot="0">
            <a:off x="10601709" y="4303307"/>
            <a:ext cx="4752580" cy="304800"/>
            <a:chOff x="0" y="0"/>
            <a:chExt cx="6336773" cy="406400"/>
          </a:xfrm>
        </p:grpSpPr>
        <p:sp>
          <p:nvSpPr>
            <p:cNvPr name="TextBox 44" id="44"/>
            <p:cNvSpPr txBox="true"/>
            <p:nvPr/>
          </p:nvSpPr>
          <p:spPr>
            <a:xfrm rot="0">
              <a:off x="303953" y="-76200"/>
              <a:ext cx="6032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맨 위 큰 영역에</a:t>
              </a:r>
            </a:p>
          </p:txBody>
        </p:sp>
        <p:sp>
          <p:nvSpPr>
            <p:cNvPr name="Freeform 45" id="45"/>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6" id="46"/>
          <p:cNvGrpSpPr/>
          <p:nvPr/>
        </p:nvGrpSpPr>
        <p:grpSpPr>
          <a:xfrm rot="0">
            <a:off x="10590698" y="7251663"/>
            <a:ext cx="4774602" cy="304800"/>
            <a:chOff x="0" y="0"/>
            <a:chExt cx="6366136" cy="406400"/>
          </a:xfrm>
        </p:grpSpPr>
        <p:sp>
          <p:nvSpPr>
            <p:cNvPr name="TextBox 47" id="47"/>
            <p:cNvSpPr txBox="true"/>
            <p:nvPr/>
          </p:nvSpPr>
          <p:spPr>
            <a:xfrm rot="0">
              <a:off x="303953" y="-76200"/>
              <a:ext cx="606218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추가 · 수정 · 삭제된 파일</a:t>
              </a:r>
            </a:p>
          </p:txBody>
        </p:sp>
        <p:sp>
          <p:nvSpPr>
            <p:cNvPr name="Freeform 48" id="48"/>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49" id="49"/>
          <p:cNvGrpSpPr/>
          <p:nvPr/>
        </p:nvGrpSpPr>
        <p:grpSpPr>
          <a:xfrm rot="0">
            <a:off x="3138895" y="4790276"/>
            <a:ext cx="4753583" cy="304800"/>
            <a:chOff x="0" y="0"/>
            <a:chExt cx="6338111" cy="406400"/>
          </a:xfrm>
        </p:grpSpPr>
        <p:sp>
          <p:nvSpPr>
            <p:cNvPr name="TextBox 50" id="50"/>
            <p:cNvSpPr txBox="true"/>
            <p:nvPr/>
          </p:nvSpPr>
          <p:spPr>
            <a:xfrm rot="0">
              <a:off x="303953" y="-76200"/>
              <a:ext cx="6034158"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핵심 키워드 뽑기</a:t>
              </a:r>
            </a:p>
          </p:txBody>
        </p:sp>
        <p:sp>
          <p:nvSpPr>
            <p:cNvPr name="Freeform 51" id="51"/>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2" id="52"/>
          <p:cNvGrpSpPr/>
          <p:nvPr/>
        </p:nvGrpSpPr>
        <p:grpSpPr>
          <a:xfrm rot="0">
            <a:off x="3129809" y="7738632"/>
            <a:ext cx="4771754" cy="304800"/>
            <a:chOff x="0" y="0"/>
            <a:chExt cx="6362338" cy="406400"/>
          </a:xfrm>
        </p:grpSpPr>
        <p:sp>
          <p:nvSpPr>
            <p:cNvPr name="TextBox 53" id="53"/>
            <p:cNvSpPr txBox="true"/>
            <p:nvPr/>
          </p:nvSpPr>
          <p:spPr>
            <a:xfrm rot="0">
              <a:off x="303953" y="-76200"/>
              <a:ext cx="6058385"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카드 그리드로 배치</a:t>
              </a:r>
            </a:p>
          </p:txBody>
        </p:sp>
        <p:sp>
          <p:nvSpPr>
            <p:cNvPr name="Freeform 54" id="54"/>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5" id="55"/>
          <p:cNvGrpSpPr/>
          <p:nvPr/>
        </p:nvGrpSpPr>
        <p:grpSpPr>
          <a:xfrm rot="0">
            <a:off x="10601709" y="4790276"/>
            <a:ext cx="4766810" cy="304800"/>
            <a:chOff x="0" y="0"/>
            <a:chExt cx="6355746" cy="406400"/>
          </a:xfrm>
        </p:grpSpPr>
        <p:sp>
          <p:nvSpPr>
            <p:cNvPr name="TextBox 56" id="56"/>
            <p:cNvSpPr txBox="true"/>
            <p:nvPr/>
          </p:nvSpPr>
          <p:spPr>
            <a:xfrm rot="0">
              <a:off x="303953" y="-76200"/>
              <a:ext cx="605179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핵심 내용 3줄 요약</a:t>
              </a:r>
            </a:p>
          </p:txBody>
        </p:sp>
        <p:sp>
          <p:nvSpPr>
            <p:cNvPr name="Freeform 57" id="57"/>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grpSp>
        <p:nvGrpSpPr>
          <p:cNvPr name="Group 58" id="58"/>
          <p:cNvGrpSpPr/>
          <p:nvPr/>
        </p:nvGrpSpPr>
        <p:grpSpPr>
          <a:xfrm rot="0">
            <a:off x="10590698" y="7738632"/>
            <a:ext cx="4774602" cy="304800"/>
            <a:chOff x="0" y="0"/>
            <a:chExt cx="6366136" cy="406400"/>
          </a:xfrm>
        </p:grpSpPr>
        <p:sp>
          <p:nvSpPr>
            <p:cNvPr name="TextBox 59" id="59"/>
            <p:cNvSpPr txBox="true"/>
            <p:nvPr/>
          </p:nvSpPr>
          <p:spPr>
            <a:xfrm rot="0">
              <a:off x="303953" y="-76200"/>
              <a:ext cx="6062183"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000000">
                      <a:alpha val="69804"/>
                    </a:srgbClr>
                  </a:solidFill>
                  <a:latin typeface="프리젠테이션 Bold"/>
                  <a:ea typeface="프리젠테이션 Bold"/>
                  <a:cs typeface="프리젠테이션 Bold"/>
                  <a:sym typeface="프리젠테이션 Bold"/>
                </a:rPr>
                <a:t>맨 아래에 리스트로</a:t>
              </a:r>
            </a:p>
          </p:txBody>
        </p:sp>
        <p:sp>
          <p:nvSpPr>
            <p:cNvPr name="Freeform 60" id="60"/>
            <p:cNvSpPr/>
            <p:nvPr/>
          </p:nvSpPr>
          <p:spPr>
            <a:xfrm flipH="false" flipV="false" rot="0">
              <a:off x="0" y="13089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sp>
        <p:nvSpPr>
          <p:cNvPr name="AutoShape 61" id="61"/>
          <p:cNvSpPr/>
          <p:nvPr/>
        </p:nvSpPr>
        <p:spPr>
          <a:xfrm>
            <a:off x="3020968" y="3946119"/>
            <a:ext cx="4728065" cy="0"/>
          </a:xfrm>
          <a:prstGeom prst="line">
            <a:avLst/>
          </a:prstGeom>
          <a:ln cap="rnd" w="9525">
            <a:solidFill>
              <a:srgbClr val="747EA3">
                <a:alpha val="29804"/>
              </a:srgbClr>
            </a:solidFill>
            <a:prstDash val="solid"/>
            <a:headEnd type="none" len="sm" w="sm"/>
            <a:tailEnd type="none" len="sm" w="sm"/>
          </a:ln>
        </p:spPr>
      </p:sp>
      <p:sp>
        <p:nvSpPr>
          <p:cNvPr name="AutoShape 62" id="62"/>
          <p:cNvSpPr/>
          <p:nvPr/>
        </p:nvSpPr>
        <p:spPr>
          <a:xfrm>
            <a:off x="3020968" y="6894476"/>
            <a:ext cx="4728065" cy="0"/>
          </a:xfrm>
          <a:prstGeom prst="line">
            <a:avLst/>
          </a:prstGeom>
          <a:ln cap="rnd" w="9525">
            <a:solidFill>
              <a:srgbClr val="747EA3">
                <a:alpha val="29804"/>
              </a:srgbClr>
            </a:solidFill>
            <a:prstDash val="solid"/>
            <a:headEnd type="none" len="sm" w="sm"/>
            <a:tailEnd type="none" len="sm" w="sm"/>
          </a:ln>
        </p:spPr>
      </p:sp>
      <p:sp>
        <p:nvSpPr>
          <p:cNvPr name="AutoShape 63" id="63"/>
          <p:cNvSpPr/>
          <p:nvPr/>
        </p:nvSpPr>
        <p:spPr>
          <a:xfrm>
            <a:off x="10548493" y="3946119"/>
            <a:ext cx="4728065" cy="0"/>
          </a:xfrm>
          <a:prstGeom prst="line">
            <a:avLst/>
          </a:prstGeom>
          <a:ln cap="rnd" w="9525">
            <a:solidFill>
              <a:srgbClr val="747EA3">
                <a:alpha val="29804"/>
              </a:srgbClr>
            </a:solidFill>
            <a:prstDash val="solid"/>
            <a:headEnd type="none" len="sm" w="sm"/>
            <a:tailEnd type="none" len="sm" w="sm"/>
          </a:ln>
        </p:spPr>
      </p:sp>
      <p:sp>
        <p:nvSpPr>
          <p:cNvPr name="AutoShape 64" id="64"/>
          <p:cNvSpPr/>
          <p:nvPr/>
        </p:nvSpPr>
        <p:spPr>
          <a:xfrm>
            <a:off x="10548493" y="6894476"/>
            <a:ext cx="4728065" cy="0"/>
          </a:xfrm>
          <a:prstGeom prst="line">
            <a:avLst/>
          </a:prstGeom>
          <a:ln cap="rnd" w="9525">
            <a:solidFill>
              <a:srgbClr val="747EA3">
                <a:alpha val="29804"/>
              </a:srgbClr>
            </a:solidFill>
            <a:prstDash val="solid"/>
            <a:headEnd type="none" len="sm" w="sm"/>
            <a:tailEnd type="none" len="sm" w="sm"/>
          </a:ln>
        </p:spPr>
      </p:sp>
      <p:sp>
        <p:nvSpPr>
          <p:cNvPr name="TextBox 65" id="65"/>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66" id="66"/>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- 23 -</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0472784" y="6346709"/>
            <a:ext cx="5384961" cy="2252671"/>
            <a:chOff x="0" y="0"/>
            <a:chExt cx="7179948" cy="3003561"/>
          </a:xfrm>
        </p:grpSpPr>
        <p:grpSp>
          <p:nvGrpSpPr>
            <p:cNvPr name="Group 17" id="17"/>
            <p:cNvGrpSpPr/>
            <p:nvPr/>
          </p:nvGrpSpPr>
          <p:grpSpPr>
            <a:xfrm rot="0">
              <a:off x="0" y="0"/>
              <a:ext cx="7179948" cy="3003561"/>
              <a:chOff x="0" y="0"/>
              <a:chExt cx="1418261" cy="593296"/>
            </a:xfrm>
          </p:grpSpPr>
          <p:sp>
            <p:nvSpPr>
              <p:cNvPr name="Freeform 18" id="18"/>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19" id="19"/>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0" id="20"/>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1" id="21"/>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보고용 == HTML / 기록용 == MD</a:t>
              </a:r>
            </a:p>
          </p:txBody>
        </p:sp>
        <p:sp>
          <p:nvSpPr>
            <p:cNvPr name="Freeform 22" id="22"/>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3" id="23"/>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원본 .md는 지우지 말고 보관</a:t>
              </a:r>
            </a:p>
          </p:txBody>
        </p:sp>
        <p:sp>
          <p:nvSpPr>
            <p:cNvPr name="Freeform 24" id="24"/>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25" id="25"/>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8차시 미니 프로젝트에서 활용!</a:t>
              </a:r>
            </a:p>
          </p:txBody>
        </p:sp>
      </p:grpSp>
      <p:grpSp>
        <p:nvGrpSpPr>
          <p:cNvPr name="Group 26" id="26"/>
          <p:cNvGrpSpPr/>
          <p:nvPr/>
        </p:nvGrpSpPr>
        <p:grpSpPr>
          <a:xfrm rot="0">
            <a:off x="10472784" y="2884234"/>
            <a:ext cx="3903318" cy="547878"/>
            <a:chOff x="0" y="0"/>
            <a:chExt cx="5204424" cy="730504"/>
          </a:xfrm>
        </p:grpSpPr>
        <p:sp>
          <p:nvSpPr>
            <p:cNvPr name="Freeform 27" id="27"/>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8" id="28"/>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이렇게 쓰세요</a:t>
              </a:r>
            </a:p>
          </p:txBody>
        </p:sp>
      </p:grpSp>
      <p:sp>
        <p:nvSpPr>
          <p:cNvPr name="TextBox 29" id="29"/>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[데모] 보고서 요청 프롬프트</a:t>
            </a:r>
          </a:p>
        </p:txBody>
      </p:sp>
      <p:sp>
        <p:nvSpPr>
          <p:cNvPr name="TextBox 30" id="30"/>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작업이 끝나면 보고서 요청</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report.html을 브라우저로 열기</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세부 내용은 .md 파일로 확인</a:t>
            </a:r>
          </a:p>
        </p:txBody>
      </p:sp>
      <p:sp>
        <p:nvSpPr>
          <p:cNvPr name="TextBox 31" id="31"/>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grpSp>
        <p:nvGrpSpPr>
          <p:cNvPr name="Group 32" id="32"/>
          <p:cNvGrpSpPr/>
          <p:nvPr/>
        </p:nvGrpSpPr>
        <p:grpSpPr>
          <a:xfrm rot="0">
            <a:off x="1714500" y="2895600"/>
            <a:ext cx="8201025" cy="5695950"/>
            <a:chOff x="0" y="0"/>
            <a:chExt cx="10934700" cy="7594600"/>
          </a:xfrm>
        </p:grpSpPr>
        <p:sp>
          <p:nvSpPr>
            <p:cNvPr name="Freeform 33" id="33"/>
            <p:cNvSpPr/>
            <p:nvPr/>
          </p:nvSpPr>
          <p:spPr>
            <a:xfrm flipH="false" flipV="false" rot="0">
              <a:off x="0" y="0"/>
              <a:ext cx="10934700" cy="7594600"/>
            </a:xfrm>
            <a:custGeom>
              <a:avLst/>
              <a:gdLst/>
              <a:ahLst/>
              <a:cxnLst/>
              <a:rect r="r" b="b" t="t" l="l"/>
              <a:pathLst>
                <a:path h="7594600" w="10934700">
                  <a:moveTo>
                    <a:pt x="35401" y="0"/>
                  </a:moveTo>
                  <a:lnTo>
                    <a:pt x="10899299" y="0"/>
                  </a:lnTo>
                  <a:cubicBezTo>
                    <a:pt x="10918851" y="0"/>
                    <a:pt x="10934700" y="15849"/>
                    <a:pt x="10934700" y="35401"/>
                  </a:cubicBezTo>
                  <a:lnTo>
                    <a:pt x="10934700" y="7559199"/>
                  </a:lnTo>
                  <a:cubicBezTo>
                    <a:pt x="10934700" y="7578751"/>
                    <a:pt x="10918851" y="7594600"/>
                    <a:pt x="10899299" y="7594600"/>
                  </a:cubicBezTo>
                  <a:lnTo>
                    <a:pt x="35401" y="7594600"/>
                  </a:lnTo>
                  <a:cubicBezTo>
                    <a:pt x="15849" y="7594600"/>
                    <a:pt x="0" y="7578751"/>
                    <a:pt x="0" y="7559199"/>
                  </a:cubicBezTo>
                  <a:lnTo>
                    <a:pt x="0" y="35401"/>
                  </a:lnTo>
                  <a:cubicBezTo>
                    <a:pt x="0" y="15849"/>
                    <a:pt x="15849" y="0"/>
                    <a:pt x="35401" y="0"/>
                  </a:cubicBezTo>
                  <a:close/>
                </a:path>
              </a:pathLst>
            </a:custGeom>
            <a:solidFill>
              <a:srgbClr val="1E2233"/>
            </a:solidFill>
          </p:spPr>
        </p:sp>
        <p:sp>
          <p:nvSpPr>
            <p:cNvPr name="TextBox 34" id="34"/>
            <p:cNvSpPr txBox="true"/>
            <p:nvPr/>
          </p:nvSpPr>
          <p:spPr>
            <a:xfrm>
              <a:off x="0" y="-38100"/>
              <a:ext cx="10934700" cy="7632700"/>
            </a:xfrm>
            <a:prstGeom prst="rect">
              <a:avLst/>
            </a:prstGeom>
          </p:spPr>
          <p:txBody>
            <a:bodyPr anchor="ctr" rtlCol="false" tIns="50800" lIns="50800" bIns="50800" rIns="50800"/>
            <a:lstStyle/>
            <a:p>
              <a:pPr algn="l">
                <a:lnSpc>
                  <a:spcPts val="1679"/>
                </a:lnSpc>
              </a:pPr>
            </a:p>
          </p:txBody>
        </p:sp>
      </p:grpSp>
      <p:grpSp>
        <p:nvGrpSpPr>
          <p:cNvPr name="Group 35" id="35"/>
          <p:cNvGrpSpPr/>
          <p:nvPr/>
        </p:nvGrpSpPr>
        <p:grpSpPr>
          <a:xfrm rot="0">
            <a:off x="1714500" y="2895600"/>
            <a:ext cx="8201025" cy="609600"/>
            <a:chOff x="0" y="0"/>
            <a:chExt cx="10934700" cy="812800"/>
          </a:xfrm>
        </p:grpSpPr>
        <p:sp>
          <p:nvSpPr>
            <p:cNvPr name="Freeform 36" id="36"/>
            <p:cNvSpPr/>
            <p:nvPr/>
          </p:nvSpPr>
          <p:spPr>
            <a:xfrm flipH="false" flipV="false" rot="0">
              <a:off x="0" y="0"/>
              <a:ext cx="10934700" cy="812800"/>
            </a:xfrm>
            <a:custGeom>
              <a:avLst/>
              <a:gdLst/>
              <a:ahLst/>
              <a:cxnLst/>
              <a:rect r="r" b="b" t="t" l="l"/>
              <a:pathLst>
                <a:path h="812800" w="10934700">
                  <a:moveTo>
                    <a:pt x="35401" y="0"/>
                  </a:moveTo>
                  <a:lnTo>
                    <a:pt x="10899299" y="0"/>
                  </a:lnTo>
                  <a:cubicBezTo>
                    <a:pt x="10918851" y="0"/>
                    <a:pt x="10934700" y="15849"/>
                    <a:pt x="10934700" y="35401"/>
                  </a:cubicBezTo>
                  <a:lnTo>
                    <a:pt x="10934700" y="777399"/>
                  </a:lnTo>
                  <a:cubicBezTo>
                    <a:pt x="10934700" y="796951"/>
                    <a:pt x="10918851" y="812800"/>
                    <a:pt x="10899299" y="812800"/>
                  </a:cubicBezTo>
                  <a:lnTo>
                    <a:pt x="35401" y="812800"/>
                  </a:lnTo>
                  <a:cubicBezTo>
                    <a:pt x="15849" y="812800"/>
                    <a:pt x="0" y="796951"/>
                    <a:pt x="0" y="777399"/>
                  </a:cubicBezTo>
                  <a:lnTo>
                    <a:pt x="0" y="35401"/>
                  </a:lnTo>
                  <a:cubicBezTo>
                    <a:pt x="0" y="15849"/>
                    <a:pt x="15849" y="0"/>
                    <a:pt x="35401" y="0"/>
                  </a:cubicBezTo>
                  <a:close/>
                </a:path>
              </a:pathLst>
            </a:custGeom>
            <a:solidFill>
              <a:srgbClr val="2D3350"/>
            </a:solidFill>
          </p:spPr>
        </p:sp>
        <p:sp>
          <p:nvSpPr>
            <p:cNvPr name="TextBox 37" id="37"/>
            <p:cNvSpPr txBox="true"/>
            <p:nvPr/>
          </p:nvSpPr>
          <p:spPr>
            <a:xfrm>
              <a:off x="0" y="-38100"/>
              <a:ext cx="10934700" cy="850900"/>
            </a:xfrm>
            <a:prstGeom prst="rect">
              <a:avLst/>
            </a:prstGeom>
          </p:spPr>
          <p:txBody>
            <a:bodyPr anchor="ctr" rtlCol="false" tIns="50800" lIns="50800" bIns="50800" rIns="50800"/>
            <a:lstStyle/>
            <a:p>
              <a:pPr algn="l">
                <a:lnSpc>
                  <a:spcPts val="1679"/>
                </a:lnSpc>
              </a:pPr>
            </a:p>
          </p:txBody>
        </p:sp>
      </p:grpSp>
      <p:sp>
        <p:nvSpPr>
          <p:cNvPr name="TextBox 38" id="38"/>
          <p:cNvSpPr txBox="true"/>
          <p:nvPr/>
        </p:nvSpPr>
        <p:spPr>
          <a:xfrm rot="0">
            <a:off x="2047875" y="2971800"/>
            <a:ext cx="7429500" cy="350520"/>
          </a:xfrm>
          <a:prstGeom prst="rect">
            <a:avLst/>
          </a:prstGeom>
        </p:spPr>
        <p:txBody>
          <a:bodyPr anchor="t" rtlCol="false" tIns="0" lIns="0" bIns="0" rIns="0">
            <a:spAutoFit/>
          </a:bodyPr>
          <a:lstStyle/>
          <a:p>
            <a:pPr algn="l">
              <a:lnSpc>
                <a:spcPts val="2729"/>
              </a:lnSpc>
            </a:pPr>
            <a:r>
              <a:rPr lang="en-US" sz="1950" b="true">
                <a:solidFill>
                  <a:srgbClr val="A9B8FF"/>
                </a:solidFill>
                <a:latin typeface="Arimo Bold"/>
                <a:ea typeface="Arimo Bold"/>
                <a:cs typeface="Arimo Bold"/>
                <a:sym typeface="Arimo Bold"/>
              </a:rPr>
              <a:t>💬 작업이 끝난 뒤 에이전트에게</a:t>
            </a:r>
          </a:p>
        </p:txBody>
      </p:sp>
      <p:sp>
        <p:nvSpPr>
          <p:cNvPr name="TextBox 39" id="39"/>
          <p:cNvSpPr txBox="true"/>
          <p:nvPr/>
        </p:nvSpPr>
        <p:spPr>
          <a:xfrm rot="0">
            <a:off x="2143125" y="3714750"/>
            <a:ext cx="7524750" cy="3709035"/>
          </a:xfrm>
          <a:prstGeom prst="rect">
            <a:avLst/>
          </a:prstGeom>
        </p:spPr>
        <p:txBody>
          <a:bodyPr anchor="t" rtlCol="false" tIns="0" lIns="0" bIns="0" rIns="0">
            <a:spAutoFit/>
          </a:bodyPr>
          <a:lstStyle/>
          <a:p>
            <a:pPr algn="l">
              <a:lnSpc>
                <a:spcPts val="2940"/>
              </a:lnSpc>
            </a:pPr>
            <a:r>
              <a:rPr lang="en-US" sz="2100">
                <a:solidFill>
                  <a:srgbClr val="EEF1FF"/>
                </a:solidFill>
                <a:latin typeface="Arimo"/>
                <a:ea typeface="Arimo"/>
                <a:cs typeface="Arimo"/>
                <a:sym typeface="Arimo"/>
              </a:rPr>
              <a:t>오늘 작업한 내용을 report.html</a:t>
            </a:r>
          </a:p>
          <a:p>
            <a:pPr algn="l">
              <a:lnSpc>
                <a:spcPts val="2940"/>
              </a:lnSpc>
            </a:pPr>
            <a:r>
              <a:rPr lang="en-US" sz="2100">
                <a:solidFill>
                  <a:srgbClr val="EEF1FF"/>
                </a:solidFill>
                <a:latin typeface="Arimo"/>
                <a:ea typeface="Arimo"/>
                <a:cs typeface="Arimo"/>
                <a:sym typeface="Arimo"/>
              </a:rPr>
              <a:t>한 파일로 정리해줘.</a:t>
            </a:r>
          </a:p>
          <a:p>
            <a:pPr algn="l">
              <a:lnSpc>
                <a:spcPts val="2940"/>
              </a:lnSpc>
            </a:pPr>
          </a:p>
          <a:p>
            <a:pPr algn="l">
              <a:lnSpc>
                <a:spcPts val="2940"/>
              </a:lnSpc>
            </a:pPr>
            <a:r>
              <a:rPr lang="en-US" sz="2100">
                <a:solidFill>
                  <a:srgbClr val="EEF1FF"/>
                </a:solidFill>
                <a:latin typeface="Arimo"/>
                <a:ea typeface="Arimo"/>
                <a:cs typeface="Arimo"/>
                <a:sym typeface="Arimo"/>
              </a:rPr>
              <a:t>1. 맨 위 히어로: 핵심 내용 3줄 요약</a:t>
            </a:r>
          </a:p>
          <a:p>
            <a:pPr algn="l">
              <a:lnSpc>
                <a:spcPts val="2940"/>
              </a:lnSpc>
            </a:pPr>
            <a:r>
              <a:rPr lang="en-US" sz="2100">
                <a:solidFill>
                  <a:srgbClr val="EEF1FF"/>
                </a:solidFill>
                <a:latin typeface="Arimo"/>
                <a:ea typeface="Arimo"/>
                <a:cs typeface="Arimo"/>
                <a:sym typeface="Arimo"/>
              </a:rPr>
              <a:t>2. 핵심 키워드를 그룹별 카드로</a:t>
            </a:r>
          </a:p>
          <a:p>
            <a:pPr algn="l">
              <a:lnSpc>
                <a:spcPts val="2940"/>
              </a:lnSpc>
            </a:pPr>
            <a:r>
              <a:rPr lang="en-US" sz="2100">
                <a:solidFill>
                  <a:srgbClr val="EEF1FF"/>
                </a:solidFill>
                <a:latin typeface="Arimo"/>
                <a:ea typeface="Arimo"/>
                <a:cs typeface="Arimo"/>
                <a:sym typeface="Arimo"/>
              </a:rPr>
              <a:t>3. 추가/수정/삭제된 파일 목록을 표로</a:t>
            </a:r>
          </a:p>
          <a:p>
            <a:pPr algn="l">
              <a:lnSpc>
                <a:spcPts val="2940"/>
              </a:lnSpc>
            </a:pPr>
            <a:r>
              <a:rPr lang="en-US" sz="2100">
                <a:solidFill>
                  <a:srgbClr val="EEF1FF"/>
                </a:solidFill>
                <a:latin typeface="Arimo"/>
                <a:ea typeface="Arimo"/>
                <a:cs typeface="Arimo"/>
                <a:sym typeface="Arimo"/>
              </a:rPr>
              <a:t>4. 한눈에 보이도록 시각적으로</a:t>
            </a:r>
          </a:p>
          <a:p>
            <a:pPr algn="l">
              <a:lnSpc>
                <a:spcPts val="2940"/>
              </a:lnSpc>
            </a:pPr>
          </a:p>
          <a:p>
            <a:pPr algn="l">
              <a:lnSpc>
                <a:spcPts val="2940"/>
              </a:lnSpc>
            </a:pPr>
            <a:r>
              <a:rPr lang="en-US" sz="2100">
                <a:solidFill>
                  <a:srgbClr val="EEF1FF"/>
                </a:solidFill>
                <a:latin typeface="Arimo"/>
                <a:ea typeface="Arimo"/>
                <a:cs typeface="Arimo"/>
                <a:sym typeface="Arimo"/>
              </a:rPr>
              <a:t>색은 파란색 계열, 모바일에서도</a:t>
            </a:r>
          </a:p>
          <a:p>
            <a:pPr algn="l">
              <a:lnSpc>
                <a:spcPts val="2940"/>
              </a:lnSpc>
            </a:pPr>
            <a:r>
              <a:rPr lang="en-US" sz="2100">
                <a:solidFill>
                  <a:srgbClr val="EEF1FF"/>
                </a:solidFill>
                <a:latin typeface="Arimo"/>
                <a:ea typeface="Arimo"/>
                <a:cs typeface="Arimo"/>
                <a:sym typeface="Arimo"/>
              </a:rPr>
              <a:t>잘 보이게 해줘.</a:t>
            </a:r>
          </a:p>
        </p:txBody>
      </p:sp>
      <p:sp>
        <p:nvSpPr>
          <p:cNvPr name="TextBox 40" id="40"/>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- 24 -</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5" id="15"/>
          <p:cNvGrpSpPr/>
          <p:nvPr/>
        </p:nvGrpSpPr>
        <p:grpSpPr>
          <a:xfrm rot="0">
            <a:off x="820604" y="768468"/>
            <a:ext cx="12829802" cy="762000"/>
            <a:chOff x="0" y="0"/>
            <a:chExt cx="17106403" cy="1016000"/>
          </a:xfrm>
        </p:grpSpPr>
        <p:sp>
          <p:nvSpPr>
            <p:cNvPr name="TextBox 16" id="16"/>
            <p:cNvSpPr txBox="true"/>
            <p:nvPr/>
          </p:nvSpPr>
          <p:spPr>
            <a:xfrm rot="0">
              <a:off x="712750" y="76200"/>
              <a:ext cx="16393653" cy="939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오늘 배운 것</a:t>
              </a:r>
            </a:p>
          </p:txBody>
        </p:sp>
        <p:sp>
          <p:nvSpPr>
            <p:cNvPr name="Freeform 17" id="17"/>
            <p:cNvSpPr/>
            <p:nvPr/>
          </p:nvSpPr>
          <p:spPr>
            <a:xfrm flipH="false" flipV="false" rot="0">
              <a:off x="0" y="284846"/>
              <a:ext cx="446308" cy="446308"/>
            </a:xfrm>
            <a:custGeom>
              <a:avLst/>
              <a:gdLst/>
              <a:ahLst/>
              <a:cxnLst/>
              <a:rect r="r" b="b" t="t" l="l"/>
              <a:pathLst>
                <a:path h="446308" w="446308">
                  <a:moveTo>
                    <a:pt x="0" y="0"/>
                  </a:moveTo>
                  <a:lnTo>
                    <a:pt x="446308" y="0"/>
                  </a:lnTo>
                  <a:lnTo>
                    <a:pt x="446308" y="446308"/>
                  </a:lnTo>
                  <a:lnTo>
                    <a:pt x="0" y="446308"/>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sp>
        <p:nvSpPr>
          <p:cNvPr name="Freeform 18" id="18"/>
          <p:cNvSpPr/>
          <p:nvPr/>
        </p:nvSpPr>
        <p:spPr>
          <a:xfrm flipH="false" flipV="false" rot="0">
            <a:off x="2944444" y="3048665"/>
            <a:ext cx="1906863" cy="1756697"/>
          </a:xfrm>
          <a:custGeom>
            <a:avLst/>
            <a:gdLst/>
            <a:ahLst/>
            <a:cxnLst/>
            <a:rect r="r" b="b" t="t" l="l"/>
            <a:pathLst>
              <a:path h="1756697" w="1906863">
                <a:moveTo>
                  <a:pt x="0" y="0"/>
                </a:moveTo>
                <a:lnTo>
                  <a:pt x="1906863" y="0"/>
                </a:lnTo>
                <a:lnTo>
                  <a:pt x="1906863" y="1756697"/>
                </a:lnTo>
                <a:lnTo>
                  <a:pt x="0" y="1756697"/>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9" id="19"/>
          <p:cNvSpPr/>
          <p:nvPr/>
        </p:nvSpPr>
        <p:spPr>
          <a:xfrm flipH="false" flipV="false" rot="0">
            <a:off x="8176076" y="3176873"/>
            <a:ext cx="1935847" cy="1500282"/>
          </a:xfrm>
          <a:custGeom>
            <a:avLst/>
            <a:gdLst/>
            <a:ahLst/>
            <a:cxnLst/>
            <a:rect r="r" b="b" t="t" l="l"/>
            <a:pathLst>
              <a:path h="1500282" w="1935847">
                <a:moveTo>
                  <a:pt x="0" y="0"/>
                </a:moveTo>
                <a:lnTo>
                  <a:pt x="1935848" y="0"/>
                </a:lnTo>
                <a:lnTo>
                  <a:pt x="1935848" y="1500282"/>
                </a:lnTo>
                <a:lnTo>
                  <a:pt x="0" y="150028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20" id="20"/>
          <p:cNvSpPr/>
          <p:nvPr/>
        </p:nvSpPr>
        <p:spPr>
          <a:xfrm flipH="false" flipV="false" rot="0">
            <a:off x="13580283" y="3112769"/>
            <a:ext cx="1638732" cy="1628490"/>
          </a:xfrm>
          <a:custGeom>
            <a:avLst/>
            <a:gdLst/>
            <a:ahLst/>
            <a:cxnLst/>
            <a:rect r="r" b="b" t="t" l="l"/>
            <a:pathLst>
              <a:path h="1628490" w="1638732">
                <a:moveTo>
                  <a:pt x="0" y="0"/>
                </a:moveTo>
                <a:lnTo>
                  <a:pt x="1638732" y="0"/>
                </a:lnTo>
                <a:lnTo>
                  <a:pt x="1638732" y="1628489"/>
                </a:lnTo>
                <a:lnTo>
                  <a:pt x="0" y="1628489"/>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grpSp>
        <p:nvGrpSpPr>
          <p:cNvPr name="Group 21" id="21"/>
          <p:cNvGrpSpPr/>
          <p:nvPr/>
        </p:nvGrpSpPr>
        <p:grpSpPr>
          <a:xfrm rot="0">
            <a:off x="1845660" y="5336790"/>
            <a:ext cx="4104431" cy="2603177"/>
            <a:chOff x="0" y="0"/>
            <a:chExt cx="5472575" cy="3470902"/>
          </a:xfrm>
        </p:grpSpPr>
        <p:sp>
          <p:nvSpPr>
            <p:cNvPr name="TextBox 22" id="22"/>
            <p:cNvSpPr txBox="true"/>
            <p:nvPr/>
          </p:nvSpPr>
          <p:spPr>
            <a:xfrm rot="0">
              <a:off x="326998" y="2375527"/>
              <a:ext cx="4818580" cy="1095375"/>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기호로 꾸미는 문서</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 · ** · - · [ ]( )</a:t>
              </a:r>
            </a:p>
          </p:txBody>
        </p:sp>
        <p:sp>
          <p:nvSpPr>
            <p:cNvPr name="TextBox 23" id="23"/>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Markdown</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문법</a:t>
              </a:r>
            </a:p>
          </p:txBody>
        </p:sp>
        <p:sp>
          <p:nvSpPr>
            <p:cNvPr name="Freeform 24" id="24"/>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5" id="25"/>
          <p:cNvGrpSpPr/>
          <p:nvPr/>
        </p:nvGrpSpPr>
        <p:grpSpPr>
          <a:xfrm rot="0">
            <a:off x="7091784" y="5336790"/>
            <a:ext cx="4104431" cy="2603177"/>
            <a:chOff x="0" y="0"/>
            <a:chExt cx="5472575" cy="3470902"/>
          </a:xfrm>
        </p:grpSpPr>
        <p:sp>
          <p:nvSpPr>
            <p:cNvPr name="TextBox 26" id="26"/>
            <p:cNvSpPr txBox="true"/>
            <p:nvPr/>
          </p:nvSpPr>
          <p:spPr>
            <a:xfrm rot="0">
              <a:off x="275465" y="2375527"/>
              <a:ext cx="4921645" cy="1095375"/>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4단계로 완성!</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구조 · 스타일 · 링크 · 표</a:t>
              </a:r>
            </a:p>
          </p:txBody>
        </p:sp>
        <p:sp>
          <p:nvSpPr>
            <p:cNvPr name="TextBox 27" id="27"/>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나의</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README.md</a:t>
              </a:r>
            </a:p>
          </p:txBody>
        </p:sp>
        <p:sp>
          <p:nvSpPr>
            <p:cNvPr name="Freeform 28" id="28"/>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grpSp>
        <p:nvGrpSpPr>
          <p:cNvPr name="Group 29" id="29"/>
          <p:cNvGrpSpPr/>
          <p:nvPr/>
        </p:nvGrpSpPr>
        <p:grpSpPr>
          <a:xfrm rot="0">
            <a:off x="12347433" y="5336790"/>
            <a:ext cx="4104431" cy="2603177"/>
            <a:chOff x="0" y="0"/>
            <a:chExt cx="5472575" cy="3470902"/>
          </a:xfrm>
        </p:grpSpPr>
        <p:sp>
          <p:nvSpPr>
            <p:cNvPr name="TextBox 30" id="30"/>
            <p:cNvSpPr txBox="true"/>
            <p:nvPr/>
          </p:nvSpPr>
          <p:spPr>
            <a:xfrm rot="0">
              <a:off x="344175" y="2375527"/>
              <a:ext cx="4784225" cy="1095375"/>
            </a:xfrm>
            <a:prstGeom prst="rect">
              <a:avLst/>
            </a:prstGeom>
          </p:spPr>
          <p:txBody>
            <a:bodyPr anchor="t" rtlCol="false" tIns="0" lIns="0" bIns="0" rIns="0">
              <a:spAutoFit/>
            </a:bodyPr>
            <a:lstStyle/>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상황에 맞게 선택</a:t>
              </a:r>
            </a:p>
            <a:p>
              <a:pPr algn="ctr" marL="0" indent="0" lvl="0">
                <a:lnSpc>
                  <a:spcPts val="3375"/>
                </a:lnSpc>
                <a:spcBef>
                  <a:spcPct val="0"/>
                </a:spcBef>
              </a:pPr>
              <a:r>
                <a:rPr lang="en-US" b="true" sz="2250" spc="-44" strike="noStrike" u="none">
                  <a:solidFill>
                    <a:srgbClr val="5170FF"/>
                  </a:solidFill>
                  <a:latin typeface="프리젠테이션 Bold"/>
                  <a:ea typeface="프리젠테이션 Bold"/>
                  <a:cs typeface="프리젠테이션 Bold"/>
                  <a:sym typeface="프리젠테이션 Bold"/>
                </a:rPr>
                <a:t>기록은 MD · 보고는 HTML</a:t>
              </a:r>
            </a:p>
          </p:txBody>
        </p:sp>
        <p:sp>
          <p:nvSpPr>
            <p:cNvPr name="TextBox 31" id="31"/>
            <p:cNvSpPr txBox="true"/>
            <p:nvPr/>
          </p:nvSpPr>
          <p:spPr>
            <a:xfrm rot="0">
              <a:off x="0" y="0"/>
              <a:ext cx="5472575" cy="1280837"/>
            </a:xfrm>
            <a:prstGeom prst="rect">
              <a:avLst/>
            </a:prstGeom>
          </p:spPr>
          <p:txBody>
            <a:bodyPr anchor="t" rtlCol="false" tIns="0" lIns="0" bIns="0" rIns="0">
              <a:spAutoFit/>
            </a:bodyPr>
            <a:lstStyle/>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Markdown</a:t>
              </a:r>
            </a:p>
            <a:p>
              <a:pPr algn="ctr" marL="0" indent="0" lvl="0">
                <a:lnSpc>
                  <a:spcPts val="3776"/>
                </a:lnSpc>
                <a:spcBef>
                  <a:spcPct val="0"/>
                </a:spcBef>
              </a:pPr>
              <a:r>
                <a:rPr lang="en-US" b="true" sz="3200" spc="-64" strike="noStrike" u="none">
                  <a:solidFill>
                    <a:srgbClr val="333333"/>
                  </a:solidFill>
                  <a:latin typeface="프리젠테이션 Bold"/>
                  <a:ea typeface="프리젠테이션 Bold"/>
                  <a:cs typeface="프리젠테이션 Bold"/>
                  <a:sym typeface="프리젠테이션 Bold"/>
                </a:rPr>
                <a:t>vs HTML</a:t>
              </a:r>
            </a:p>
          </p:txBody>
        </p:sp>
        <p:sp>
          <p:nvSpPr>
            <p:cNvPr name="Freeform 32" id="32"/>
            <p:cNvSpPr/>
            <p:nvPr/>
          </p:nvSpPr>
          <p:spPr>
            <a:xfrm flipH="false" flipV="false" rot="5400000">
              <a:off x="2619394" y="1804646"/>
              <a:ext cx="233786" cy="228526"/>
            </a:xfrm>
            <a:custGeom>
              <a:avLst/>
              <a:gdLst/>
              <a:ahLst/>
              <a:cxnLst/>
              <a:rect r="r" b="b" t="t" l="l"/>
              <a:pathLst>
                <a:path h="228526" w="233786">
                  <a:moveTo>
                    <a:pt x="0" y="0"/>
                  </a:moveTo>
                  <a:lnTo>
                    <a:pt x="233787" y="0"/>
                  </a:lnTo>
                  <a:lnTo>
                    <a:pt x="233787" y="228526"/>
                  </a:lnTo>
                  <a:lnTo>
                    <a:pt x="0" y="228526"/>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gr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- 25 -</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Freeform 15" id="15"/>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16" id="16"/>
          <p:cNvGrpSpPr/>
          <p:nvPr/>
        </p:nvGrpSpPr>
        <p:grpSpPr>
          <a:xfrm rot="0">
            <a:off x="1717296" y="2898323"/>
            <a:ext cx="8207164" cy="5701057"/>
            <a:chOff x="0" y="0"/>
            <a:chExt cx="1170096" cy="812800"/>
          </a:xfrm>
        </p:grpSpPr>
        <p:sp>
          <p:nvSpPr>
            <p:cNvPr name="Freeform 17" id="17" descr="3차시 프롬프트 엔지니어링 예고 일러스트"/>
            <p:cNvSpPr/>
            <p:nvPr/>
          </p:nvSpPr>
          <p:spPr>
            <a:xfrm flipH="false" flipV="false" rot="0">
              <a:off x="0" y="0"/>
              <a:ext cx="1170096" cy="812800"/>
            </a:xfrm>
            <a:custGeom>
              <a:avLst/>
              <a:gdLst/>
              <a:ahLst/>
              <a:cxnLst/>
              <a:rect r="r" b="b" t="t" l="l"/>
              <a:pathLst>
                <a:path h="812800" w="1170096">
                  <a:moveTo>
                    <a:pt x="14150" y="0"/>
                  </a:moveTo>
                  <a:lnTo>
                    <a:pt x="1155946" y="0"/>
                  </a:lnTo>
                  <a:cubicBezTo>
                    <a:pt x="1163761" y="0"/>
                    <a:pt x="1170096" y="6335"/>
                    <a:pt x="1170096" y="14150"/>
                  </a:cubicBezTo>
                  <a:lnTo>
                    <a:pt x="1170096" y="798650"/>
                  </a:lnTo>
                  <a:cubicBezTo>
                    <a:pt x="1170096" y="806465"/>
                    <a:pt x="1163761" y="812800"/>
                    <a:pt x="1155946" y="812800"/>
                  </a:cubicBezTo>
                  <a:lnTo>
                    <a:pt x="14150" y="812800"/>
                  </a:lnTo>
                  <a:cubicBezTo>
                    <a:pt x="6335" y="812800"/>
                    <a:pt x="0" y="806465"/>
                    <a:pt x="0" y="798650"/>
                  </a:cubicBezTo>
                  <a:lnTo>
                    <a:pt x="0" y="14150"/>
                  </a:lnTo>
                  <a:cubicBezTo>
                    <a:pt x="0" y="6335"/>
                    <a:pt x="6335" y="0"/>
                    <a:pt x="14150" y="0"/>
                  </a:cubicBezTo>
                  <a:close/>
                </a:path>
              </a:pathLst>
            </a:custGeom>
            <a:blipFill>
              <a:blip r:embed="rId5"/>
              <a:stretch>
                <a:fillRect l="0" t="-3714" r="0" b="-3714"/>
              </a:stretch>
            </a:blipFill>
            <a:ln cap="sq">
              <a:noFill/>
              <a:prstDash val="solid"/>
              <a:miter/>
            </a:ln>
          </p:spPr>
        </p:sp>
      </p:grpSp>
      <p:grpSp>
        <p:nvGrpSpPr>
          <p:cNvPr name="Group 18" id="18"/>
          <p:cNvGrpSpPr/>
          <p:nvPr/>
        </p:nvGrpSpPr>
        <p:grpSpPr>
          <a:xfrm rot="0">
            <a:off x="10472784" y="6346709"/>
            <a:ext cx="5384961" cy="2252671"/>
            <a:chOff x="0" y="0"/>
            <a:chExt cx="7179948" cy="3003561"/>
          </a:xfrm>
        </p:grpSpPr>
        <p:grpSp>
          <p:nvGrpSpPr>
            <p:cNvPr name="Group 19" id="19"/>
            <p:cNvGrpSpPr/>
            <p:nvPr/>
          </p:nvGrpSpPr>
          <p:grpSpPr>
            <a:xfrm rot="0">
              <a:off x="0" y="0"/>
              <a:ext cx="7179948" cy="3003561"/>
              <a:chOff x="0" y="0"/>
              <a:chExt cx="1418261" cy="593296"/>
            </a:xfrm>
          </p:grpSpPr>
          <p:sp>
            <p:nvSpPr>
              <p:cNvPr name="Freeform 20" id="20"/>
              <p:cNvSpPr/>
              <p:nvPr/>
            </p:nvSpPr>
            <p:spPr>
              <a:xfrm flipH="false" flipV="false" rot="0">
                <a:off x="0" y="0"/>
                <a:ext cx="1418261" cy="593296"/>
              </a:xfrm>
              <a:custGeom>
                <a:avLst/>
                <a:gdLst/>
                <a:ahLst/>
                <a:cxnLst/>
                <a:rect r="r" b="b" t="t" l="l"/>
                <a:pathLst>
                  <a:path h="593296" w="1418261">
                    <a:moveTo>
                      <a:pt x="21565" y="0"/>
                    </a:moveTo>
                    <a:lnTo>
                      <a:pt x="1396696" y="0"/>
                    </a:lnTo>
                    <a:cubicBezTo>
                      <a:pt x="1408606" y="0"/>
                      <a:pt x="1418261" y="9655"/>
                      <a:pt x="1418261" y="21565"/>
                    </a:cubicBezTo>
                    <a:lnTo>
                      <a:pt x="1418261" y="571731"/>
                    </a:lnTo>
                    <a:cubicBezTo>
                      <a:pt x="1418261" y="577450"/>
                      <a:pt x="1415989" y="582935"/>
                      <a:pt x="1411945" y="586980"/>
                    </a:cubicBezTo>
                    <a:cubicBezTo>
                      <a:pt x="1407901" y="591024"/>
                      <a:pt x="1402415" y="593296"/>
                      <a:pt x="1396696" y="593296"/>
                    </a:cubicBezTo>
                    <a:lnTo>
                      <a:pt x="21565" y="593296"/>
                    </a:lnTo>
                    <a:cubicBezTo>
                      <a:pt x="9655" y="593296"/>
                      <a:pt x="0" y="583641"/>
                      <a:pt x="0" y="571731"/>
                    </a:cubicBezTo>
                    <a:lnTo>
                      <a:pt x="0" y="21565"/>
                    </a:lnTo>
                    <a:cubicBezTo>
                      <a:pt x="0" y="9655"/>
                      <a:pt x="9655" y="0"/>
                      <a:pt x="21565" y="0"/>
                    </a:cubicBezTo>
                    <a:close/>
                  </a:path>
                </a:pathLst>
              </a:custGeom>
              <a:solidFill>
                <a:srgbClr val="EAEAEA"/>
              </a:solidFill>
              <a:ln cap="sq">
                <a:noFill/>
                <a:prstDash val="solid"/>
                <a:miter/>
              </a:ln>
            </p:spPr>
          </p:sp>
          <p:sp>
            <p:nvSpPr>
              <p:cNvPr name="TextBox 21" id="21"/>
              <p:cNvSpPr txBox="true"/>
              <p:nvPr/>
            </p:nvSpPr>
            <p:spPr>
              <a:xfrm>
                <a:off x="0" y="19050"/>
                <a:ext cx="1418261" cy="574246"/>
              </a:xfrm>
              <a:prstGeom prst="rect">
                <a:avLst/>
              </a:prstGeom>
            </p:spPr>
            <p:txBody>
              <a:bodyPr anchor="ctr" rtlCol="false" tIns="50800" lIns="50800" bIns="50800" rIns="50800"/>
              <a:lstStyle/>
              <a:p>
                <a:pPr algn="ctr">
                  <a:lnSpc>
                    <a:spcPts val="2743"/>
                  </a:lnSpc>
                </a:pPr>
              </a:p>
            </p:txBody>
          </p:sp>
        </p:grpSp>
        <p:sp>
          <p:nvSpPr>
            <p:cNvPr name="Freeform 22" id="22"/>
            <p:cNvSpPr/>
            <p:nvPr/>
          </p:nvSpPr>
          <p:spPr>
            <a:xfrm flipH="false" flipV="false" rot="0">
              <a:off x="741639" y="709385"/>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3" id="23"/>
            <p:cNvSpPr txBox="true"/>
            <p:nvPr/>
          </p:nvSpPr>
          <p:spPr>
            <a:xfrm rot="0">
              <a:off x="1045128" y="50229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AI에게 '잘' 시키는 방법</a:t>
              </a:r>
            </a:p>
          </p:txBody>
        </p:sp>
        <p:sp>
          <p:nvSpPr>
            <p:cNvPr name="Freeform 24" id="24"/>
            <p:cNvSpPr/>
            <p:nvPr/>
          </p:nvSpPr>
          <p:spPr>
            <a:xfrm flipH="false" flipV="false" rot="0">
              <a:off x="741639" y="1418045"/>
              <a:ext cx="189653" cy="144610"/>
            </a:xfrm>
            <a:custGeom>
              <a:avLst/>
              <a:gdLst/>
              <a:ahLst/>
              <a:cxnLst/>
              <a:rect r="r" b="b" t="t" l="l"/>
              <a:pathLst>
                <a:path h="144610" w="189653">
                  <a:moveTo>
                    <a:pt x="0" y="0"/>
                  </a:moveTo>
                  <a:lnTo>
                    <a:pt x="189653" y="0"/>
                  </a:lnTo>
                  <a:lnTo>
                    <a:pt x="189653" y="144611"/>
                  </a:lnTo>
                  <a:lnTo>
                    <a:pt x="0" y="14461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5" id="25"/>
            <p:cNvSpPr txBox="true"/>
            <p:nvPr/>
          </p:nvSpPr>
          <p:spPr>
            <a:xfrm rot="0">
              <a:off x="1045128" y="1210950"/>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오늘 배운 Markdown이 바로 쓰임!</a:t>
              </a:r>
            </a:p>
          </p:txBody>
        </p:sp>
        <p:sp>
          <p:nvSpPr>
            <p:cNvPr name="Freeform 26" id="26"/>
            <p:cNvSpPr/>
            <p:nvPr/>
          </p:nvSpPr>
          <p:spPr>
            <a:xfrm flipH="false" flipV="false" rot="0">
              <a:off x="741639" y="2126706"/>
              <a:ext cx="189653" cy="144610"/>
            </a:xfrm>
            <a:custGeom>
              <a:avLst/>
              <a:gdLst/>
              <a:ahLst/>
              <a:cxnLst/>
              <a:rect r="r" b="b" t="t" l="l"/>
              <a:pathLst>
                <a:path h="144610" w="189653">
                  <a:moveTo>
                    <a:pt x="0" y="0"/>
                  </a:moveTo>
                  <a:lnTo>
                    <a:pt x="189653" y="0"/>
                  </a:lnTo>
                  <a:lnTo>
                    <a:pt x="189653" y="144610"/>
                  </a:lnTo>
                  <a:lnTo>
                    <a:pt x="0" y="14461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27" id="27"/>
            <p:cNvSpPr txBox="true"/>
            <p:nvPr/>
          </p:nvSpPr>
          <p:spPr>
            <a:xfrm rot="0">
              <a:off x="1045128" y="1919611"/>
              <a:ext cx="6134820" cy="482600"/>
            </a:xfrm>
            <a:prstGeom prst="rect">
              <a:avLst/>
            </a:prstGeom>
          </p:spPr>
          <p:txBody>
            <a:bodyPr anchor="t" rtlCol="false" tIns="0" lIns="0" bIns="0" rIns="0">
              <a:spAutoFit/>
            </a:bodyPr>
            <a:lstStyle/>
            <a:p>
              <a:pPr algn="l" marL="0" indent="0" lvl="0">
                <a:lnSpc>
                  <a:spcPts val="3000"/>
                </a:lnSpc>
                <a:spcBef>
                  <a:spcPct val="0"/>
                </a:spcBef>
              </a:pPr>
              <a:r>
                <a:rPr lang="en-US" b="true" sz="2000" spc="-40" strike="noStrike" u="none">
                  <a:solidFill>
                    <a:srgbClr val="333333">
                      <a:alpha val="89804"/>
                    </a:srgbClr>
                  </a:solidFill>
                  <a:latin typeface="프리젠테이션 Bold"/>
                  <a:ea typeface="프리젠테이션 Bold"/>
                  <a:cs typeface="프리젠테이션 Bold"/>
                  <a:sym typeface="프리젠테이션 Bold"/>
                </a:rPr>
                <a:t>약 90분 · 노트북 지참</a:t>
              </a:r>
            </a:p>
          </p:txBody>
        </p:sp>
      </p:grpSp>
      <p:grpSp>
        <p:nvGrpSpPr>
          <p:cNvPr name="Group 28" id="28"/>
          <p:cNvGrpSpPr/>
          <p:nvPr/>
        </p:nvGrpSpPr>
        <p:grpSpPr>
          <a:xfrm rot="0">
            <a:off x="10472784" y="2884234"/>
            <a:ext cx="3903318" cy="547878"/>
            <a:chOff x="0" y="0"/>
            <a:chExt cx="5204424" cy="730504"/>
          </a:xfrm>
        </p:grpSpPr>
        <p:sp>
          <p:nvSpPr>
            <p:cNvPr name="Freeform 29" id="29"/>
            <p:cNvSpPr/>
            <p:nvPr/>
          </p:nvSpPr>
          <p:spPr>
            <a:xfrm flipH="false" flipV="false" rot="0">
              <a:off x="0" y="192339"/>
              <a:ext cx="355986" cy="355986"/>
            </a:xfrm>
            <a:custGeom>
              <a:avLst/>
              <a:gdLst/>
              <a:ahLst/>
              <a:cxnLst/>
              <a:rect r="r" b="b" t="t" l="l"/>
              <a:pathLst>
                <a:path h="355986" w="355986">
                  <a:moveTo>
                    <a:pt x="0" y="0"/>
                  </a:moveTo>
                  <a:lnTo>
                    <a:pt x="355986" y="0"/>
                  </a:lnTo>
                  <a:lnTo>
                    <a:pt x="355986" y="355986"/>
                  </a:lnTo>
                  <a:lnTo>
                    <a:pt x="0" y="35598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30" id="30"/>
            <p:cNvSpPr txBox="true"/>
            <p:nvPr/>
          </p:nvSpPr>
          <p:spPr>
            <a:xfrm rot="0">
              <a:off x="500339" y="76200"/>
              <a:ext cx="4704085" cy="654304"/>
            </a:xfrm>
            <a:prstGeom prst="rect">
              <a:avLst/>
            </a:prstGeom>
          </p:spPr>
          <p:txBody>
            <a:bodyPr anchor="t" rtlCol="false" tIns="0" lIns="0" bIns="0" rIns="0">
              <a:spAutoFit/>
            </a:bodyPr>
            <a:lstStyle/>
            <a:p>
              <a:pPr algn="l" marL="0" indent="0" lvl="0">
                <a:lnSpc>
                  <a:spcPts val="3456"/>
                </a:lnSpc>
                <a:spcBef>
                  <a:spcPct val="0"/>
                </a:spcBef>
              </a:pPr>
              <a:r>
                <a:rPr lang="en-US" b="true" sz="3600" spc="-72" strike="noStrike" u="none">
                  <a:solidFill>
                    <a:srgbClr val="333333"/>
                  </a:solidFill>
                  <a:latin typeface="프리젠테이션 Bold"/>
                  <a:ea typeface="프리젠테이션 Bold"/>
                  <a:cs typeface="프리젠테이션 Bold"/>
                  <a:sym typeface="프리젠테이션 Bold"/>
                </a:rPr>
                <a:t>3차시 주제</a:t>
              </a:r>
            </a:p>
          </p:txBody>
        </p:sp>
      </p:grpSp>
      <p:sp>
        <p:nvSpPr>
          <p:cNvPr name="TextBox 31" id="31"/>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spcBef>
                <a:spcPct val="0"/>
              </a:spcBef>
            </a:pPr>
            <a:r>
              <a:rPr lang="en-US" b="true" sz="5000" spc="-100" strike="noStrike" u="none">
                <a:solidFill>
                  <a:srgbClr val="FFFFFF"/>
                </a:solidFill>
                <a:latin typeface="프리젠테이션 Bold"/>
                <a:ea typeface="프리젠테이션 Bold"/>
                <a:cs typeface="프리젠테이션 Bold"/>
                <a:sym typeface="프리젠테이션 Bold"/>
              </a:rPr>
              <a:t>다음 수업 예고: 3차시</a:t>
            </a:r>
          </a:p>
        </p:txBody>
      </p:sp>
      <p:sp>
        <p:nvSpPr>
          <p:cNvPr name="TextBox 32" id="32"/>
          <p:cNvSpPr txBox="true"/>
          <p:nvPr/>
        </p:nvSpPr>
        <p:spPr>
          <a:xfrm rot="0">
            <a:off x="10472784" y="3604117"/>
            <a:ext cx="7086813" cy="1365885"/>
          </a:xfrm>
          <a:prstGeom prst="rect">
            <a:avLst/>
          </a:prstGeom>
        </p:spPr>
        <p:txBody>
          <a:bodyPr anchor="t" rtlCol="false" tIns="0" lIns="0" bIns="0" rIns="0">
            <a:spAutoFit/>
          </a:bodyPr>
          <a:lstStyle/>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① 프롬프트 엔지니어링</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② 컨텍스트 엔지니어링</a:t>
            </a:r>
          </a:p>
          <a:p>
            <a:pPr algn="l" marL="0" indent="0" lvl="0">
              <a:lnSpc>
                <a:spcPts val="3600"/>
              </a:lnSpc>
              <a:spcBef>
                <a:spcPct val="0"/>
              </a:spcBef>
            </a:pPr>
            <a:r>
              <a:rPr lang="en-US" b="true" sz="2400" spc="-48" strike="noStrike" u="none">
                <a:solidFill>
                  <a:srgbClr val="000000">
                    <a:alpha val="69804"/>
                  </a:srgbClr>
                </a:solidFill>
                <a:latin typeface="프리젠테이션 Bold"/>
                <a:ea typeface="프리젠테이션 Bold"/>
                <a:cs typeface="프리젠테이션 Bold"/>
                <a:sym typeface="프리젠테이션 Bold"/>
              </a:rPr>
              <a:t>③ 하네스 · 루프 엔지니어링</a:t>
            </a:r>
          </a:p>
        </p:txBody>
      </p:sp>
      <p:sp>
        <p:nvSpPr>
          <p:cNvPr name="TextBox 33" id="33"/>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
        <p:nvSpPr>
          <p:cNvPr name="TextBox 34" id="34"/>
          <p:cNvSpPr txBox="true"/>
          <p:nvPr/>
        </p:nvSpPr>
        <p:spPr>
          <a:xfrm rot="0">
            <a:off x="8382000" y="8899525"/>
            <a:ext cx="1524000" cy="358775"/>
          </a:xfrm>
          <a:prstGeom prst="rect">
            <a:avLst/>
          </a:prstGeom>
        </p:spPr>
        <p:txBody>
          <a:bodyPr anchor="t" rtlCol="false" tIns="0" lIns="0" bIns="0" rIns="0">
            <a:spAutoFit/>
          </a:bodyPr>
          <a:lstStyle/>
          <a:p>
            <a:pPr algn="ctr">
              <a:lnSpc>
                <a:spcPts val="2800"/>
              </a:lnSpc>
            </a:pPr>
            <a:r>
              <a:rPr lang="en-US" b="true" sz="2000">
                <a:solidFill>
                  <a:srgbClr val="4165C1"/>
                </a:solidFill>
                <a:latin typeface="프리젠테이션 Bold"/>
                <a:ea typeface="프리젠테이션 Bold"/>
                <a:cs typeface="프리젠테이션 Bold"/>
                <a:sym typeface="프리젠테이션 Bold"/>
              </a:rPr>
              <a:t>- 26 -</a:t>
            </a:r>
          </a:p>
        </p:txBody>
      </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457200"/>
            <a:ext cx="17218292" cy="9294946"/>
            <a:chOff x="0" y="0"/>
            <a:chExt cx="22957723" cy="12393261"/>
          </a:xfrm>
        </p:grpSpPr>
        <p:grpSp>
          <p:nvGrpSpPr>
            <p:cNvPr name="Group 3" id="3"/>
            <p:cNvGrpSpPr/>
            <p:nvPr/>
          </p:nvGrpSpPr>
          <p:grpSpPr>
            <a:xfrm rot="0">
              <a:off x="0" y="1727243"/>
              <a:ext cx="22957723" cy="10666019"/>
              <a:chOff x="0" y="0"/>
              <a:chExt cx="4777465" cy="2219581"/>
            </a:xfrm>
          </p:grpSpPr>
          <p:sp>
            <p:nvSpPr>
              <p:cNvPr name="Freeform 4" id="4"/>
              <p:cNvSpPr/>
              <p:nvPr/>
            </p:nvSpPr>
            <p:spPr>
              <a:xfrm flipH="false" flipV="false" rot="0">
                <a:off x="0" y="0"/>
                <a:ext cx="4777465" cy="2219581"/>
              </a:xfrm>
              <a:custGeom>
                <a:avLst/>
                <a:gdLst/>
                <a:ahLst/>
                <a:cxnLst/>
                <a:rect r="r" b="b" t="t" l="l"/>
                <a:pathLst>
                  <a:path h="2219581" w="4777465">
                    <a:moveTo>
                      <a:pt x="22931" y="0"/>
                    </a:moveTo>
                    <a:lnTo>
                      <a:pt x="4754534" y="0"/>
                    </a:lnTo>
                    <a:cubicBezTo>
                      <a:pt x="4767199" y="0"/>
                      <a:pt x="4777465" y="10267"/>
                      <a:pt x="4777465" y="22931"/>
                    </a:cubicBezTo>
                    <a:lnTo>
                      <a:pt x="4777465" y="2196650"/>
                    </a:lnTo>
                    <a:cubicBezTo>
                      <a:pt x="4777465" y="2202732"/>
                      <a:pt x="4775049" y="2208564"/>
                      <a:pt x="4770749" y="2212865"/>
                    </a:cubicBezTo>
                    <a:cubicBezTo>
                      <a:pt x="4766449" y="2217165"/>
                      <a:pt x="4760616" y="2219581"/>
                      <a:pt x="4754534" y="2219581"/>
                    </a:cubicBezTo>
                    <a:lnTo>
                      <a:pt x="22931" y="2219581"/>
                    </a:lnTo>
                    <a:cubicBezTo>
                      <a:pt x="10267" y="2219581"/>
                      <a:pt x="0" y="2209315"/>
                      <a:pt x="0" y="2196650"/>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25768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18499830" y="891712"/>
              <a:ext cx="4457893" cy="3397582"/>
              <a:chOff x="0" y="0"/>
              <a:chExt cx="927680" cy="707031"/>
            </a:xfrm>
          </p:grpSpPr>
          <p:sp>
            <p:nvSpPr>
              <p:cNvPr name="Freeform 7" id="7"/>
              <p:cNvSpPr/>
              <p:nvPr/>
            </p:nvSpPr>
            <p:spPr>
              <a:xfrm flipH="false" flipV="false" rot="0">
                <a:off x="0" y="0"/>
                <a:ext cx="927680" cy="707031"/>
              </a:xfrm>
              <a:custGeom>
                <a:avLst/>
                <a:gdLst/>
                <a:ahLst/>
                <a:cxnLst/>
                <a:rect r="r" b="b" t="t" l="l"/>
                <a:pathLst>
                  <a:path h="707031" w="927680">
                    <a:moveTo>
                      <a:pt x="118094" y="0"/>
                    </a:moveTo>
                    <a:lnTo>
                      <a:pt x="809586" y="0"/>
                    </a:lnTo>
                    <a:cubicBezTo>
                      <a:pt x="874808" y="0"/>
                      <a:pt x="927680" y="52872"/>
                      <a:pt x="927680" y="118094"/>
                    </a:cubicBezTo>
                    <a:lnTo>
                      <a:pt x="927680" y="588937"/>
                    </a:lnTo>
                    <a:cubicBezTo>
                      <a:pt x="927680" y="654159"/>
                      <a:pt x="874808" y="707031"/>
                      <a:pt x="809586" y="707031"/>
                    </a:cubicBezTo>
                    <a:lnTo>
                      <a:pt x="118094" y="707031"/>
                    </a:lnTo>
                    <a:cubicBezTo>
                      <a:pt x="52872" y="707031"/>
                      <a:pt x="0" y="654159"/>
                      <a:pt x="0" y="588937"/>
                    </a:cubicBezTo>
                    <a:lnTo>
                      <a:pt x="0" y="118094"/>
                    </a:lnTo>
                    <a:cubicBezTo>
                      <a:pt x="0" y="52872"/>
                      <a:pt x="52872" y="0"/>
                      <a:pt x="118094" y="0"/>
                    </a:cubicBezTo>
                    <a:close/>
                  </a:path>
                </a:pathLst>
              </a:custGeom>
              <a:solidFill>
                <a:srgbClr val="FFFFFF"/>
              </a:solidFill>
              <a:ln cap="rnd">
                <a:noFill/>
                <a:prstDash val="solid"/>
                <a:round/>
              </a:ln>
            </p:spPr>
          </p:sp>
          <p:sp>
            <p:nvSpPr>
              <p:cNvPr name="TextBox 8" id="8"/>
              <p:cNvSpPr txBox="true"/>
              <p:nvPr/>
            </p:nvSpPr>
            <p:spPr>
              <a:xfrm>
                <a:off x="0" y="-38100"/>
                <a:ext cx="927680"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18064463" y="1334482"/>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12" id="12"/>
            <p:cNvGrpSpPr/>
            <p:nvPr/>
          </p:nvGrpSpPr>
          <p:grpSpPr>
            <a:xfrm rot="0">
              <a:off x="16059231" y="0"/>
              <a:ext cx="2504831" cy="1727243"/>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sp>
        <p:nvSpPr>
          <p:cNvPr name="TextBox 15" id="15"/>
          <p:cNvSpPr txBox="true"/>
          <p:nvPr/>
        </p:nvSpPr>
        <p:spPr>
          <a:xfrm rot="0">
            <a:off x="1355167" y="696396"/>
            <a:ext cx="12295240" cy="685800"/>
          </a:xfrm>
          <a:prstGeom prst="rect">
            <a:avLst/>
          </a:prstGeom>
        </p:spPr>
        <p:txBody>
          <a:bodyPr anchor="t" rtlCol="false" tIns="0" lIns="0" bIns="0" rIns="0">
            <a:spAutoFit/>
          </a:bodyPr>
          <a:lstStyle/>
          <a:p>
            <a:pPr algn="l" marL="0" indent="0" lvl="0">
              <a:lnSpc>
                <a:spcPts val="5100"/>
              </a:lnSpc>
            </a:pPr>
            <a:r>
              <a:rPr lang="en-US" b="true" sz="5000" spc="-100">
                <a:solidFill>
                  <a:srgbClr val="FFFFFF"/>
                </a:solidFill>
                <a:latin typeface="프리젠테이션 Bold"/>
                <a:ea typeface="프리젠테이션 Bold"/>
                <a:cs typeface="프리젠테이션 Bold"/>
                <a:sym typeface="프리젠테이션 Bold"/>
              </a:rPr>
              <a:t>질문과 답변</a:t>
            </a:r>
          </a:p>
        </p:txBody>
      </p:sp>
      <p:sp>
        <p:nvSpPr>
          <p:cNvPr name="Freeform 16" id="16"/>
          <p:cNvSpPr/>
          <p:nvPr/>
        </p:nvSpPr>
        <p:spPr>
          <a:xfrm flipH="false" flipV="false" rot="0">
            <a:off x="820604" y="843344"/>
            <a:ext cx="334731" cy="334731"/>
          </a:xfrm>
          <a:custGeom>
            <a:avLst/>
            <a:gdLst/>
            <a:ahLst/>
            <a:cxnLst/>
            <a:rect r="r" b="b" t="t" l="l"/>
            <a:pathLst>
              <a:path h="334731" w="334731">
                <a:moveTo>
                  <a:pt x="0" y="0"/>
                </a:moveTo>
                <a:lnTo>
                  <a:pt x="334731" y="0"/>
                </a:lnTo>
                <a:lnTo>
                  <a:pt x="334731" y="334731"/>
                </a:lnTo>
                <a:lnTo>
                  <a:pt x="0" y="33473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7" id="17"/>
          <p:cNvSpPr txBox="true"/>
          <p:nvPr/>
        </p:nvSpPr>
        <p:spPr>
          <a:xfrm rot="0">
            <a:off x="3432477" y="5801544"/>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000000"/>
                </a:solidFill>
                <a:latin typeface="프리젠테이션 Bold"/>
                <a:ea typeface="프리젠테이션 Bold"/>
                <a:cs typeface="프리젠테이션 Bold"/>
                <a:sym typeface="프리젠테이션 Bold"/>
              </a:rPr>
              <a:t>오늘 수업, 궁금한 점 있으신가요?</a:t>
            </a:r>
          </a:p>
        </p:txBody>
      </p:sp>
      <p:sp>
        <p:nvSpPr>
          <p:cNvPr name="TextBox 18" id="18"/>
          <p:cNvSpPr txBox="true"/>
          <p:nvPr/>
        </p:nvSpPr>
        <p:spPr>
          <a:xfrm rot="0">
            <a:off x="3432477" y="6600042"/>
            <a:ext cx="11423046" cy="709422"/>
          </a:xfrm>
          <a:prstGeom prst="rect">
            <a:avLst/>
          </a:prstGeom>
        </p:spPr>
        <p:txBody>
          <a:bodyPr anchor="t" rtlCol="false" tIns="0" lIns="0" bIns="0" rIns="0">
            <a:spAutoFit/>
          </a:bodyPr>
          <a:lstStyle/>
          <a:p>
            <a:pPr algn="ctr" marL="0" indent="0" lvl="0">
              <a:lnSpc>
                <a:spcPts val="5423"/>
              </a:lnSpc>
              <a:spcBef>
                <a:spcPct val="0"/>
              </a:spcBef>
            </a:pPr>
            <a:r>
              <a:rPr lang="en-US" b="true" sz="4800" spc="-144" strike="noStrike" u="none">
                <a:solidFill>
                  <a:srgbClr val="5170FF"/>
                </a:solidFill>
                <a:latin typeface="프리젠테이션 Bold"/>
                <a:ea typeface="프리젠테이션 Bold"/>
                <a:cs typeface="프리젠테이션 Bold"/>
                <a:sym typeface="프리젠테이션 Bold"/>
              </a:rPr>
              <a:t>편하게 질문해 주세요!</a:t>
            </a:r>
          </a:p>
        </p:txBody>
      </p:sp>
      <p:sp>
        <p:nvSpPr>
          <p:cNvPr name="Freeform 19" id="19"/>
          <p:cNvSpPr/>
          <p:nvPr/>
        </p:nvSpPr>
        <p:spPr>
          <a:xfrm flipH="true" flipV="false" rot="0">
            <a:off x="7153634" y="3343132"/>
            <a:ext cx="2003592" cy="1570315"/>
          </a:xfrm>
          <a:custGeom>
            <a:avLst/>
            <a:gdLst/>
            <a:ahLst/>
            <a:cxnLst/>
            <a:rect r="r" b="b" t="t" l="l"/>
            <a:pathLst>
              <a:path h="1570315" w="2003592">
                <a:moveTo>
                  <a:pt x="2003593" y="0"/>
                </a:moveTo>
                <a:lnTo>
                  <a:pt x="0" y="0"/>
                </a:lnTo>
                <a:lnTo>
                  <a:pt x="0" y="1570316"/>
                </a:lnTo>
                <a:lnTo>
                  <a:pt x="2003593" y="1570316"/>
                </a:lnTo>
                <a:lnTo>
                  <a:pt x="2003593"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20" id="20"/>
          <p:cNvSpPr/>
          <p:nvPr/>
        </p:nvSpPr>
        <p:spPr>
          <a:xfrm flipH="false" flipV="false" rot="0">
            <a:off x="9133758" y="3914364"/>
            <a:ext cx="2003592" cy="1570315"/>
          </a:xfrm>
          <a:custGeom>
            <a:avLst/>
            <a:gdLst/>
            <a:ahLst/>
            <a:cxnLst/>
            <a:rect r="r" b="b" t="t" l="l"/>
            <a:pathLst>
              <a:path h="1570315" w="2003592">
                <a:moveTo>
                  <a:pt x="0" y="0"/>
                </a:moveTo>
                <a:lnTo>
                  <a:pt x="2003592" y="0"/>
                </a:lnTo>
                <a:lnTo>
                  <a:pt x="2003592" y="1570315"/>
                </a:lnTo>
                <a:lnTo>
                  <a:pt x="0" y="157031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TextBox 21" id="21"/>
          <p:cNvSpPr txBox="true"/>
          <p:nvPr/>
        </p:nvSpPr>
        <p:spPr>
          <a:xfrm rot="0">
            <a:off x="7291556" y="3386575"/>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Q</a:t>
            </a:r>
          </a:p>
        </p:txBody>
      </p:sp>
      <p:sp>
        <p:nvSpPr>
          <p:cNvPr name="TextBox 22" id="22"/>
          <p:cNvSpPr txBox="true"/>
          <p:nvPr/>
        </p:nvSpPr>
        <p:spPr>
          <a:xfrm rot="0">
            <a:off x="9271679" y="3957807"/>
            <a:ext cx="1727750" cy="1143397"/>
          </a:xfrm>
          <a:prstGeom prst="rect">
            <a:avLst/>
          </a:prstGeom>
        </p:spPr>
        <p:txBody>
          <a:bodyPr anchor="t" rtlCol="false" tIns="0" lIns="0" bIns="0" rIns="0">
            <a:spAutoFit/>
          </a:bodyPr>
          <a:lstStyle/>
          <a:p>
            <a:pPr algn="ctr">
              <a:lnSpc>
                <a:spcPts val="8041"/>
              </a:lnSpc>
            </a:pPr>
            <a:r>
              <a:rPr lang="en-US" b="true" sz="6701" spc="-341">
                <a:solidFill>
                  <a:srgbClr val="FDFDFB"/>
                </a:solidFill>
                <a:latin typeface="DIN Next Bold"/>
                <a:ea typeface="DIN Next Bold"/>
                <a:cs typeface="DIN Next Bold"/>
                <a:sym typeface="DIN Next Bold"/>
              </a:rPr>
              <a:t>A</a:t>
            </a:r>
          </a:p>
        </p:txBody>
      </p:sp>
      <p:sp>
        <p:nvSpPr>
          <p:cNvPr name="TextBox 23" id="23"/>
          <p:cNvSpPr txBox="true"/>
          <p:nvPr/>
        </p:nvSpPr>
        <p:spPr>
          <a:xfrm rot="0">
            <a:off x="5408845" y="7574259"/>
            <a:ext cx="7496762" cy="593598"/>
          </a:xfrm>
          <a:prstGeom prst="rect">
            <a:avLst/>
          </a:prstGeom>
        </p:spPr>
        <p:txBody>
          <a:bodyPr anchor="t" rtlCol="false" tIns="0" lIns="0" bIns="0" rIns="0">
            <a:spAutoFit/>
          </a:bodyPr>
          <a:lstStyle/>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수업이 끝난 뒤에도 단톡방에 언제든 남겨 주세요.</a:t>
            </a:r>
          </a:p>
          <a:p>
            <a:pPr algn="ctr" marL="0" indent="0" lvl="0">
              <a:lnSpc>
                <a:spcPts val="2285"/>
              </a:lnSpc>
              <a:spcBef>
                <a:spcPct val="0"/>
              </a:spcBef>
            </a:pPr>
            <a:r>
              <a:rPr lang="en-US" b="true" sz="1799" spc="30" strike="noStrike" u="none">
                <a:solidFill>
                  <a:srgbClr val="747EA3"/>
                </a:solidFill>
                <a:latin typeface="프리젠테이션 Bold"/>
                <a:ea typeface="프리젠테이션 Bold"/>
                <a:cs typeface="프리젠테이션 Bold"/>
                <a:sym typeface="프리젠테이션 Bold"/>
              </a:rPr>
              <a:t>강의 자료는 노션 · GitHub에서 다시 볼 수 있어요.</a:t>
            </a:r>
          </a:p>
        </p:txBody>
      </p:sp>
      <p:sp>
        <p:nvSpPr>
          <p:cNvPr name="TextBox 24" id="24"/>
          <p:cNvSpPr txBox="true"/>
          <p:nvPr/>
        </p:nvSpPr>
        <p:spPr>
          <a:xfrm rot="0">
            <a:off x="14694520" y="1353621"/>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5170FF"/>
                </a:solidFill>
                <a:latin typeface="프리젠테이션 Bold"/>
                <a:ea typeface="프리젠테이션 Bold"/>
                <a:cs typeface="프리젠테이션 Bold"/>
                <a:sym typeface="프리젠테이션 Bold"/>
              </a:rPr>
              <a:t>해달 바이브코딩 기초반</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5170FF"/>
        </a:solidFill>
      </p:bgPr>
    </p:bg>
    <p:spTree>
      <p:nvGrpSpPr>
        <p:cNvPr id="1" name=""/>
        <p:cNvGrpSpPr/>
        <p:nvPr/>
      </p:nvGrpSpPr>
      <p:grpSpPr>
        <a:xfrm>
          <a:off x="0" y="0"/>
          <a:ext cx="0" cy="0"/>
          <a:chOff x="0" y="0"/>
          <a:chExt cx="0" cy="0"/>
        </a:xfrm>
      </p:grpSpPr>
      <p:grpSp>
        <p:nvGrpSpPr>
          <p:cNvPr name="Group 2" id="2"/>
          <p:cNvGrpSpPr/>
          <p:nvPr/>
        </p:nvGrpSpPr>
        <p:grpSpPr>
          <a:xfrm rot="0">
            <a:off x="534854" y="566049"/>
            <a:ext cx="17218292" cy="9186097"/>
            <a:chOff x="0" y="0"/>
            <a:chExt cx="22957723" cy="12248129"/>
          </a:xfrm>
        </p:grpSpPr>
        <p:grpSp>
          <p:nvGrpSpPr>
            <p:cNvPr name="Group 3" id="3"/>
            <p:cNvGrpSpPr/>
            <p:nvPr/>
          </p:nvGrpSpPr>
          <p:grpSpPr>
            <a:xfrm rot="0">
              <a:off x="0" y="835531"/>
              <a:ext cx="22957723" cy="11412598"/>
              <a:chOff x="0" y="0"/>
              <a:chExt cx="4777465" cy="2374943"/>
            </a:xfrm>
          </p:grpSpPr>
          <p:sp>
            <p:nvSpPr>
              <p:cNvPr name="Freeform 4" id="4"/>
              <p:cNvSpPr/>
              <p:nvPr/>
            </p:nvSpPr>
            <p:spPr>
              <a:xfrm flipH="false" flipV="false" rot="0">
                <a:off x="0" y="0"/>
                <a:ext cx="4777465" cy="2374943"/>
              </a:xfrm>
              <a:custGeom>
                <a:avLst/>
                <a:gdLst/>
                <a:ahLst/>
                <a:cxnLst/>
                <a:rect r="r" b="b" t="t" l="l"/>
                <a:pathLst>
                  <a:path h="2374943" w="4777465">
                    <a:moveTo>
                      <a:pt x="22931" y="0"/>
                    </a:moveTo>
                    <a:lnTo>
                      <a:pt x="4754534" y="0"/>
                    </a:lnTo>
                    <a:cubicBezTo>
                      <a:pt x="4767199" y="0"/>
                      <a:pt x="4777465" y="10267"/>
                      <a:pt x="4777465" y="22931"/>
                    </a:cubicBezTo>
                    <a:lnTo>
                      <a:pt x="4777465" y="2352012"/>
                    </a:lnTo>
                    <a:cubicBezTo>
                      <a:pt x="4777465" y="2358094"/>
                      <a:pt x="4775049" y="2363926"/>
                      <a:pt x="4770749" y="2368227"/>
                    </a:cubicBezTo>
                    <a:cubicBezTo>
                      <a:pt x="4766449" y="2372527"/>
                      <a:pt x="4760616" y="2374943"/>
                      <a:pt x="4754534" y="2374943"/>
                    </a:cubicBezTo>
                    <a:lnTo>
                      <a:pt x="22931" y="2374943"/>
                    </a:lnTo>
                    <a:cubicBezTo>
                      <a:pt x="10267" y="2374943"/>
                      <a:pt x="0" y="2364677"/>
                      <a:pt x="0" y="2352012"/>
                    </a:cubicBezTo>
                    <a:lnTo>
                      <a:pt x="0" y="22931"/>
                    </a:lnTo>
                    <a:cubicBezTo>
                      <a:pt x="0" y="10267"/>
                      <a:pt x="10267" y="0"/>
                      <a:pt x="22931" y="0"/>
                    </a:cubicBezTo>
                    <a:close/>
                  </a:path>
                </a:pathLst>
              </a:custGeom>
              <a:solidFill>
                <a:srgbClr val="FFFFFF"/>
              </a:solidFill>
              <a:ln cap="rnd">
                <a:noFill/>
                <a:prstDash val="solid"/>
                <a:round/>
              </a:ln>
            </p:spPr>
          </p:sp>
          <p:sp>
            <p:nvSpPr>
              <p:cNvPr name="TextBox 5" id="5"/>
              <p:cNvSpPr txBox="true"/>
              <p:nvPr/>
            </p:nvSpPr>
            <p:spPr>
              <a:xfrm>
                <a:off x="0" y="-38100"/>
                <a:ext cx="4777465" cy="2413043"/>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6" id="6"/>
            <p:cNvGrpSpPr/>
            <p:nvPr/>
          </p:nvGrpSpPr>
          <p:grpSpPr>
            <a:xfrm rot="0">
              <a:off x="4517287" y="0"/>
              <a:ext cx="18440436" cy="3397582"/>
              <a:chOff x="0" y="0"/>
              <a:chExt cx="3837425" cy="707031"/>
            </a:xfrm>
          </p:grpSpPr>
          <p:sp>
            <p:nvSpPr>
              <p:cNvPr name="Freeform 7" id="7"/>
              <p:cNvSpPr/>
              <p:nvPr/>
            </p:nvSpPr>
            <p:spPr>
              <a:xfrm flipH="false" flipV="false" rot="0">
                <a:off x="0" y="0"/>
                <a:ext cx="3837425" cy="707031"/>
              </a:xfrm>
              <a:custGeom>
                <a:avLst/>
                <a:gdLst/>
                <a:ahLst/>
                <a:cxnLst/>
                <a:rect r="r" b="b" t="t" l="l"/>
                <a:pathLst>
                  <a:path h="707031" w="3837425">
                    <a:moveTo>
                      <a:pt x="28549" y="0"/>
                    </a:moveTo>
                    <a:lnTo>
                      <a:pt x="3808877" y="0"/>
                    </a:lnTo>
                    <a:cubicBezTo>
                      <a:pt x="3824644" y="0"/>
                      <a:pt x="3837425" y="12782"/>
                      <a:pt x="3837425" y="28549"/>
                    </a:cubicBezTo>
                    <a:lnTo>
                      <a:pt x="3837425" y="678483"/>
                    </a:lnTo>
                    <a:cubicBezTo>
                      <a:pt x="3837425" y="686054"/>
                      <a:pt x="3834418" y="693316"/>
                      <a:pt x="3829064" y="698670"/>
                    </a:cubicBezTo>
                    <a:cubicBezTo>
                      <a:pt x="3823710" y="704024"/>
                      <a:pt x="3816448" y="707031"/>
                      <a:pt x="3808877" y="707031"/>
                    </a:cubicBezTo>
                    <a:lnTo>
                      <a:pt x="28549" y="707031"/>
                    </a:lnTo>
                    <a:cubicBezTo>
                      <a:pt x="12782" y="707031"/>
                      <a:pt x="0" y="694250"/>
                      <a:pt x="0" y="678483"/>
                    </a:cubicBezTo>
                    <a:lnTo>
                      <a:pt x="0" y="28549"/>
                    </a:lnTo>
                    <a:cubicBezTo>
                      <a:pt x="0" y="20977"/>
                      <a:pt x="3008" y="13716"/>
                      <a:pt x="8362" y="8362"/>
                    </a:cubicBezTo>
                    <a:cubicBezTo>
                      <a:pt x="13716" y="3008"/>
                      <a:pt x="20977" y="0"/>
                      <a:pt x="28549" y="0"/>
                    </a:cubicBezTo>
                    <a:close/>
                  </a:path>
                </a:pathLst>
              </a:custGeom>
              <a:solidFill>
                <a:srgbClr val="FFFFFF"/>
              </a:solidFill>
              <a:ln cap="rnd">
                <a:noFill/>
                <a:prstDash val="solid"/>
                <a:round/>
              </a:ln>
            </p:spPr>
          </p:sp>
          <p:sp>
            <p:nvSpPr>
              <p:cNvPr name="TextBox 8" id="8"/>
              <p:cNvSpPr txBox="true"/>
              <p:nvPr/>
            </p:nvSpPr>
            <p:spPr>
              <a:xfrm>
                <a:off x="0" y="-38100"/>
                <a:ext cx="3837425" cy="745131"/>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nvGrpSpPr>
            <p:cNvPr name="Group 9" id="9"/>
            <p:cNvGrpSpPr/>
            <p:nvPr/>
          </p:nvGrpSpPr>
          <p:grpSpPr>
            <a:xfrm rot="0">
              <a:off x="4081187" y="442770"/>
              <a:ext cx="2392010" cy="1865053"/>
              <a:chOff x="0" y="0"/>
              <a:chExt cx="497773" cy="388115"/>
            </a:xfrm>
          </p:grpSpPr>
          <p:sp>
            <p:nvSpPr>
              <p:cNvPr name="Freeform 10" id="10"/>
              <p:cNvSpPr/>
              <p:nvPr/>
            </p:nvSpPr>
            <p:spPr>
              <a:xfrm flipH="false" flipV="false" rot="0">
                <a:off x="0" y="0"/>
                <a:ext cx="497773" cy="388115"/>
              </a:xfrm>
              <a:custGeom>
                <a:avLst/>
                <a:gdLst/>
                <a:ahLst/>
                <a:cxnLst/>
                <a:rect r="r" b="b" t="t" l="l"/>
                <a:pathLst>
                  <a:path h="388115" w="497773">
                    <a:moveTo>
                      <a:pt x="0" y="0"/>
                    </a:moveTo>
                    <a:lnTo>
                      <a:pt x="497773" y="0"/>
                    </a:lnTo>
                    <a:lnTo>
                      <a:pt x="497773" y="388115"/>
                    </a:lnTo>
                    <a:lnTo>
                      <a:pt x="0" y="388115"/>
                    </a:lnTo>
                    <a:close/>
                  </a:path>
                </a:pathLst>
              </a:custGeom>
              <a:solidFill>
                <a:srgbClr val="FFFFFF"/>
              </a:solidFill>
              <a:ln cap="sq">
                <a:noFill/>
                <a:prstDash val="solid"/>
                <a:miter/>
              </a:ln>
            </p:spPr>
          </p:sp>
          <p:sp>
            <p:nvSpPr>
              <p:cNvPr name="TextBox 11" id="11"/>
              <p:cNvSpPr txBox="true"/>
              <p:nvPr/>
            </p:nvSpPr>
            <p:spPr>
              <a:xfrm>
                <a:off x="0" y="-38100"/>
                <a:ext cx="497773" cy="426215"/>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grpSp>
      <p:grpSp>
        <p:nvGrpSpPr>
          <p:cNvPr name="Group 12" id="12"/>
          <p:cNvGrpSpPr/>
          <p:nvPr/>
        </p:nvGrpSpPr>
        <p:grpSpPr>
          <a:xfrm rot="0">
            <a:off x="2091821" y="-102735"/>
            <a:ext cx="1878623" cy="1295432"/>
            <a:chOff x="0" y="0"/>
            <a:chExt cx="521251" cy="359436"/>
          </a:xfrm>
        </p:grpSpPr>
        <p:sp>
          <p:nvSpPr>
            <p:cNvPr name="Freeform 13" id="13"/>
            <p:cNvSpPr/>
            <p:nvPr/>
          </p:nvSpPr>
          <p:spPr>
            <a:xfrm flipH="false" flipV="false" rot="0">
              <a:off x="0" y="0"/>
              <a:ext cx="521251" cy="359436"/>
            </a:xfrm>
            <a:custGeom>
              <a:avLst/>
              <a:gdLst/>
              <a:ahLst/>
              <a:cxnLst/>
              <a:rect r="r" b="b" t="t" l="l"/>
              <a:pathLst>
                <a:path h="359436" w="521251">
                  <a:moveTo>
                    <a:pt x="179718" y="0"/>
                  </a:moveTo>
                  <a:lnTo>
                    <a:pt x="341533" y="0"/>
                  </a:lnTo>
                  <a:cubicBezTo>
                    <a:pt x="440789" y="0"/>
                    <a:pt x="521251" y="80463"/>
                    <a:pt x="521251" y="179718"/>
                  </a:cubicBezTo>
                  <a:lnTo>
                    <a:pt x="521251" y="179718"/>
                  </a:lnTo>
                  <a:cubicBezTo>
                    <a:pt x="521251" y="227382"/>
                    <a:pt x="502317" y="273094"/>
                    <a:pt x="468613" y="306798"/>
                  </a:cubicBezTo>
                  <a:cubicBezTo>
                    <a:pt x="434909" y="340502"/>
                    <a:pt x="389197" y="359436"/>
                    <a:pt x="341533" y="359436"/>
                  </a:cubicBezTo>
                  <a:lnTo>
                    <a:pt x="179718" y="359436"/>
                  </a:lnTo>
                  <a:cubicBezTo>
                    <a:pt x="132054" y="359436"/>
                    <a:pt x="86342" y="340502"/>
                    <a:pt x="52638" y="306798"/>
                  </a:cubicBezTo>
                  <a:cubicBezTo>
                    <a:pt x="18935" y="273094"/>
                    <a:pt x="0" y="227382"/>
                    <a:pt x="0" y="179718"/>
                  </a:cubicBezTo>
                  <a:lnTo>
                    <a:pt x="0" y="179718"/>
                  </a:lnTo>
                  <a:cubicBezTo>
                    <a:pt x="0" y="132054"/>
                    <a:pt x="18935" y="86342"/>
                    <a:pt x="52638" y="52638"/>
                  </a:cubicBezTo>
                  <a:cubicBezTo>
                    <a:pt x="86342" y="18935"/>
                    <a:pt x="132054" y="0"/>
                    <a:pt x="179718" y="0"/>
                  </a:cubicBezTo>
                  <a:close/>
                </a:path>
              </a:pathLst>
            </a:custGeom>
            <a:solidFill>
              <a:srgbClr val="5170FF"/>
            </a:solidFill>
            <a:ln cap="rnd">
              <a:noFill/>
              <a:prstDash val="solid"/>
              <a:round/>
            </a:ln>
          </p:spPr>
        </p:sp>
        <p:sp>
          <p:nvSpPr>
            <p:cNvPr name="TextBox 14" id="14"/>
            <p:cNvSpPr txBox="true"/>
            <p:nvPr/>
          </p:nvSpPr>
          <p:spPr>
            <a:xfrm>
              <a:off x="0" y="-38100"/>
              <a:ext cx="521251" cy="397536"/>
            </a:xfrm>
            <a:prstGeom prst="rect">
              <a:avLst/>
            </a:prstGeom>
          </p:spPr>
          <p:txBody>
            <a:bodyPr anchor="ctr" rtlCol="false" tIns="48220" lIns="48220" bIns="48220" rIns="48220"/>
            <a:lstStyle/>
            <a:p>
              <a:pPr algn="ctr" marL="0" indent="0" lvl="0">
                <a:lnSpc>
                  <a:spcPts val="1853"/>
                </a:lnSpc>
                <a:spcBef>
                  <a:spcPct val="0"/>
                </a:spcBef>
              </a:pPr>
            </a:p>
            <a:p>
              <a:pPr algn="ctr" marL="0" indent="0" lvl="0">
                <a:lnSpc>
                  <a:spcPts val="1853"/>
                </a:lnSpc>
                <a:spcBef>
                  <a:spcPct val="0"/>
                </a:spcBef>
              </a:pPr>
            </a:p>
            <a:p>
              <a:pPr algn="ctr" marL="0" indent="0" lvl="0">
                <a:lnSpc>
                  <a:spcPts val="1853"/>
                </a:lnSpc>
                <a:spcBef>
                  <a:spcPct val="0"/>
                </a:spcBef>
              </a:pPr>
            </a:p>
          </p:txBody>
        </p:sp>
      </p:grpSp>
      <p:sp>
        <p:nvSpPr>
          <p:cNvPr name="Freeform 15" id="15"/>
          <p:cNvSpPr/>
          <p:nvPr/>
        </p:nvSpPr>
        <p:spPr>
          <a:xfrm flipH="false" flipV="false" rot="-5400000">
            <a:off x="16995628" y="862350"/>
            <a:ext cx="82863" cy="368281"/>
          </a:xfrm>
          <a:custGeom>
            <a:avLst/>
            <a:gdLst/>
            <a:ahLst/>
            <a:cxnLst/>
            <a:rect r="r" b="b" t="t" l="l"/>
            <a:pathLst>
              <a:path h="368281" w="82863">
                <a:moveTo>
                  <a:pt x="0" y="0"/>
                </a:moveTo>
                <a:lnTo>
                  <a:pt x="82863" y="0"/>
                </a:lnTo>
                <a:lnTo>
                  <a:pt x="82863" y="368281"/>
                </a:lnTo>
                <a:lnTo>
                  <a:pt x="0" y="36828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a:ln cap="sq">
            <a:noFill/>
            <a:prstDash val="solid"/>
            <a:miter/>
          </a:ln>
        </p:spPr>
      </p:sp>
      <p:sp>
        <p:nvSpPr>
          <p:cNvPr name="Freeform 16" id="16"/>
          <p:cNvSpPr/>
          <p:nvPr/>
        </p:nvSpPr>
        <p:spPr>
          <a:xfrm flipH="false" flipV="false" rot="0">
            <a:off x="13540110" y="6593084"/>
            <a:ext cx="3312808" cy="2401786"/>
          </a:xfrm>
          <a:custGeom>
            <a:avLst/>
            <a:gdLst/>
            <a:ahLst/>
            <a:cxnLst/>
            <a:rect r="r" b="b" t="t" l="l"/>
            <a:pathLst>
              <a:path h="2401786" w="3312808">
                <a:moveTo>
                  <a:pt x="0" y="0"/>
                </a:moveTo>
                <a:lnTo>
                  <a:pt x="3312809" y="0"/>
                </a:lnTo>
                <a:lnTo>
                  <a:pt x="3312809" y="2401786"/>
                </a:lnTo>
                <a:lnTo>
                  <a:pt x="0" y="240178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7" id="17"/>
          <p:cNvSpPr txBox="true"/>
          <p:nvPr/>
        </p:nvSpPr>
        <p:spPr>
          <a:xfrm rot="0">
            <a:off x="2377195" y="3075893"/>
            <a:ext cx="14882105" cy="1543752"/>
          </a:xfrm>
          <a:prstGeom prst="rect">
            <a:avLst/>
          </a:prstGeom>
        </p:spPr>
        <p:txBody>
          <a:bodyPr anchor="t" rtlCol="false" tIns="0" lIns="0" bIns="0" rIns="0">
            <a:spAutoFit/>
          </a:bodyPr>
          <a:lstStyle/>
          <a:p>
            <a:pPr algn="l">
              <a:lnSpc>
                <a:spcPts val="12193"/>
              </a:lnSpc>
            </a:pPr>
            <a:r>
              <a:rPr lang="en-US" b="true" sz="9601">
                <a:solidFill>
                  <a:srgbClr val="000000"/>
                </a:solidFill>
                <a:latin typeface="프리젠테이션 Ultra-Bold"/>
                <a:ea typeface="프리젠테이션 Ultra-Bold"/>
                <a:cs typeface="프리젠테이션 Ultra-Bold"/>
                <a:sym typeface="프리젠테이션 Ultra-Bold"/>
              </a:rPr>
              <a:t>THANK YOU!!</a:t>
            </a:r>
          </a:p>
        </p:txBody>
      </p:sp>
      <p:sp>
        <p:nvSpPr>
          <p:cNvPr name="TextBox 18" id="18"/>
          <p:cNvSpPr txBox="true"/>
          <p:nvPr/>
        </p:nvSpPr>
        <p:spPr>
          <a:xfrm rot="0">
            <a:off x="2377195" y="5160276"/>
            <a:ext cx="10520872" cy="380365"/>
          </a:xfrm>
          <a:prstGeom prst="rect">
            <a:avLst/>
          </a:prstGeom>
        </p:spPr>
        <p:txBody>
          <a:bodyPr anchor="t" rtlCol="false" tIns="0" lIns="0" bIns="0" rIns="0">
            <a:spAutoFit/>
          </a:bodyPr>
          <a:lstStyle/>
          <a:p>
            <a:pPr algn="l" marL="0" indent="0" lvl="0">
              <a:lnSpc>
                <a:spcPts val="3079"/>
              </a:lnSpc>
              <a:spcBef>
                <a:spcPct val="0"/>
              </a:spcBef>
            </a:pPr>
            <a:r>
              <a:rPr lang="en-US" b="true" sz="1999" spc="-19" strike="noStrike" u="none">
                <a:solidFill>
                  <a:srgbClr val="747EA3"/>
                </a:solidFill>
                <a:latin typeface="프리젠테이션 Bold"/>
                <a:ea typeface="프리젠테이션 Bold"/>
                <a:cs typeface="프리젠테이션 Bold"/>
                <a:sym typeface="프리젠테이션 Bold"/>
              </a:rPr>
              <a:t>완성한 README.md, 단톡방에 공유해 주세요! 이제 해크닉 🧺🍱</a:t>
            </a:r>
          </a:p>
        </p:txBody>
      </p:sp>
      <p:sp>
        <p:nvSpPr>
          <p:cNvPr name="TextBox 19" id="19"/>
          <p:cNvSpPr txBox="true"/>
          <p:nvPr/>
        </p:nvSpPr>
        <p:spPr>
          <a:xfrm rot="0">
            <a:off x="2377195" y="4572020"/>
            <a:ext cx="7287980" cy="587883"/>
          </a:xfrm>
          <a:prstGeom prst="rect">
            <a:avLst/>
          </a:prstGeom>
        </p:spPr>
        <p:txBody>
          <a:bodyPr anchor="t" rtlCol="false" tIns="0" lIns="0" bIns="0" rIns="0">
            <a:spAutoFit/>
          </a:bodyPr>
          <a:lstStyle/>
          <a:p>
            <a:pPr algn="l" marL="0" indent="0" lvl="0">
              <a:lnSpc>
                <a:spcPts val="4715"/>
              </a:lnSpc>
              <a:spcBef>
                <a:spcPct val="0"/>
              </a:spcBef>
            </a:pPr>
            <a:r>
              <a:rPr lang="en-US" b="true" sz="3599" spc="-147" strike="noStrike" u="none">
                <a:solidFill>
                  <a:srgbClr val="5170FF">
                    <a:alpha val="93725"/>
                  </a:srgbClr>
                </a:solidFill>
                <a:latin typeface="프리젠테이션 Bold"/>
                <a:ea typeface="프리젠테이션 Bold"/>
                <a:cs typeface="프리젠테이션 Bold"/>
                <a:sym typeface="프리젠테이션 Bold"/>
              </a:rPr>
              <a:t>3차시에 만나요~!</a:t>
            </a:r>
          </a:p>
        </p:txBody>
      </p:sp>
      <p:sp>
        <p:nvSpPr>
          <p:cNvPr name="AutoShape 20" id="20"/>
          <p:cNvSpPr/>
          <p:nvPr/>
        </p:nvSpPr>
        <p:spPr>
          <a:xfrm flipH="true" flipV="true">
            <a:off x="4803882" y="6372794"/>
            <a:ext cx="0" cy="212812"/>
          </a:xfrm>
          <a:prstGeom prst="line">
            <a:avLst/>
          </a:prstGeom>
          <a:ln cap="flat" w="9525">
            <a:solidFill>
              <a:srgbClr val="222222">
                <a:alpha val="22745"/>
              </a:srgbClr>
            </a:solidFill>
            <a:prstDash val="solid"/>
            <a:headEnd type="none" len="sm" w="sm"/>
            <a:tailEnd type="none" len="sm" w="sm"/>
          </a:ln>
        </p:spPr>
      </p:sp>
      <p:sp>
        <p:nvSpPr>
          <p:cNvPr name="TextBox 21" id="21"/>
          <p:cNvSpPr txBox="true"/>
          <p:nvPr/>
        </p:nvSpPr>
        <p:spPr>
          <a:xfrm rot="0">
            <a:off x="2377195" y="6327216"/>
            <a:ext cx="2421924" cy="334010"/>
          </a:xfrm>
          <a:prstGeom prst="rect">
            <a:avLst/>
          </a:prstGeom>
        </p:spPr>
        <p:txBody>
          <a:bodyPr anchor="t" rtlCol="false" tIns="0" lIns="0" bIns="0" rIns="0">
            <a:spAutoFit/>
          </a:bodyPr>
          <a:lstStyle/>
          <a:p>
            <a:pPr algn="l" marL="0" indent="0" lvl="1">
              <a:lnSpc>
                <a:spcPts val="2619"/>
              </a:lnSpc>
              <a:spcBef>
                <a:spcPct val="0"/>
              </a:spcBef>
            </a:pPr>
            <a:r>
              <a:rPr lang="en-US" b="true" sz="1999" spc="-79" strike="noStrike" u="none">
                <a:solidFill>
                  <a:srgbClr val="000000"/>
                </a:solidFill>
                <a:latin typeface="프리젠테이션 Bold"/>
                <a:ea typeface="프리젠테이션 Bold"/>
                <a:cs typeface="프리젠테이션 Bold"/>
                <a:sym typeface="프리젠테이션 Bold"/>
              </a:rPr>
              <a:t>해달 교육운영진 </a:t>
            </a:r>
            <a:r>
              <a:rPr lang="en-US" b="true" sz="1999" spc="-79" strike="noStrike" u="none">
                <a:solidFill>
                  <a:srgbClr val="5170FF"/>
                </a:solidFill>
                <a:latin typeface="프리젠테이션 Bold"/>
                <a:ea typeface="프리젠테이션 Bold"/>
                <a:cs typeface="프리젠테이션 Bold"/>
                <a:sym typeface="프리젠테이션 Bold"/>
              </a:rPr>
              <a:t>허진수</a:t>
            </a:r>
          </a:p>
        </p:txBody>
      </p:sp>
      <p:sp>
        <p:nvSpPr>
          <p:cNvPr name="TextBox 22" id="22"/>
          <p:cNvSpPr txBox="true"/>
          <p:nvPr/>
        </p:nvSpPr>
        <p:spPr>
          <a:xfrm rot="0">
            <a:off x="5275369" y="6427467"/>
            <a:ext cx="5819862" cy="246379"/>
          </a:xfrm>
          <a:prstGeom prst="rect">
            <a:avLst/>
          </a:prstGeom>
        </p:spPr>
        <p:txBody>
          <a:bodyPr anchor="t" rtlCol="false" tIns="0" lIns="0" bIns="0" rIns="0">
            <a:spAutoFit/>
          </a:bodyPr>
          <a:lstStyle/>
          <a:p>
            <a:pPr algn="just" marL="0" indent="0" lvl="0">
              <a:lnSpc>
                <a:spcPts val="1659"/>
              </a:lnSpc>
              <a:spcBef>
                <a:spcPct val="0"/>
              </a:spcBef>
            </a:pPr>
            <a:r>
              <a:rPr lang="en-US" b="true" sz="1999" spc="33">
                <a:solidFill>
                  <a:srgbClr val="000000"/>
                </a:solidFill>
                <a:latin typeface="프리젠테이션 Bold"/>
                <a:ea typeface="프리젠테이션 Bold"/>
                <a:cs typeface="프리젠테이션 Bold"/>
                <a:sym typeface="프리젠테이션 Bold"/>
              </a:rPr>
              <a:t>문의: 단톡방 / zintn11@gmail.com</a:t>
            </a:r>
          </a:p>
        </p:txBody>
      </p:sp>
      <p:sp>
        <p:nvSpPr>
          <p:cNvPr name="AutoShape 23" id="23"/>
          <p:cNvSpPr/>
          <p:nvPr/>
        </p:nvSpPr>
        <p:spPr>
          <a:xfrm flipV="true">
            <a:off x="2377195" y="5933484"/>
            <a:ext cx="8718036" cy="0"/>
          </a:xfrm>
          <a:prstGeom prst="line">
            <a:avLst/>
          </a:prstGeom>
          <a:ln cap="flat" w="9525">
            <a:solidFill>
              <a:srgbClr val="222222">
                <a:alpha val="22745"/>
              </a:srgbClr>
            </a:solidFill>
            <a:prstDash val="solid"/>
            <a:headEnd type="none" len="sm" w="sm"/>
            <a:tailEnd type="none" len="sm" w="sm"/>
          </a:ln>
        </p:spPr>
      </p:sp>
      <p:sp>
        <p:nvSpPr>
          <p:cNvPr name="TextBox 24" id="24"/>
          <p:cNvSpPr txBox="true"/>
          <p:nvPr/>
        </p:nvSpPr>
        <p:spPr>
          <a:xfrm rot="0">
            <a:off x="659283" y="679939"/>
            <a:ext cx="2865076" cy="325120"/>
          </a:xfrm>
          <a:prstGeom prst="rect">
            <a:avLst/>
          </a:prstGeom>
        </p:spPr>
        <p:txBody>
          <a:bodyPr anchor="t" rtlCol="false" tIns="0" lIns="0" bIns="0" rIns="0">
            <a:spAutoFit/>
          </a:bodyPr>
          <a:lstStyle/>
          <a:p>
            <a:pPr algn="ctr" marL="0" indent="0" lvl="0">
              <a:lnSpc>
                <a:spcPts val="2540"/>
              </a:lnSpc>
              <a:spcBef>
                <a:spcPct val="0"/>
              </a:spcBef>
            </a:pPr>
            <a:r>
              <a:rPr lang="en-US" b="true" sz="2000" spc="122" strike="noStrike" u="none">
                <a:solidFill>
                  <a:srgbClr val="FFFFFF"/>
                </a:solidFill>
                <a:latin typeface="프리젠테이션 Bold"/>
                <a:ea typeface="프리젠테이션 Bold"/>
                <a:cs typeface="프리젠테이션 Bold"/>
                <a:sym typeface="프리젠테이션 Bold"/>
              </a:rPr>
              <a:t>해달 바이브코딩 기초반</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DAHWRkiJq1g</dc:identifier>
  <dcterms:modified xsi:type="dcterms:W3CDTF">2011-08-01T06:04:30Z</dcterms:modified>
  <cp:revision>1</cp:revision>
  <dc:title>[VibeCoding] 2차시 강의 자료</dc:title>
</cp:coreProperties>
</file>