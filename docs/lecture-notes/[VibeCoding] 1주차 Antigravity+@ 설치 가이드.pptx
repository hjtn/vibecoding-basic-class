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프리젠테이션 Bold" charset="1" panose="00000000000000000000"/>
      <p:regular r:id="rId32"/>
    </p:embeddedFont>
    <p:embeddedFont>
      <p:font typeface="프리젠테이션 Semi-Bold" charset="1" panose="00000000000000000000"/>
      <p:regular r:id="rId33"/>
    </p:embeddedFont>
    <p:embeddedFont>
      <p:font typeface="프리젠테이션" charset="1" panose="00000000000000000000"/>
      <p:regular r:id="rId34"/>
    </p:embeddedFont>
    <p:embeddedFont>
      <p:font typeface="DIN Next Bold" charset="1" panose="020B0803020203050203"/>
      <p:regular r:id="rId35"/>
    </p:embeddedFont>
    <p:embeddedFont>
      <p:font typeface="프리젠테이션 Ultra-Bold" charset="1" panose="0000000000000000000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40.pn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svg" Type="http://schemas.openxmlformats.org/officeDocument/2006/relationships/image"/><Relationship Id="rId12" Target="../media/image49.png" Type="http://schemas.openxmlformats.org/officeDocument/2006/relationships/image"/><Relationship Id="rId13" Target="../media/image50.svg" Type="http://schemas.openxmlformats.org/officeDocument/2006/relationships/image"/><Relationship Id="rId14" Target="../media/image51.png" Type="http://schemas.openxmlformats.org/officeDocument/2006/relationships/image"/><Relationship Id="rId15" Target="../media/image52.svg" Type="http://schemas.openxmlformats.org/officeDocument/2006/relationships/image"/><Relationship Id="rId16" Target="../media/image53.png" Type="http://schemas.openxmlformats.org/officeDocument/2006/relationships/image"/><Relationship Id="rId17" Target="../media/image54.svg" Type="http://schemas.openxmlformats.org/officeDocument/2006/relationships/image"/><Relationship Id="rId18" Target="../media/image55.png" Type="http://schemas.openxmlformats.org/officeDocument/2006/relationships/image"/><Relationship Id="rId19" Target="../media/image56.svg" Type="http://schemas.openxmlformats.org/officeDocument/2006/relationships/image"/><Relationship Id="rId2" Target="../media/image17.png" Type="http://schemas.openxmlformats.org/officeDocument/2006/relationships/image"/><Relationship Id="rId20" Target="../media/image57.png" Type="http://schemas.openxmlformats.org/officeDocument/2006/relationships/image"/><Relationship Id="rId21" Target="../media/image58.svg" Type="http://schemas.openxmlformats.org/officeDocument/2006/relationships/image"/><Relationship Id="rId3" Target="../media/image18.sv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Relationship Id="rId6" Target="../media/image43.png" Type="http://schemas.openxmlformats.org/officeDocument/2006/relationships/image"/><Relationship Id="rId7" Target="../media/image44.png" Type="http://schemas.openxmlformats.org/officeDocument/2006/relationships/image"/><Relationship Id="rId8" Target="../media/image45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59.png" Type="http://schemas.openxmlformats.org/officeDocument/2006/relationships/image"/><Relationship Id="rId5" Target="../media/image6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61.png" Type="http://schemas.openxmlformats.org/officeDocument/2006/relationships/image"/><Relationship Id="rId5" Target="../media/image62.png" Type="http://schemas.openxmlformats.org/officeDocument/2006/relationships/image"/><Relationship Id="rId6" Target="https://code.claude.com/docs/ko/quickstart" TargetMode="External" Type="http://schemas.openxmlformats.org/officeDocument/2006/relationships/hyperlink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63.png" Type="http://schemas.openxmlformats.org/officeDocument/2006/relationships/image"/><Relationship Id="rId5" Target="../media/image6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65.png" Type="http://schemas.openxmlformats.org/officeDocument/2006/relationships/image"/><Relationship Id="rId5" Target="../media/image6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67.png" Type="http://schemas.openxmlformats.org/officeDocument/2006/relationships/image"/><Relationship Id="rId5" Target="../media/image68.svg" Type="http://schemas.openxmlformats.org/officeDocument/2006/relationships/image"/><Relationship Id="rId6" Target="../media/image69.png" Type="http://schemas.openxmlformats.org/officeDocument/2006/relationships/image"/><Relationship Id="rId7" Target="../media/image70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71.png" Type="http://schemas.openxmlformats.org/officeDocument/2006/relationships/image"/><Relationship Id="rId5" Target="../media/image72.svg" Type="http://schemas.openxmlformats.org/officeDocument/2006/relationships/image"/><Relationship Id="rId6" Target="../media/image73.png" Type="http://schemas.openxmlformats.org/officeDocument/2006/relationships/image"/><Relationship Id="rId7" Target="../media/image74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566049"/>
            <a:ext cx="17218292" cy="9186097"/>
            <a:chOff x="0" y="0"/>
            <a:chExt cx="22957723" cy="1224812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835531"/>
              <a:ext cx="22957723" cy="11412598"/>
              <a:chOff x="0" y="0"/>
              <a:chExt cx="4777465" cy="237494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374943"/>
              </a:xfrm>
              <a:custGeom>
                <a:avLst/>
                <a:gdLst/>
                <a:ahLst/>
                <a:cxnLst/>
                <a:rect r="r" b="b" t="t" l="l"/>
                <a:pathLst>
                  <a:path h="2374943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352012"/>
                    </a:lnTo>
                    <a:cubicBezTo>
                      <a:pt x="4777465" y="2358094"/>
                      <a:pt x="4775049" y="2363926"/>
                      <a:pt x="4770749" y="2368227"/>
                    </a:cubicBezTo>
                    <a:cubicBezTo>
                      <a:pt x="4766449" y="2372527"/>
                      <a:pt x="4760616" y="2374943"/>
                      <a:pt x="4754534" y="2374943"/>
                    </a:cubicBezTo>
                    <a:lnTo>
                      <a:pt x="22931" y="2374943"/>
                    </a:lnTo>
                    <a:cubicBezTo>
                      <a:pt x="10267" y="2374943"/>
                      <a:pt x="0" y="2364677"/>
                      <a:pt x="0" y="2352012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413043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4517287" y="0"/>
              <a:ext cx="18440436" cy="3397582"/>
              <a:chOff x="0" y="0"/>
              <a:chExt cx="3837425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837425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3837425">
                    <a:moveTo>
                      <a:pt x="28549" y="0"/>
                    </a:moveTo>
                    <a:lnTo>
                      <a:pt x="3808877" y="0"/>
                    </a:lnTo>
                    <a:cubicBezTo>
                      <a:pt x="3824644" y="0"/>
                      <a:pt x="3837425" y="12782"/>
                      <a:pt x="3837425" y="28549"/>
                    </a:cubicBezTo>
                    <a:lnTo>
                      <a:pt x="3837425" y="678483"/>
                    </a:lnTo>
                    <a:cubicBezTo>
                      <a:pt x="3837425" y="686054"/>
                      <a:pt x="3834418" y="693316"/>
                      <a:pt x="3829064" y="698670"/>
                    </a:cubicBezTo>
                    <a:cubicBezTo>
                      <a:pt x="3823710" y="704024"/>
                      <a:pt x="3816448" y="707031"/>
                      <a:pt x="3808877" y="707031"/>
                    </a:cubicBezTo>
                    <a:lnTo>
                      <a:pt x="28549" y="707031"/>
                    </a:lnTo>
                    <a:cubicBezTo>
                      <a:pt x="12782" y="707031"/>
                      <a:pt x="0" y="694250"/>
                      <a:pt x="0" y="678483"/>
                    </a:cubicBezTo>
                    <a:lnTo>
                      <a:pt x="0" y="28549"/>
                    </a:lnTo>
                    <a:cubicBezTo>
                      <a:pt x="0" y="20977"/>
                      <a:pt x="3008" y="13716"/>
                      <a:pt x="8362" y="8362"/>
                    </a:cubicBezTo>
                    <a:cubicBezTo>
                      <a:pt x="13716" y="3008"/>
                      <a:pt x="20977" y="0"/>
                      <a:pt x="28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3837425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081187" y="442770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2091821" y="-102735"/>
            <a:ext cx="1878623" cy="1295432"/>
            <a:chOff x="0" y="0"/>
            <a:chExt cx="521251" cy="3594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1251" cy="359436"/>
            </a:xfrm>
            <a:custGeom>
              <a:avLst/>
              <a:gdLst/>
              <a:ahLst/>
              <a:cxnLst/>
              <a:rect r="r" b="b" t="t" l="l"/>
              <a:pathLst>
                <a:path h="359436" w="521251">
                  <a:moveTo>
                    <a:pt x="179718" y="0"/>
                  </a:moveTo>
                  <a:lnTo>
                    <a:pt x="341533" y="0"/>
                  </a:lnTo>
                  <a:cubicBezTo>
                    <a:pt x="440789" y="0"/>
                    <a:pt x="521251" y="80463"/>
                    <a:pt x="521251" y="179718"/>
                  </a:cubicBezTo>
                  <a:lnTo>
                    <a:pt x="521251" y="179718"/>
                  </a:lnTo>
                  <a:cubicBezTo>
                    <a:pt x="521251" y="227382"/>
                    <a:pt x="502317" y="273094"/>
                    <a:pt x="468613" y="306798"/>
                  </a:cubicBezTo>
                  <a:cubicBezTo>
                    <a:pt x="434909" y="340502"/>
                    <a:pt x="389197" y="359436"/>
                    <a:pt x="341533" y="359436"/>
                  </a:cubicBezTo>
                  <a:lnTo>
                    <a:pt x="179718" y="359436"/>
                  </a:lnTo>
                  <a:cubicBezTo>
                    <a:pt x="132054" y="359436"/>
                    <a:pt x="86342" y="340502"/>
                    <a:pt x="52638" y="306798"/>
                  </a:cubicBezTo>
                  <a:cubicBezTo>
                    <a:pt x="18935" y="273094"/>
                    <a:pt x="0" y="227382"/>
                    <a:pt x="0" y="179718"/>
                  </a:cubicBezTo>
                  <a:lnTo>
                    <a:pt x="0" y="179718"/>
                  </a:lnTo>
                  <a:cubicBezTo>
                    <a:pt x="0" y="132054"/>
                    <a:pt x="18935" y="86342"/>
                    <a:pt x="52638" y="52638"/>
                  </a:cubicBezTo>
                  <a:cubicBezTo>
                    <a:pt x="86342" y="18935"/>
                    <a:pt x="132054" y="0"/>
                    <a:pt x="179718" y="0"/>
                  </a:cubicBezTo>
                  <a:close/>
                </a:path>
              </a:pathLst>
            </a:custGeom>
            <a:solidFill>
              <a:srgbClr val="5170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21251" cy="397536"/>
            </a:xfrm>
            <a:prstGeom prst="rect">
              <a:avLst/>
            </a:prstGeom>
          </p:spPr>
          <p:txBody>
            <a:bodyPr anchor="ctr" rtlCol="false" tIns="48220" lIns="48220" bIns="48220" rIns="48220"/>
            <a:lstStyle/>
            <a:p>
              <a:pPr algn="ctr" marL="0" indent="0" lvl="0">
                <a:lnSpc>
                  <a:spcPts val="1853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1853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185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5400000">
            <a:off x="16995628" y="862350"/>
            <a:ext cx="82863" cy="368281"/>
          </a:xfrm>
          <a:custGeom>
            <a:avLst/>
            <a:gdLst/>
            <a:ahLst/>
            <a:cxnLst/>
            <a:rect r="r" b="b" t="t" l="l"/>
            <a:pathLst>
              <a:path h="368281" w="82863">
                <a:moveTo>
                  <a:pt x="0" y="0"/>
                </a:moveTo>
                <a:lnTo>
                  <a:pt x="82863" y="0"/>
                </a:lnTo>
                <a:lnTo>
                  <a:pt x="82863" y="368281"/>
                </a:lnTo>
                <a:lnTo>
                  <a:pt x="0" y="368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3540110" y="6593084"/>
            <a:ext cx="3312808" cy="2401786"/>
          </a:xfrm>
          <a:custGeom>
            <a:avLst/>
            <a:gdLst/>
            <a:ahLst/>
            <a:cxnLst/>
            <a:rect r="r" b="b" t="t" l="l"/>
            <a:pathLst>
              <a:path h="2401786" w="3312808">
                <a:moveTo>
                  <a:pt x="0" y="0"/>
                </a:moveTo>
                <a:lnTo>
                  <a:pt x="3312809" y="0"/>
                </a:lnTo>
                <a:lnTo>
                  <a:pt x="3312809" y="2401786"/>
                </a:lnTo>
                <a:lnTo>
                  <a:pt x="0" y="2401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59283" y="679939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77195" y="2548139"/>
            <a:ext cx="14882105" cy="154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193"/>
              </a:lnSpc>
              <a:spcBef>
                <a:spcPct val="0"/>
              </a:spcBef>
            </a:pPr>
            <a:r>
              <a:rPr lang="en-US" b="true" sz="9601" strike="noStrike" u="none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AI 개발 환경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77195" y="3803480"/>
            <a:ext cx="7161075" cy="154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193"/>
              </a:lnSpc>
              <a:spcBef>
                <a:spcPct val="0"/>
              </a:spcBef>
            </a:pPr>
            <a:r>
              <a:rPr lang="en-US" b="true" sz="9601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설치 가이드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61238" y="6029828"/>
            <a:ext cx="10520872" cy="33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1"/>
              </a:lnSpc>
              <a:spcBef>
                <a:spcPct val="0"/>
              </a:spcBef>
            </a:pPr>
            <a:r>
              <a:rPr lang="en-US" b="true" sz="1799" spc="-17" strike="noStrike" u="none">
                <a:solidFill>
                  <a:srgbClr val="FF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Antigravity (필수)</a:t>
            </a:r>
            <a:r>
              <a:rPr lang="en-US" b="true" sz="1799" spc="-17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 </a:t>
            </a:r>
            <a:r>
              <a:rPr lang="en-US" b="true" sz="1799" spc="-17" strike="noStrike" u="none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/</a:t>
            </a:r>
            <a:r>
              <a:rPr lang="en-US" b="true" sz="1799" spc="-17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 Claude · Codex (선택)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43870" y="5460741"/>
            <a:ext cx="7287980" cy="45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67"/>
              </a:lnSpc>
              <a:spcBef>
                <a:spcPct val="0"/>
              </a:spcBef>
            </a:pPr>
            <a:r>
              <a:rPr lang="en-US" b="true" sz="2799" spc="-114" strike="noStrike" u="none">
                <a:solidFill>
                  <a:srgbClr val="000000">
                    <a:alpha val="93725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바이브코딩 기초반 - 1차시 사전 준비</a:t>
            </a:r>
          </a:p>
        </p:txBody>
      </p:sp>
      <p:sp>
        <p:nvSpPr>
          <p:cNvPr name="AutoShape 22" id="22"/>
          <p:cNvSpPr/>
          <p:nvPr/>
        </p:nvSpPr>
        <p:spPr>
          <a:xfrm flipH="true" flipV="true">
            <a:off x="4613382" y="7266893"/>
            <a:ext cx="0" cy="212812"/>
          </a:xfrm>
          <a:prstGeom prst="line">
            <a:avLst/>
          </a:prstGeom>
          <a:ln cap="flat" w="9525">
            <a:solidFill>
              <a:srgbClr val="222222">
                <a:alpha val="2274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2443870" y="7187244"/>
            <a:ext cx="2074261" cy="334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620"/>
              </a:lnSpc>
              <a:spcBef>
                <a:spcPct val="0"/>
              </a:spcBef>
            </a:pPr>
            <a:r>
              <a:rPr lang="en-US" b="true" sz="2000" spc="-80" strike="noStrike" u="none">
                <a:solidFill>
                  <a:srgbClr val="222222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교육운영진 </a:t>
            </a:r>
            <a:r>
              <a:rPr lang="en-US" b="true" sz="2000" spc="-80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허진수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873801" y="7278683"/>
            <a:ext cx="2358365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60"/>
              </a:lnSpc>
              <a:spcBef>
                <a:spcPct val="0"/>
              </a:spcBef>
            </a:pPr>
            <a:r>
              <a:rPr lang="en-US" b="true" sz="2000" spc="34" strike="noStrike" u="none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문의: 단톡방</a:t>
            </a:r>
          </a:p>
        </p:txBody>
      </p:sp>
      <p:sp>
        <p:nvSpPr>
          <p:cNvPr name="AutoShape 25" id="25"/>
          <p:cNvSpPr/>
          <p:nvPr/>
        </p:nvSpPr>
        <p:spPr>
          <a:xfrm>
            <a:off x="2461238" y="6934831"/>
            <a:ext cx="8718036" cy="0"/>
          </a:xfrm>
          <a:prstGeom prst="line">
            <a:avLst/>
          </a:prstGeom>
          <a:ln cap="flat" w="9525">
            <a:solidFill>
              <a:srgbClr val="222222">
                <a:alpha val="22745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566049"/>
            <a:ext cx="17218292" cy="9186097"/>
            <a:chOff x="0" y="0"/>
            <a:chExt cx="22957723" cy="1224812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835531"/>
              <a:ext cx="22957723" cy="11412598"/>
              <a:chOff x="0" y="0"/>
              <a:chExt cx="4777465" cy="237494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374943"/>
              </a:xfrm>
              <a:custGeom>
                <a:avLst/>
                <a:gdLst/>
                <a:ahLst/>
                <a:cxnLst/>
                <a:rect r="r" b="b" t="t" l="l"/>
                <a:pathLst>
                  <a:path h="2374943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352012"/>
                    </a:lnTo>
                    <a:cubicBezTo>
                      <a:pt x="4777465" y="2358094"/>
                      <a:pt x="4775049" y="2363926"/>
                      <a:pt x="4770749" y="2368227"/>
                    </a:cubicBezTo>
                    <a:cubicBezTo>
                      <a:pt x="4766449" y="2372527"/>
                      <a:pt x="4760616" y="2374943"/>
                      <a:pt x="4754534" y="2374943"/>
                    </a:cubicBezTo>
                    <a:lnTo>
                      <a:pt x="22931" y="2374943"/>
                    </a:lnTo>
                    <a:cubicBezTo>
                      <a:pt x="10267" y="2374943"/>
                      <a:pt x="0" y="2364677"/>
                      <a:pt x="0" y="2352012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413043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4517287" y="0"/>
              <a:ext cx="18440436" cy="3397582"/>
              <a:chOff x="0" y="0"/>
              <a:chExt cx="3837425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837425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3837425">
                    <a:moveTo>
                      <a:pt x="28549" y="0"/>
                    </a:moveTo>
                    <a:lnTo>
                      <a:pt x="3808877" y="0"/>
                    </a:lnTo>
                    <a:cubicBezTo>
                      <a:pt x="3824644" y="0"/>
                      <a:pt x="3837425" y="12782"/>
                      <a:pt x="3837425" y="28549"/>
                    </a:cubicBezTo>
                    <a:lnTo>
                      <a:pt x="3837425" y="678483"/>
                    </a:lnTo>
                    <a:cubicBezTo>
                      <a:pt x="3837425" y="686054"/>
                      <a:pt x="3834418" y="693316"/>
                      <a:pt x="3829064" y="698670"/>
                    </a:cubicBezTo>
                    <a:cubicBezTo>
                      <a:pt x="3823710" y="704024"/>
                      <a:pt x="3816448" y="707031"/>
                      <a:pt x="3808877" y="707031"/>
                    </a:cubicBezTo>
                    <a:lnTo>
                      <a:pt x="28549" y="707031"/>
                    </a:lnTo>
                    <a:cubicBezTo>
                      <a:pt x="12782" y="707031"/>
                      <a:pt x="0" y="694250"/>
                      <a:pt x="0" y="678483"/>
                    </a:cubicBezTo>
                    <a:lnTo>
                      <a:pt x="0" y="28549"/>
                    </a:lnTo>
                    <a:cubicBezTo>
                      <a:pt x="0" y="20977"/>
                      <a:pt x="3008" y="13716"/>
                      <a:pt x="8362" y="8362"/>
                    </a:cubicBezTo>
                    <a:cubicBezTo>
                      <a:pt x="13716" y="3008"/>
                      <a:pt x="20977" y="0"/>
                      <a:pt x="28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3837425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081187" y="442770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2091821" y="-102735"/>
            <a:ext cx="1878623" cy="1295432"/>
            <a:chOff x="0" y="0"/>
            <a:chExt cx="521251" cy="3594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1251" cy="359436"/>
            </a:xfrm>
            <a:custGeom>
              <a:avLst/>
              <a:gdLst/>
              <a:ahLst/>
              <a:cxnLst/>
              <a:rect r="r" b="b" t="t" l="l"/>
              <a:pathLst>
                <a:path h="359436" w="521251">
                  <a:moveTo>
                    <a:pt x="179718" y="0"/>
                  </a:moveTo>
                  <a:lnTo>
                    <a:pt x="341533" y="0"/>
                  </a:lnTo>
                  <a:cubicBezTo>
                    <a:pt x="440789" y="0"/>
                    <a:pt x="521251" y="80463"/>
                    <a:pt x="521251" y="179718"/>
                  </a:cubicBezTo>
                  <a:lnTo>
                    <a:pt x="521251" y="179718"/>
                  </a:lnTo>
                  <a:cubicBezTo>
                    <a:pt x="521251" y="227382"/>
                    <a:pt x="502317" y="273094"/>
                    <a:pt x="468613" y="306798"/>
                  </a:cubicBezTo>
                  <a:cubicBezTo>
                    <a:pt x="434909" y="340502"/>
                    <a:pt x="389197" y="359436"/>
                    <a:pt x="341533" y="359436"/>
                  </a:cubicBezTo>
                  <a:lnTo>
                    <a:pt x="179718" y="359436"/>
                  </a:lnTo>
                  <a:cubicBezTo>
                    <a:pt x="132054" y="359436"/>
                    <a:pt x="86342" y="340502"/>
                    <a:pt x="52638" y="306798"/>
                  </a:cubicBezTo>
                  <a:cubicBezTo>
                    <a:pt x="18935" y="273094"/>
                    <a:pt x="0" y="227382"/>
                    <a:pt x="0" y="179718"/>
                  </a:cubicBezTo>
                  <a:lnTo>
                    <a:pt x="0" y="179718"/>
                  </a:lnTo>
                  <a:cubicBezTo>
                    <a:pt x="0" y="132054"/>
                    <a:pt x="18935" y="86342"/>
                    <a:pt x="52638" y="52638"/>
                  </a:cubicBezTo>
                  <a:cubicBezTo>
                    <a:pt x="86342" y="18935"/>
                    <a:pt x="132054" y="0"/>
                    <a:pt x="179718" y="0"/>
                  </a:cubicBezTo>
                  <a:close/>
                </a:path>
              </a:pathLst>
            </a:custGeom>
            <a:solidFill>
              <a:srgbClr val="5170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21251" cy="397536"/>
            </a:xfrm>
            <a:prstGeom prst="rect">
              <a:avLst/>
            </a:prstGeom>
          </p:spPr>
          <p:txBody>
            <a:bodyPr anchor="ctr" rtlCol="false" tIns="48220" lIns="48220" bIns="48220" rIns="48220"/>
            <a:lstStyle/>
            <a:p>
              <a:pPr algn="ctr" marL="0" indent="0" lvl="0">
                <a:lnSpc>
                  <a:spcPts val="1853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1853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185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5400000">
            <a:off x="16995628" y="862350"/>
            <a:ext cx="82863" cy="368281"/>
          </a:xfrm>
          <a:custGeom>
            <a:avLst/>
            <a:gdLst/>
            <a:ahLst/>
            <a:cxnLst/>
            <a:rect r="r" b="b" t="t" l="l"/>
            <a:pathLst>
              <a:path h="368281" w="82863">
                <a:moveTo>
                  <a:pt x="0" y="0"/>
                </a:moveTo>
                <a:lnTo>
                  <a:pt x="82863" y="0"/>
                </a:lnTo>
                <a:lnTo>
                  <a:pt x="82863" y="368281"/>
                </a:lnTo>
                <a:lnTo>
                  <a:pt x="0" y="368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2091821" y="3191929"/>
            <a:ext cx="4351624" cy="154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92"/>
              </a:lnSpc>
            </a:pPr>
            <a:r>
              <a:rPr lang="en-US" b="true" sz="9600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INDEX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09189" y="4672145"/>
            <a:ext cx="4753408" cy="33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1"/>
              </a:lnSpc>
              <a:spcBef>
                <a:spcPct val="0"/>
              </a:spcBef>
            </a:pPr>
            <a:r>
              <a:rPr lang="en-US" b="true" sz="1799" spc="-30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1차시 수업 전까지 준비할 내용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606511" y="2174998"/>
            <a:ext cx="8750967" cy="6276513"/>
            <a:chOff x="0" y="0"/>
            <a:chExt cx="11667955" cy="8368683"/>
          </a:xfrm>
        </p:grpSpPr>
        <p:sp>
          <p:nvSpPr>
            <p:cNvPr name="AutoShape 19" id="19"/>
            <p:cNvSpPr/>
            <p:nvPr/>
          </p:nvSpPr>
          <p:spPr>
            <a:xfrm>
              <a:off x="36676" y="934034"/>
              <a:ext cx="11631279" cy="0"/>
            </a:xfrm>
            <a:prstGeom prst="line">
              <a:avLst/>
            </a:prstGeom>
            <a:ln cap="flat" w="12700">
              <a:solidFill>
                <a:srgbClr val="222222">
                  <a:alpha val="14902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>
              <a:off x="36676" y="2234157"/>
              <a:ext cx="11631279" cy="0"/>
            </a:xfrm>
            <a:prstGeom prst="line">
              <a:avLst/>
            </a:prstGeom>
            <a:ln cap="flat" w="12700">
              <a:solidFill>
                <a:srgbClr val="222222">
                  <a:alpha val="14902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36676" y="3534280"/>
              <a:ext cx="11631279" cy="0"/>
            </a:xfrm>
            <a:prstGeom prst="line">
              <a:avLst/>
            </a:prstGeom>
            <a:ln cap="flat" w="12700">
              <a:solidFill>
                <a:srgbClr val="222222">
                  <a:alpha val="14902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2" id="22"/>
            <p:cNvSpPr/>
            <p:nvPr/>
          </p:nvSpPr>
          <p:spPr>
            <a:xfrm>
              <a:off x="36676" y="4834403"/>
              <a:ext cx="11631279" cy="0"/>
            </a:xfrm>
            <a:prstGeom prst="line">
              <a:avLst/>
            </a:prstGeom>
            <a:ln cap="flat" w="12700">
              <a:solidFill>
                <a:srgbClr val="222222">
                  <a:alpha val="14902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3" id="23"/>
            <p:cNvSpPr/>
            <p:nvPr/>
          </p:nvSpPr>
          <p:spPr>
            <a:xfrm>
              <a:off x="36676" y="6134526"/>
              <a:ext cx="11631279" cy="0"/>
            </a:xfrm>
            <a:prstGeom prst="line">
              <a:avLst/>
            </a:prstGeom>
            <a:ln cap="flat" w="12700">
              <a:solidFill>
                <a:srgbClr val="222222">
                  <a:alpha val="14902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4" id="24"/>
            <p:cNvSpPr/>
            <p:nvPr/>
          </p:nvSpPr>
          <p:spPr>
            <a:xfrm>
              <a:off x="36676" y="7434650"/>
              <a:ext cx="11631279" cy="0"/>
            </a:xfrm>
            <a:prstGeom prst="line">
              <a:avLst/>
            </a:prstGeom>
            <a:ln cap="flat" w="12700">
              <a:solidFill>
                <a:srgbClr val="222222">
                  <a:alpha val="14902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5" id="25"/>
            <p:cNvSpPr txBox="true"/>
            <p:nvPr/>
          </p:nvSpPr>
          <p:spPr>
            <a:xfrm rot="0">
              <a:off x="1058941" y="1338223"/>
              <a:ext cx="6928367" cy="5298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6"/>
                </a:lnSpc>
                <a:spcBef>
                  <a:spcPct val="0"/>
                </a:spcBef>
              </a:pPr>
              <a:r>
                <a:rPr lang="en-US" b="true" sz="2800" spc="-56" strike="noStrike" u="none">
                  <a:solidFill>
                    <a:srgbClr val="000000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Antigravity 이해하기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1391606"/>
              <a:ext cx="624642" cy="4707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3"/>
                </a:lnSpc>
              </a:pPr>
              <a:r>
                <a:rPr lang="en-US" b="true" sz="2799" spc="212">
                  <a:solidFill>
                    <a:srgbClr val="5170FF"/>
                  </a:solidFill>
                  <a:latin typeface="프리젠테이션 Semi-Bold"/>
                  <a:ea typeface="프리젠테이션 Semi-Bold"/>
                  <a:cs typeface="프리젠테이션 Semi-Bold"/>
                  <a:sym typeface="프리젠테이션 Semi-Bold"/>
                </a:rPr>
                <a:t>2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058941" y="3938470"/>
              <a:ext cx="6595062" cy="5298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6"/>
                </a:lnSpc>
                <a:spcBef>
                  <a:spcPct val="0"/>
                </a:spcBef>
              </a:pPr>
              <a:r>
                <a:rPr lang="en-US" b="true" sz="2800" spc="-56" strike="noStrike" u="none">
                  <a:solidFill>
                    <a:srgbClr val="000000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Antigravity IDE 설치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3991852"/>
              <a:ext cx="624642" cy="4707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3"/>
                </a:lnSpc>
              </a:pPr>
              <a:r>
                <a:rPr lang="en-US" b="true" sz="2799" spc="212">
                  <a:solidFill>
                    <a:srgbClr val="5170FF"/>
                  </a:solidFill>
                  <a:latin typeface="프리젠테이션 Semi-Bold"/>
                  <a:ea typeface="프리젠테이션 Semi-Bold"/>
                  <a:cs typeface="프리젠테이션 Semi-Bold"/>
                  <a:sym typeface="프리젠테이션 Semi-Bold"/>
                </a:rPr>
                <a:t>4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058941" y="6538716"/>
              <a:ext cx="6595062" cy="5298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6"/>
                </a:lnSpc>
                <a:spcBef>
                  <a:spcPct val="0"/>
                </a:spcBef>
              </a:pPr>
              <a:r>
                <a:rPr lang="en-US" b="true" sz="2800" spc="-56" strike="noStrike" u="none">
                  <a:solidFill>
                    <a:srgbClr val="000000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설치 완료 체크리스트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6592098"/>
              <a:ext cx="624642" cy="4707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3"/>
                </a:lnSpc>
              </a:pPr>
              <a:r>
                <a:rPr lang="en-US" b="true" sz="2799" spc="212">
                  <a:solidFill>
                    <a:srgbClr val="5170FF"/>
                  </a:solidFill>
                  <a:latin typeface="프리젠테이션 Semi-Bold"/>
                  <a:ea typeface="프리젠테이션 Semi-Bold"/>
                  <a:cs typeface="프리젠테이션 Semi-Bold"/>
                  <a:sym typeface="프리젠테이션 Semi-Bold"/>
                </a:rPr>
                <a:t>6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058941" y="7838839"/>
              <a:ext cx="6595062" cy="5298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6"/>
                </a:lnSpc>
                <a:spcBef>
                  <a:spcPct val="0"/>
                </a:spcBef>
              </a:pPr>
              <a:r>
                <a:rPr lang="en-US" b="true" sz="2800" spc="-56" strike="noStrike" u="none">
                  <a:solidFill>
                    <a:srgbClr val="000000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자주 겪는 문제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7892222"/>
              <a:ext cx="624642" cy="4707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3"/>
                </a:lnSpc>
              </a:pPr>
              <a:r>
                <a:rPr lang="en-US" b="true" sz="2799" spc="212">
                  <a:solidFill>
                    <a:srgbClr val="5170FF"/>
                  </a:solidFill>
                  <a:latin typeface="프리젠테이션 Semi-Bold"/>
                  <a:ea typeface="프리젠테이션 Semi-Bold"/>
                  <a:cs typeface="프리젠테이션 Semi-Bold"/>
                  <a:sym typeface="프리젠테이션 Semi-Bold"/>
                </a:rPr>
                <a:t>7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058941" y="38100"/>
              <a:ext cx="6595062" cy="5298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6"/>
                </a:lnSpc>
                <a:spcBef>
                  <a:spcPct val="0"/>
                </a:spcBef>
              </a:pPr>
              <a:r>
                <a:rPr lang="en-US" b="true" sz="2800" spc="-56" strike="noStrike" u="none">
                  <a:solidFill>
                    <a:srgbClr val="000000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사전 준비 사항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91483"/>
              <a:ext cx="624642" cy="4707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3"/>
                </a:lnSpc>
              </a:pPr>
              <a:r>
                <a:rPr lang="en-US" b="true" sz="2799" spc="212">
                  <a:solidFill>
                    <a:srgbClr val="5170FF"/>
                  </a:solidFill>
                  <a:latin typeface="프리젠테이션 Semi-Bold"/>
                  <a:ea typeface="프리젠테이션 Semi-Bold"/>
                  <a:cs typeface="프리젠테이션 Semi-Bold"/>
                  <a:sym typeface="프리젠테이션 Semi-Bold"/>
                </a:rPr>
                <a:t>1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058941" y="2638346"/>
              <a:ext cx="6595062" cy="5298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6"/>
                </a:lnSpc>
                <a:spcBef>
                  <a:spcPct val="0"/>
                </a:spcBef>
              </a:pPr>
              <a:r>
                <a:rPr lang="en-US" b="true" sz="2800" spc="-56" strike="noStrike" u="none">
                  <a:solidFill>
                    <a:srgbClr val="000000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Antigravity 2.0 설치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0" y="2691729"/>
              <a:ext cx="624642" cy="4707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3"/>
                </a:lnSpc>
              </a:pPr>
              <a:r>
                <a:rPr lang="en-US" b="true" sz="2799" spc="212">
                  <a:solidFill>
                    <a:srgbClr val="5170FF"/>
                  </a:solidFill>
                  <a:latin typeface="프리젠테이션 Semi-Bold"/>
                  <a:ea typeface="프리젠테이션 Semi-Bold"/>
                  <a:cs typeface="프리젠테이션 Semi-Bold"/>
                  <a:sym typeface="프리젠테이션 Semi-Bold"/>
                </a:rPr>
                <a:t>3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058941" y="5238593"/>
              <a:ext cx="6595062" cy="5298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6"/>
                </a:lnSpc>
                <a:spcBef>
                  <a:spcPct val="0"/>
                </a:spcBef>
              </a:pPr>
              <a:r>
                <a:rPr lang="en-US" b="true" sz="2800" spc="-56" strike="noStrike" u="none">
                  <a:solidFill>
                    <a:srgbClr val="000000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선택 도구 설치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0" y="5291975"/>
              <a:ext cx="624642" cy="4707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3"/>
                </a:lnSpc>
              </a:pPr>
              <a:r>
                <a:rPr lang="en-US" b="true" sz="2799" spc="212">
                  <a:solidFill>
                    <a:srgbClr val="5170FF"/>
                  </a:solidFill>
                  <a:latin typeface="프리젠테이션 Semi-Bold"/>
                  <a:ea typeface="프리젠테이션 Semi-Bold"/>
                  <a:cs typeface="프리젠테이션 Semi-Bold"/>
                  <a:sym typeface="프리젠테이션 Semi-Bold"/>
                </a:rPr>
                <a:t>5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2137764" y="2174998"/>
            <a:ext cx="1092574" cy="1021557"/>
          </a:xfrm>
          <a:custGeom>
            <a:avLst/>
            <a:gdLst/>
            <a:ahLst/>
            <a:cxnLst/>
            <a:rect r="r" b="b" t="t" l="l"/>
            <a:pathLst>
              <a:path h="1021557" w="1092574">
                <a:moveTo>
                  <a:pt x="0" y="0"/>
                </a:moveTo>
                <a:lnTo>
                  <a:pt x="1092574" y="0"/>
                </a:lnTo>
                <a:lnTo>
                  <a:pt x="1092574" y="1021556"/>
                </a:lnTo>
                <a:lnTo>
                  <a:pt x="0" y="10215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659283" y="679939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820604" y="768468"/>
            <a:ext cx="12829802" cy="762000"/>
            <a:chOff x="0" y="0"/>
            <a:chExt cx="17106403" cy="10160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712750" y="76200"/>
              <a:ext cx="16393653" cy="939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00"/>
                </a:lnSpc>
                <a:spcBef>
                  <a:spcPct val="0"/>
                </a:spcBef>
              </a:pPr>
              <a:r>
                <a:rPr lang="en-US" b="true" sz="5000" spc="-100" strike="noStrike" u="non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무엇을 설치?</a:t>
              </a:r>
            </a:p>
          </p:txBody>
        </p:sp>
        <p:sp>
          <p:nvSpPr>
            <p:cNvPr name="Freeform 17" id="17"/>
            <p:cNvSpPr/>
            <p:nvPr/>
          </p:nvSpPr>
          <p:spPr>
            <a:xfrm flipH="false" flipV="false" rot="0">
              <a:off x="0" y="284846"/>
              <a:ext cx="446308" cy="446308"/>
            </a:xfrm>
            <a:custGeom>
              <a:avLst/>
              <a:gdLst/>
              <a:ahLst/>
              <a:cxnLst/>
              <a:rect r="r" b="b" t="t" l="l"/>
              <a:pathLst>
                <a:path h="446308" w="446308">
                  <a:moveTo>
                    <a:pt x="0" y="0"/>
                  </a:moveTo>
                  <a:lnTo>
                    <a:pt x="446308" y="0"/>
                  </a:lnTo>
                  <a:lnTo>
                    <a:pt x="446308" y="446308"/>
                  </a:lnTo>
                  <a:lnTo>
                    <a:pt x="0" y="446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2944444" y="3048665"/>
            <a:ext cx="1906863" cy="1756697"/>
          </a:xfrm>
          <a:custGeom>
            <a:avLst/>
            <a:gdLst/>
            <a:ahLst/>
            <a:cxnLst/>
            <a:rect r="r" b="b" t="t" l="l"/>
            <a:pathLst>
              <a:path h="1756697" w="1906863">
                <a:moveTo>
                  <a:pt x="0" y="0"/>
                </a:moveTo>
                <a:lnTo>
                  <a:pt x="1906863" y="0"/>
                </a:lnTo>
                <a:lnTo>
                  <a:pt x="1906863" y="1756697"/>
                </a:lnTo>
                <a:lnTo>
                  <a:pt x="0" y="17566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176076" y="3176873"/>
            <a:ext cx="1935847" cy="1500282"/>
          </a:xfrm>
          <a:custGeom>
            <a:avLst/>
            <a:gdLst/>
            <a:ahLst/>
            <a:cxnLst/>
            <a:rect r="r" b="b" t="t" l="l"/>
            <a:pathLst>
              <a:path h="1500282" w="1935847">
                <a:moveTo>
                  <a:pt x="0" y="0"/>
                </a:moveTo>
                <a:lnTo>
                  <a:pt x="1935848" y="0"/>
                </a:lnTo>
                <a:lnTo>
                  <a:pt x="1935848" y="1500282"/>
                </a:lnTo>
                <a:lnTo>
                  <a:pt x="0" y="1500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580283" y="3112769"/>
            <a:ext cx="1638732" cy="1628490"/>
          </a:xfrm>
          <a:custGeom>
            <a:avLst/>
            <a:gdLst/>
            <a:ahLst/>
            <a:cxnLst/>
            <a:rect r="r" b="b" t="t" l="l"/>
            <a:pathLst>
              <a:path h="1628490" w="1638732">
                <a:moveTo>
                  <a:pt x="0" y="0"/>
                </a:moveTo>
                <a:lnTo>
                  <a:pt x="1638732" y="0"/>
                </a:lnTo>
                <a:lnTo>
                  <a:pt x="1638732" y="1628489"/>
                </a:lnTo>
                <a:lnTo>
                  <a:pt x="0" y="16284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845660" y="5336790"/>
            <a:ext cx="4104431" cy="2966079"/>
            <a:chOff x="0" y="0"/>
            <a:chExt cx="5472575" cy="3954772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326998" y="2356477"/>
              <a:ext cx="4818580" cy="15982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FF0000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필수 설치</a:t>
              </a:r>
            </a:p>
            <a:p>
              <a:pPr algn="ctr" marL="0" indent="0" lvl="0">
                <a:lnSpc>
                  <a:spcPts val="3074"/>
                </a:lnSpc>
                <a:spcBef>
                  <a:spcPct val="0"/>
                </a:spcBef>
              </a:pPr>
              <a:r>
                <a:rPr lang="en-US" b="true" sz="2049" spc="-40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8차시 전 과정에서 활용 예정</a:t>
              </a:r>
            </a:p>
            <a:p>
              <a:pPr algn="ctr" marL="0" indent="0" lvl="0">
                <a:lnSpc>
                  <a:spcPts val="3074"/>
                </a:lnSpc>
                <a:spcBef>
                  <a:spcPct val="0"/>
                </a:spcBef>
              </a:pPr>
              <a:r>
                <a:rPr lang="en-US" b="true" sz="2049" spc="-40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 Google 계정 · 무료 시작 가능!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0"/>
              <a:ext cx="5472575" cy="12808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76"/>
                </a:lnSpc>
                <a:spcBef>
                  <a:spcPct val="0"/>
                </a:spcBef>
              </a:pPr>
              <a:r>
                <a:rPr lang="en-US" b="true" sz="3200" spc="-64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Antigravity</a:t>
              </a:r>
            </a:p>
            <a:p>
              <a:pPr algn="ctr" marL="0" indent="0" lvl="0">
                <a:lnSpc>
                  <a:spcPts val="3776"/>
                </a:lnSpc>
                <a:spcBef>
                  <a:spcPct val="0"/>
                </a:spcBef>
              </a:pPr>
              <a:r>
                <a:rPr lang="en-US" b="true" sz="3200" spc="-64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2.0 + IDE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5400000">
              <a:off x="2619394" y="1804646"/>
              <a:ext cx="233786" cy="228526"/>
            </a:xfrm>
            <a:custGeom>
              <a:avLst/>
              <a:gdLst/>
              <a:ahLst/>
              <a:cxnLst/>
              <a:rect r="r" b="b" t="t" l="l"/>
              <a:pathLst>
                <a:path h="228526" w="233786">
                  <a:moveTo>
                    <a:pt x="0" y="0"/>
                  </a:moveTo>
                  <a:lnTo>
                    <a:pt x="233787" y="0"/>
                  </a:lnTo>
                  <a:lnTo>
                    <a:pt x="233787" y="228526"/>
                  </a:lnTo>
                  <a:lnTo>
                    <a:pt x="0" y="228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091784" y="5336790"/>
            <a:ext cx="4104431" cy="2966079"/>
            <a:chOff x="0" y="0"/>
            <a:chExt cx="5472575" cy="3954772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275465" y="2356477"/>
              <a:ext cx="4921645" cy="15982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선택 설치</a:t>
              </a:r>
            </a:p>
            <a:p>
              <a:pPr algn="ctr" marL="0" indent="0" lvl="0">
                <a:lnSpc>
                  <a:spcPts val="3074"/>
                </a:lnSpc>
                <a:spcBef>
                  <a:spcPct val="0"/>
                </a:spcBef>
              </a:pPr>
              <a:r>
                <a:rPr lang="en-US" b="true" sz="2049" spc="-40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6차시 Skill · MCP 실습에 유용</a:t>
              </a:r>
            </a:p>
            <a:p>
              <a:pPr algn="ctr" marL="0" indent="0" lvl="0">
                <a:lnSpc>
                  <a:spcPts val="3074"/>
                </a:lnSpc>
                <a:spcBef>
                  <a:spcPct val="0"/>
                </a:spcBef>
              </a:pPr>
              <a:r>
                <a:rPr lang="en-US" b="true" sz="2049" spc="-40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단, Claude Pro 구독 필요!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0"/>
              <a:ext cx="5472575" cy="12808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76"/>
                </a:lnSpc>
                <a:spcBef>
                  <a:spcPct val="0"/>
                </a:spcBef>
              </a:pPr>
              <a:r>
                <a:rPr lang="en-US" b="true" sz="3200" spc="-64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Claude</a:t>
              </a:r>
            </a:p>
            <a:p>
              <a:pPr algn="ctr" marL="0" indent="0" lvl="0">
                <a:lnSpc>
                  <a:spcPts val="3776"/>
                </a:lnSpc>
                <a:spcBef>
                  <a:spcPct val="0"/>
                </a:spcBef>
              </a:pPr>
              <a:r>
                <a:rPr lang="en-US" b="true" sz="3200" spc="-64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앱 + CLI</a:t>
              </a:r>
            </a:p>
          </p:txBody>
        </p:sp>
        <p:sp>
          <p:nvSpPr>
            <p:cNvPr name="Freeform 28" id="28"/>
            <p:cNvSpPr/>
            <p:nvPr/>
          </p:nvSpPr>
          <p:spPr>
            <a:xfrm flipH="false" flipV="false" rot="5400000">
              <a:off x="2619394" y="1804646"/>
              <a:ext cx="233786" cy="228526"/>
            </a:xfrm>
            <a:custGeom>
              <a:avLst/>
              <a:gdLst/>
              <a:ahLst/>
              <a:cxnLst/>
              <a:rect r="r" b="b" t="t" l="l"/>
              <a:pathLst>
                <a:path h="228526" w="233786">
                  <a:moveTo>
                    <a:pt x="0" y="0"/>
                  </a:moveTo>
                  <a:lnTo>
                    <a:pt x="233787" y="0"/>
                  </a:lnTo>
                  <a:lnTo>
                    <a:pt x="233787" y="228526"/>
                  </a:lnTo>
                  <a:lnTo>
                    <a:pt x="0" y="228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347433" y="5336790"/>
            <a:ext cx="4104431" cy="2966079"/>
            <a:chOff x="0" y="0"/>
            <a:chExt cx="5472575" cy="3954772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344175" y="2356477"/>
              <a:ext cx="4784225" cy="15982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선택 설치</a:t>
              </a:r>
            </a:p>
            <a:p>
              <a:pPr algn="ctr" marL="0" indent="0" lvl="0">
                <a:lnSpc>
                  <a:spcPts val="3074"/>
                </a:lnSpc>
                <a:spcBef>
                  <a:spcPct val="0"/>
                </a:spcBef>
              </a:pPr>
              <a:r>
                <a:rPr lang="en-US" b="true" sz="2049" spc="-40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도구 비교 실습에 활용 가능</a:t>
              </a:r>
            </a:p>
            <a:p>
              <a:pPr algn="ctr" marL="0" indent="0" lvl="0">
                <a:lnSpc>
                  <a:spcPts val="3074"/>
                </a:lnSpc>
                <a:spcBef>
                  <a:spcPct val="0"/>
                </a:spcBef>
              </a:pPr>
              <a:r>
                <a:rPr lang="en-US" b="true" sz="2049" spc="-40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단, ChatGPT Plus 구독 필요!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0"/>
              <a:ext cx="5472575" cy="12808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76"/>
                </a:lnSpc>
                <a:spcBef>
                  <a:spcPct val="0"/>
                </a:spcBef>
              </a:pPr>
              <a:r>
                <a:rPr lang="en-US" b="true" sz="3200" spc="-64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ChatGPT</a:t>
              </a:r>
            </a:p>
            <a:p>
              <a:pPr algn="ctr" marL="0" indent="0" lvl="0">
                <a:lnSpc>
                  <a:spcPts val="3776"/>
                </a:lnSpc>
                <a:spcBef>
                  <a:spcPct val="0"/>
                </a:spcBef>
              </a:pPr>
              <a:r>
                <a:rPr lang="en-US" b="true" sz="3200" spc="-64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앱 + Codex</a:t>
              </a:r>
            </a:p>
          </p:txBody>
        </p:sp>
        <p:sp>
          <p:nvSpPr>
            <p:cNvPr name="Freeform 32" id="32"/>
            <p:cNvSpPr/>
            <p:nvPr/>
          </p:nvSpPr>
          <p:spPr>
            <a:xfrm flipH="false" flipV="false" rot="5400000">
              <a:off x="2619394" y="1804646"/>
              <a:ext cx="233786" cy="228526"/>
            </a:xfrm>
            <a:custGeom>
              <a:avLst/>
              <a:gdLst/>
              <a:ahLst/>
              <a:cxnLst/>
              <a:rect r="r" b="b" t="t" l="l"/>
              <a:pathLst>
                <a:path h="228526" w="233786">
                  <a:moveTo>
                    <a:pt x="0" y="0"/>
                  </a:moveTo>
                  <a:lnTo>
                    <a:pt x="233787" y="0"/>
                  </a:lnTo>
                  <a:lnTo>
                    <a:pt x="233787" y="228526"/>
                  </a:lnTo>
                  <a:lnTo>
                    <a:pt x="0" y="228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4379" y="534854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820604" y="696061"/>
            <a:ext cx="12829802" cy="762000"/>
            <a:chOff x="0" y="0"/>
            <a:chExt cx="17106403" cy="10160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712750" y="76200"/>
              <a:ext cx="16393653" cy="939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00"/>
                </a:lnSpc>
                <a:spcBef>
                  <a:spcPct val="0"/>
                </a:spcBef>
              </a:pPr>
              <a:r>
                <a:rPr lang="en-US" b="true" sz="5000" spc="-100" strike="noStrike" u="non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하드웨어와 운영체제</a:t>
              </a:r>
            </a:p>
          </p:txBody>
        </p:sp>
        <p:sp>
          <p:nvSpPr>
            <p:cNvPr name="Freeform 17" id="17"/>
            <p:cNvSpPr/>
            <p:nvPr/>
          </p:nvSpPr>
          <p:spPr>
            <a:xfrm flipH="false" flipV="false" rot="0">
              <a:off x="0" y="284846"/>
              <a:ext cx="446308" cy="446308"/>
            </a:xfrm>
            <a:custGeom>
              <a:avLst/>
              <a:gdLst/>
              <a:ahLst/>
              <a:cxnLst/>
              <a:rect r="r" b="b" t="t" l="l"/>
              <a:pathLst>
                <a:path h="446308" w="446308">
                  <a:moveTo>
                    <a:pt x="0" y="0"/>
                  </a:moveTo>
                  <a:lnTo>
                    <a:pt x="446308" y="0"/>
                  </a:lnTo>
                  <a:lnTo>
                    <a:pt x="446308" y="446308"/>
                  </a:lnTo>
                  <a:lnTo>
                    <a:pt x="0" y="446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1717296" y="3648363"/>
          <a:ext cx="14853407" cy="4269582"/>
        </p:xfrm>
        <a:graphic>
          <a:graphicData uri="http://schemas.openxmlformats.org/drawingml/2006/table">
            <a:tbl>
              <a:tblPr/>
              <a:tblGrid>
                <a:gridCol w="3495006"/>
                <a:gridCol w="1398320"/>
                <a:gridCol w="9960081"/>
              </a:tblGrid>
              <a:tr h="89973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00" strike="noStrike" u="non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구분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00" strike="noStrike" u="non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최소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00" strike="noStrike" u="non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권장 사양 및 비고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</a:tr>
              <a:tr h="1107370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운영체제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Win 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strike="noStrike" u="non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Windows 11 · macOS 13 이상 권장</a:t>
                      </a:r>
                      <a:endParaRPr lang="en-US" sz="1100"/>
                    </a:p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</a:pPr>
                      <a:r>
                        <a:rPr lang="en-US" sz="2000" strike="noStrike" u="non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(Apple Silicon·Intel 모두 지원)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157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메모리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8GB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strike="noStrike" u="non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16GB 권장. AI 연산은 클라우드에서 처리합니다.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157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저장 공간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10GB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strike="noStrike" u="non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20GB 권장. IDE · CLI · 프로젝트 파일을 포함합니다.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157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네트워크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인터넷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strike="noStrike" u="non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유선 또는 안정적인 Wi-Fi 권장. 모든 AI 기능이 온라인으로 동작합니다.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9" id="19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계정과 요금제 준비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1717296" y="3352813"/>
          <a:ext cx="14853407" cy="4974432"/>
        </p:xfrm>
        <a:graphic>
          <a:graphicData uri="http://schemas.openxmlformats.org/drawingml/2006/table">
            <a:tbl>
              <a:tblPr/>
              <a:tblGrid>
                <a:gridCol w="3495006"/>
                <a:gridCol w="1398320"/>
                <a:gridCol w="9960081"/>
              </a:tblGrid>
              <a:tr h="89945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00" strike="noStrike" u="non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도구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00" strike="noStrike" u="non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요금제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00" strike="noStrike" u="non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필요한 계정 및 비고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</a:tr>
              <a:tr h="1107020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Antigravity</a:t>
                      </a:r>
                      <a:endParaRPr lang="en-US" sz="1100"/>
                    </a:p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</a:pPr>
                      <a:r>
                        <a:rPr lang="en-US" b="true" sz="200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2.0 · IDE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무료 시작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strike="noStrike" u="non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Google 계정이 필요해요. 또한 일일 사용량 제한이 있습니다!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7020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Claude</a:t>
                      </a:r>
                      <a:endParaRPr lang="en-US" sz="1100"/>
                    </a:p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</a:pPr>
                      <a:r>
                        <a:rPr lang="en-US" b="true" sz="200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앱 · CLI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Pro 이상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strike="noStrike" u="non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Anthropic 계정이 필요해요. 무료 요금제는 사용할 수 없습니다!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7020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ChatGPT</a:t>
                      </a:r>
                      <a:endParaRPr lang="en-US" sz="1100"/>
                    </a:p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</a:pPr>
                      <a:r>
                        <a:rPr lang="en-US" b="true" sz="200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앱 · Codex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Plus 이상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strike="noStrike" u="non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OpenAI 계정이 필요해요. API Key 방식도 가능합니다!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391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구독이 부담되면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5170FF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선택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strike="noStrike" u="non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Antigravity만 설치해도 수업에 참여할 수 있어요!!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8" id="18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717296" y="2898323"/>
            <a:ext cx="7277574" cy="3960145"/>
            <a:chOff x="0" y="0"/>
            <a:chExt cx="1283210" cy="6982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3210" cy="698268"/>
            </a:xfrm>
            <a:custGeom>
              <a:avLst/>
              <a:gdLst/>
              <a:ahLst/>
              <a:cxnLst/>
              <a:rect r="r" b="b" t="t" l="l"/>
              <a:pathLst>
                <a:path h="698268" w="1283210">
                  <a:moveTo>
                    <a:pt x="15957" y="0"/>
                  </a:moveTo>
                  <a:lnTo>
                    <a:pt x="1267253" y="0"/>
                  </a:lnTo>
                  <a:cubicBezTo>
                    <a:pt x="1276066" y="0"/>
                    <a:pt x="1283210" y="7144"/>
                    <a:pt x="1283210" y="15957"/>
                  </a:cubicBezTo>
                  <a:lnTo>
                    <a:pt x="1283210" y="682311"/>
                  </a:lnTo>
                  <a:cubicBezTo>
                    <a:pt x="1283210" y="691124"/>
                    <a:pt x="1276066" y="698268"/>
                    <a:pt x="1267253" y="698268"/>
                  </a:cubicBezTo>
                  <a:lnTo>
                    <a:pt x="15957" y="698268"/>
                  </a:lnTo>
                  <a:cubicBezTo>
                    <a:pt x="11725" y="698268"/>
                    <a:pt x="7666" y="696587"/>
                    <a:pt x="4674" y="693594"/>
                  </a:cubicBezTo>
                  <a:cubicBezTo>
                    <a:pt x="1681" y="690602"/>
                    <a:pt x="0" y="686543"/>
                    <a:pt x="0" y="682311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3143" r="0" b="-33143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302655" y="2898323"/>
            <a:ext cx="7277574" cy="3960145"/>
            <a:chOff x="0" y="0"/>
            <a:chExt cx="1283210" cy="6982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83210" cy="698268"/>
            </a:xfrm>
            <a:custGeom>
              <a:avLst/>
              <a:gdLst/>
              <a:ahLst/>
              <a:cxnLst/>
              <a:rect r="r" b="b" t="t" l="l"/>
              <a:pathLst>
                <a:path h="698268" w="1283210">
                  <a:moveTo>
                    <a:pt x="15957" y="0"/>
                  </a:moveTo>
                  <a:lnTo>
                    <a:pt x="1267253" y="0"/>
                  </a:lnTo>
                  <a:cubicBezTo>
                    <a:pt x="1276066" y="0"/>
                    <a:pt x="1283210" y="7144"/>
                    <a:pt x="1283210" y="15957"/>
                  </a:cubicBezTo>
                  <a:lnTo>
                    <a:pt x="1283210" y="682311"/>
                  </a:lnTo>
                  <a:cubicBezTo>
                    <a:pt x="1283210" y="691124"/>
                    <a:pt x="1276066" y="698268"/>
                    <a:pt x="1267253" y="698268"/>
                  </a:cubicBezTo>
                  <a:lnTo>
                    <a:pt x="15957" y="698268"/>
                  </a:lnTo>
                  <a:cubicBezTo>
                    <a:pt x="11725" y="698268"/>
                    <a:pt x="7666" y="696587"/>
                    <a:pt x="4674" y="693594"/>
                  </a:cubicBezTo>
                  <a:cubicBezTo>
                    <a:pt x="1681" y="690602"/>
                    <a:pt x="0" y="686543"/>
                    <a:pt x="0" y="682311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8703" r="0" b="-18703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기본 도구 설치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20283" y="7854436"/>
            <a:ext cx="3528064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000"/>
              </a:lnSpc>
              <a:buAutoNum type="arabicPeriod" startAt="1"/>
            </a:pPr>
            <a:r>
              <a:rPr lang="en-US" b="true" sz="2000" spc="-40" strike="noStrike" u="none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git-scm.com 접속</a:t>
            </a:r>
          </a:p>
          <a:p>
            <a:pPr algn="l" marL="431801" indent="-215900" lvl="1">
              <a:lnSpc>
                <a:spcPts val="3000"/>
              </a:lnSpc>
              <a:buAutoNum type="arabicPeriod" startAt="1"/>
            </a:pPr>
            <a:r>
              <a:rPr lang="en-US" b="true" sz="2000" spc="-40" strike="noStrike" u="none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설치 파일 실행 (기본값 유지)</a:t>
            </a:r>
          </a:p>
          <a:p>
            <a:pPr algn="l" marL="431801" indent="-215900" lvl="1">
              <a:lnSpc>
                <a:spcPts val="3000"/>
              </a:lnSpc>
              <a:buAutoNum type="arabicPeriod" startAt="1"/>
            </a:pPr>
            <a:r>
              <a:rPr lang="en-US" b="true" sz="2000" spc="-40" strike="noStrike" u="none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git --version 으로 확인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305641" y="7854436"/>
            <a:ext cx="3528064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000"/>
              </a:lnSpc>
              <a:buAutoNum type="arabicPeriod" startAt="1"/>
            </a:pPr>
            <a:r>
              <a:rPr lang="en-US" b="true" sz="2000" spc="-40" strike="noStrike" u="none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nodejs.org 접속</a:t>
            </a:r>
          </a:p>
          <a:p>
            <a:pPr algn="l" marL="431801" indent="-215900" lvl="1">
              <a:lnSpc>
                <a:spcPts val="3000"/>
              </a:lnSpc>
              <a:buAutoNum type="arabicPeriod" startAt="1"/>
            </a:pPr>
            <a:r>
              <a:rPr lang="en-US" b="true" sz="2000" spc="-40" strike="noStrike" u="none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LTS 22 이상 버전 선택</a:t>
            </a:r>
          </a:p>
          <a:p>
            <a:pPr algn="l" marL="431801" indent="-215900" lvl="1">
              <a:lnSpc>
                <a:spcPts val="3000"/>
              </a:lnSpc>
              <a:buAutoNum type="arabicPeriod" startAt="1"/>
            </a:pPr>
            <a:r>
              <a:rPr lang="en-US" b="true" sz="2000" spc="-40" strike="noStrike" u="none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node --version 으로 확인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720283" y="7263141"/>
            <a:ext cx="3528064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2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Git 설치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05641" y="7263141"/>
            <a:ext cx="3528064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2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Node.js 설치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Antigravity 4가지 도구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717296" y="2898323"/>
            <a:ext cx="7335408" cy="2752701"/>
            <a:chOff x="0" y="0"/>
            <a:chExt cx="1931959" cy="7249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1959" cy="724991"/>
            </a:xfrm>
            <a:custGeom>
              <a:avLst/>
              <a:gdLst/>
              <a:ahLst/>
              <a:cxnLst/>
              <a:rect r="r" b="b" t="t" l="l"/>
              <a:pathLst>
                <a:path h="724991" w="1931959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19050"/>
              <a:ext cx="1931959" cy="705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4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17296" y="5846679"/>
            <a:ext cx="7335408" cy="2752701"/>
            <a:chOff x="0" y="0"/>
            <a:chExt cx="1931959" cy="7249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31959" cy="724991"/>
            </a:xfrm>
            <a:custGeom>
              <a:avLst/>
              <a:gdLst/>
              <a:ahLst/>
              <a:cxnLst/>
              <a:rect r="r" b="b" t="t" l="l"/>
              <a:pathLst>
                <a:path h="724991" w="1931959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1931959" cy="705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4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244821" y="2898323"/>
            <a:ext cx="7335408" cy="2752701"/>
            <a:chOff x="0" y="0"/>
            <a:chExt cx="1931959" cy="7249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31959" cy="724991"/>
            </a:xfrm>
            <a:custGeom>
              <a:avLst/>
              <a:gdLst/>
              <a:ahLst/>
              <a:cxnLst/>
              <a:rect r="r" b="b" t="t" l="l"/>
              <a:pathLst>
                <a:path h="724991" w="1931959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19050"/>
              <a:ext cx="1931959" cy="705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4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244821" y="5846679"/>
            <a:ext cx="7335408" cy="2752701"/>
            <a:chOff x="0" y="0"/>
            <a:chExt cx="1931959" cy="7249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31959" cy="724991"/>
            </a:xfrm>
            <a:custGeom>
              <a:avLst/>
              <a:gdLst/>
              <a:ahLst/>
              <a:cxnLst/>
              <a:rect r="r" b="b" t="t" l="l"/>
              <a:pathLst>
                <a:path h="724991" w="1931959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19050"/>
              <a:ext cx="1931959" cy="705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4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512059" y="5378921"/>
            <a:ext cx="3263882" cy="851964"/>
            <a:chOff x="0" y="0"/>
            <a:chExt cx="859623" cy="22438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59623" cy="224386"/>
            </a:xfrm>
            <a:custGeom>
              <a:avLst/>
              <a:gdLst/>
              <a:ahLst/>
              <a:cxnLst/>
              <a:rect r="r" b="b" t="t" l="l"/>
              <a:pathLst>
                <a:path h="224386" w="859623">
                  <a:moveTo>
                    <a:pt x="35580" y="0"/>
                  </a:moveTo>
                  <a:lnTo>
                    <a:pt x="824043" y="0"/>
                  </a:lnTo>
                  <a:cubicBezTo>
                    <a:pt x="833480" y="0"/>
                    <a:pt x="842530" y="3749"/>
                    <a:pt x="849202" y="10421"/>
                  </a:cubicBezTo>
                  <a:cubicBezTo>
                    <a:pt x="855875" y="17094"/>
                    <a:pt x="859623" y="26144"/>
                    <a:pt x="859623" y="35580"/>
                  </a:cubicBezTo>
                  <a:lnTo>
                    <a:pt x="859623" y="188806"/>
                  </a:lnTo>
                  <a:cubicBezTo>
                    <a:pt x="859623" y="208456"/>
                    <a:pt x="843694" y="224386"/>
                    <a:pt x="824043" y="224386"/>
                  </a:cubicBezTo>
                  <a:lnTo>
                    <a:pt x="35580" y="224386"/>
                  </a:lnTo>
                  <a:cubicBezTo>
                    <a:pt x="26144" y="224386"/>
                    <a:pt x="17094" y="220637"/>
                    <a:pt x="10421" y="213964"/>
                  </a:cubicBezTo>
                  <a:cubicBezTo>
                    <a:pt x="3749" y="207292"/>
                    <a:pt x="0" y="198242"/>
                    <a:pt x="0" y="188806"/>
                  </a:cubicBezTo>
                  <a:lnTo>
                    <a:pt x="0" y="35580"/>
                  </a:lnTo>
                  <a:cubicBezTo>
                    <a:pt x="0" y="26144"/>
                    <a:pt x="3749" y="17094"/>
                    <a:pt x="10421" y="10421"/>
                  </a:cubicBezTo>
                  <a:cubicBezTo>
                    <a:pt x="17094" y="3749"/>
                    <a:pt x="26144" y="0"/>
                    <a:pt x="35580" y="0"/>
                  </a:cubicBezTo>
                  <a:close/>
                </a:path>
              </a:pathLst>
            </a:custGeom>
            <a:solidFill>
              <a:srgbClr val="5170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19050"/>
              <a:ext cx="859623" cy="205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4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7512059" y="5550371"/>
            <a:ext cx="3263882" cy="48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6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4가지 Surface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020968" y="3254392"/>
            <a:ext cx="4728065" cy="48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6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FF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Antigravity 2.0 (필수)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020968" y="6202748"/>
            <a:ext cx="4728065" cy="48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6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Antigravity CLI (선택)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548493" y="3254392"/>
            <a:ext cx="4728065" cy="48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6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FF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Antigravity IDE (필수)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548493" y="6202748"/>
            <a:ext cx="4728065" cy="48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6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Antigravity SDK (선택)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2309744" y="4303307"/>
            <a:ext cx="5666237" cy="304800"/>
            <a:chOff x="0" y="0"/>
            <a:chExt cx="7554982" cy="406400"/>
          </a:xfrm>
        </p:grpSpPr>
        <p:sp>
          <p:nvSpPr>
            <p:cNvPr name="TextBox 38" id="38"/>
            <p:cNvSpPr txBox="true"/>
            <p:nvPr/>
          </p:nvSpPr>
          <p:spPr>
            <a:xfrm rot="0">
              <a:off x="303953" y="-76200"/>
              <a:ext cx="7251029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에이전트 대화 중심의 데스크톱 앱</a:t>
              </a:r>
            </a:p>
          </p:txBody>
        </p:sp>
        <p:sp>
          <p:nvSpPr>
            <p:cNvPr name="Freeform 39" id="39"/>
            <p:cNvSpPr/>
            <p:nvPr/>
          </p:nvSpPr>
          <p:spPr>
            <a:xfrm flipH="false" flipV="false" rot="0">
              <a:off x="0" y="13089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2309744" y="7251663"/>
            <a:ext cx="5666237" cy="304800"/>
            <a:chOff x="0" y="0"/>
            <a:chExt cx="7554982" cy="406400"/>
          </a:xfrm>
        </p:grpSpPr>
        <p:sp>
          <p:nvSpPr>
            <p:cNvPr name="TextBox 41" id="41"/>
            <p:cNvSpPr txBox="true"/>
            <p:nvPr/>
          </p:nvSpPr>
          <p:spPr>
            <a:xfrm rot="0">
              <a:off x="303953" y="-76200"/>
              <a:ext cx="7251029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터미널에서 실행하는 에이전트</a:t>
              </a:r>
            </a:p>
          </p:txBody>
        </p:sp>
        <p:sp>
          <p:nvSpPr>
            <p:cNvPr name="Freeform 42" id="42"/>
            <p:cNvSpPr/>
            <p:nvPr/>
          </p:nvSpPr>
          <p:spPr>
            <a:xfrm flipH="false" flipV="false" rot="0">
              <a:off x="0" y="13089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837269" y="4303307"/>
            <a:ext cx="6167855" cy="304800"/>
            <a:chOff x="0" y="0"/>
            <a:chExt cx="8223806" cy="406400"/>
          </a:xfrm>
        </p:grpSpPr>
        <p:sp>
          <p:nvSpPr>
            <p:cNvPr name="TextBox 44" id="44"/>
            <p:cNvSpPr txBox="true"/>
            <p:nvPr/>
          </p:nvSpPr>
          <p:spPr>
            <a:xfrm rot="0">
              <a:off x="303953" y="-76200"/>
              <a:ext cx="7919853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VS Code 기반의 코드 편집기</a:t>
              </a:r>
            </a:p>
          </p:txBody>
        </p:sp>
        <p:sp>
          <p:nvSpPr>
            <p:cNvPr name="Freeform 45" id="45"/>
            <p:cNvSpPr/>
            <p:nvPr/>
          </p:nvSpPr>
          <p:spPr>
            <a:xfrm flipH="false" flipV="false" rot="0">
              <a:off x="0" y="13089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837269" y="7251663"/>
            <a:ext cx="6295691" cy="304800"/>
            <a:chOff x="0" y="0"/>
            <a:chExt cx="8394255" cy="406400"/>
          </a:xfrm>
        </p:grpSpPr>
        <p:sp>
          <p:nvSpPr>
            <p:cNvPr name="TextBox 47" id="47"/>
            <p:cNvSpPr txBox="true"/>
            <p:nvPr/>
          </p:nvSpPr>
          <p:spPr>
            <a:xfrm rot="0">
              <a:off x="303953" y="-76200"/>
              <a:ext cx="8090302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에이전트를 만드는 Python 라이브러리</a:t>
              </a:r>
            </a:p>
          </p:txBody>
        </p:sp>
        <p:sp>
          <p:nvSpPr>
            <p:cNvPr name="Freeform 48" id="48"/>
            <p:cNvSpPr/>
            <p:nvPr/>
          </p:nvSpPr>
          <p:spPr>
            <a:xfrm flipH="false" flipV="false" rot="0">
              <a:off x="0" y="13089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2309744" y="4790276"/>
            <a:ext cx="5666237" cy="304800"/>
            <a:chOff x="0" y="0"/>
            <a:chExt cx="7554982" cy="406400"/>
          </a:xfrm>
        </p:grpSpPr>
        <p:sp>
          <p:nvSpPr>
            <p:cNvPr name="TextBox 50" id="50"/>
            <p:cNvSpPr txBox="true"/>
            <p:nvPr/>
          </p:nvSpPr>
          <p:spPr>
            <a:xfrm rot="0">
              <a:off x="303953" y="-76200"/>
              <a:ext cx="7251029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여러 작업을 동시에 맡깁니다.</a:t>
              </a:r>
            </a:p>
          </p:txBody>
        </p:sp>
        <p:sp>
          <p:nvSpPr>
            <p:cNvPr name="Freeform 51" id="51"/>
            <p:cNvSpPr/>
            <p:nvPr/>
          </p:nvSpPr>
          <p:spPr>
            <a:xfrm flipH="false" flipV="false" rot="0">
              <a:off x="0" y="13089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2309744" y="7738632"/>
            <a:ext cx="6411885" cy="304800"/>
            <a:chOff x="0" y="0"/>
            <a:chExt cx="8549180" cy="406400"/>
          </a:xfrm>
        </p:grpSpPr>
        <p:sp>
          <p:nvSpPr>
            <p:cNvPr name="TextBox 53" id="53"/>
            <p:cNvSpPr txBox="true"/>
            <p:nvPr/>
          </p:nvSpPr>
          <p:spPr>
            <a:xfrm rot="0">
              <a:off x="303953" y="-76200"/>
              <a:ext cx="8245227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실행 명령어는 agy 입니다.</a:t>
              </a:r>
            </a:p>
          </p:txBody>
        </p:sp>
        <p:sp>
          <p:nvSpPr>
            <p:cNvPr name="Freeform 54" id="54"/>
            <p:cNvSpPr/>
            <p:nvPr/>
          </p:nvSpPr>
          <p:spPr>
            <a:xfrm flipH="false" flipV="false" rot="0">
              <a:off x="0" y="13089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837269" y="4790276"/>
            <a:ext cx="5666237" cy="304800"/>
            <a:chOff x="0" y="0"/>
            <a:chExt cx="7554982" cy="406400"/>
          </a:xfrm>
        </p:grpSpPr>
        <p:sp>
          <p:nvSpPr>
            <p:cNvPr name="TextBox 56" id="56"/>
            <p:cNvSpPr txBox="true"/>
            <p:nvPr/>
          </p:nvSpPr>
          <p:spPr>
            <a:xfrm rot="0">
              <a:off x="303953" y="-76200"/>
              <a:ext cx="7251029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수정 내용을 한 줄씩 확인합니다.</a:t>
              </a:r>
            </a:p>
          </p:txBody>
        </p:sp>
        <p:sp>
          <p:nvSpPr>
            <p:cNvPr name="Freeform 57" id="57"/>
            <p:cNvSpPr/>
            <p:nvPr/>
          </p:nvSpPr>
          <p:spPr>
            <a:xfrm flipH="false" flipV="false" rot="0">
              <a:off x="0" y="13089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837269" y="7738632"/>
            <a:ext cx="6295691" cy="304800"/>
            <a:chOff x="0" y="0"/>
            <a:chExt cx="8394255" cy="406400"/>
          </a:xfrm>
        </p:grpSpPr>
        <p:sp>
          <p:nvSpPr>
            <p:cNvPr name="TextBox 59" id="59"/>
            <p:cNvSpPr txBox="true"/>
            <p:nvPr/>
          </p:nvSpPr>
          <p:spPr>
            <a:xfrm rot="0">
              <a:off x="303953" y="-76200"/>
              <a:ext cx="8090302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pip install google-antigravity</a:t>
              </a:r>
            </a:p>
          </p:txBody>
        </p:sp>
        <p:sp>
          <p:nvSpPr>
            <p:cNvPr name="Freeform 60" id="60"/>
            <p:cNvSpPr/>
            <p:nvPr/>
          </p:nvSpPr>
          <p:spPr>
            <a:xfrm flipH="false" flipV="false" rot="0">
              <a:off x="0" y="13089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61" id="61"/>
          <p:cNvSpPr/>
          <p:nvPr/>
        </p:nvSpPr>
        <p:spPr>
          <a:xfrm>
            <a:off x="2164565" y="3946119"/>
            <a:ext cx="6440870" cy="0"/>
          </a:xfrm>
          <a:prstGeom prst="line">
            <a:avLst/>
          </a:prstGeom>
          <a:ln cap="rnd" w="9525">
            <a:solidFill>
              <a:srgbClr val="747EA3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2" id="62"/>
          <p:cNvSpPr/>
          <p:nvPr/>
        </p:nvSpPr>
        <p:spPr>
          <a:xfrm>
            <a:off x="2164565" y="6894476"/>
            <a:ext cx="6440870" cy="0"/>
          </a:xfrm>
          <a:prstGeom prst="line">
            <a:avLst/>
          </a:prstGeom>
          <a:ln cap="rnd" w="9525">
            <a:solidFill>
              <a:srgbClr val="747EA3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3" id="63"/>
          <p:cNvSpPr/>
          <p:nvPr/>
        </p:nvSpPr>
        <p:spPr>
          <a:xfrm>
            <a:off x="9692090" y="3946119"/>
            <a:ext cx="6440870" cy="0"/>
          </a:xfrm>
          <a:prstGeom prst="line">
            <a:avLst/>
          </a:prstGeom>
          <a:ln cap="rnd" w="9525">
            <a:solidFill>
              <a:srgbClr val="747EA3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>
            <a:off x="9692090" y="6894476"/>
            <a:ext cx="6440870" cy="0"/>
          </a:xfrm>
          <a:prstGeom prst="line">
            <a:avLst/>
          </a:prstGeom>
          <a:ln cap="rnd" w="9525">
            <a:solidFill>
              <a:srgbClr val="747EA3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5" id="65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2.0과 IDE의 차이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1717296" y="3731994"/>
          <a:ext cx="14853407" cy="3917157"/>
        </p:xfrm>
        <a:graphic>
          <a:graphicData uri="http://schemas.openxmlformats.org/drawingml/2006/table">
            <a:tbl>
              <a:tblPr/>
              <a:tblGrid>
                <a:gridCol w="3495006"/>
                <a:gridCol w="3931697"/>
                <a:gridCol w="7426704"/>
              </a:tblGrid>
              <a:tr h="899920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00" strike="noStrike" u="non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구분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00" strike="noStrike" u="non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2.0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00" strike="noStrike" u="non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IDE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</a:tr>
              <a:tr h="75430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중심 화면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95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대화 화면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strike="noStrike" u="non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코드 편집기 (VS Code 기반)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0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에디터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95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없음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strike="noStrike" u="non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있음. 에이전트의 수정 내용을 한 줄씩 확인 가능!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0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아이콘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95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흰색 배경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strike="noStrike" u="non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검은색 격자. 실행 시 혼동하지 않도록 주의!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0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적합한 상황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95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병렬 작업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strike="noStrike" u="non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코드 학습과 세밀한 검토. 두 앱은 함께 설치해도 충돌하지 않음!!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8" id="18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767464" y="3045376"/>
            <a:ext cx="7788833" cy="5924248"/>
            <a:chOff x="0" y="0"/>
            <a:chExt cx="1134211" cy="8626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34211" cy="862690"/>
            </a:xfrm>
            <a:custGeom>
              <a:avLst/>
              <a:gdLst/>
              <a:ahLst/>
              <a:cxnLst/>
              <a:rect r="r" b="b" t="t" l="l"/>
              <a:pathLst>
                <a:path h="862690" w="1134211">
                  <a:moveTo>
                    <a:pt x="14910" y="0"/>
                  </a:moveTo>
                  <a:lnTo>
                    <a:pt x="1119302" y="0"/>
                  </a:lnTo>
                  <a:cubicBezTo>
                    <a:pt x="1123256" y="0"/>
                    <a:pt x="1127048" y="1571"/>
                    <a:pt x="1129845" y="4367"/>
                  </a:cubicBezTo>
                  <a:cubicBezTo>
                    <a:pt x="1132641" y="7163"/>
                    <a:pt x="1134211" y="10955"/>
                    <a:pt x="1134211" y="14910"/>
                  </a:cubicBezTo>
                  <a:lnTo>
                    <a:pt x="1134211" y="847781"/>
                  </a:lnTo>
                  <a:cubicBezTo>
                    <a:pt x="1134211" y="851735"/>
                    <a:pt x="1132641" y="855527"/>
                    <a:pt x="1129845" y="858323"/>
                  </a:cubicBezTo>
                  <a:cubicBezTo>
                    <a:pt x="1127048" y="861119"/>
                    <a:pt x="1123256" y="862690"/>
                    <a:pt x="1119302" y="862690"/>
                  </a:cubicBezTo>
                  <a:lnTo>
                    <a:pt x="14910" y="862690"/>
                  </a:lnTo>
                  <a:cubicBezTo>
                    <a:pt x="10955" y="862690"/>
                    <a:pt x="7163" y="861119"/>
                    <a:pt x="4367" y="858323"/>
                  </a:cubicBezTo>
                  <a:cubicBezTo>
                    <a:pt x="1571" y="855527"/>
                    <a:pt x="0" y="851735"/>
                    <a:pt x="0" y="847781"/>
                  </a:cubicBezTo>
                  <a:lnTo>
                    <a:pt x="0" y="14910"/>
                  </a:lnTo>
                  <a:cubicBezTo>
                    <a:pt x="0" y="10955"/>
                    <a:pt x="1571" y="7163"/>
                    <a:pt x="4367" y="4367"/>
                  </a:cubicBezTo>
                  <a:cubicBezTo>
                    <a:pt x="7163" y="1571"/>
                    <a:pt x="10955" y="0"/>
                    <a:pt x="1491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4099" r="0" b="-2498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Antigravity 2.0 다운로드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443720" y="4988134"/>
            <a:ext cx="5423717" cy="2038731"/>
            <a:chOff x="0" y="0"/>
            <a:chExt cx="7231623" cy="2718308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77592" y="914273"/>
              <a:ext cx="7076438" cy="1804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0"/>
                </a:lnSpc>
              </a:pPr>
              <a:r>
                <a:rPr lang="en-US" b="true" sz="1800" spc="-36" strike="noStrike" u="none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① antigravity.google/download 접속</a:t>
              </a:r>
            </a:p>
            <a:p>
              <a:pPr algn="ctr">
                <a:lnSpc>
                  <a:spcPts val="2700"/>
                </a:lnSpc>
              </a:pPr>
              <a:r>
                <a:rPr lang="en-US" b="true" sz="1800" spc="-36" strike="noStrike" u="none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② Antigravity 2.0 항목 찾기</a:t>
              </a:r>
            </a:p>
            <a:p>
              <a:pPr algn="ctr">
                <a:lnSpc>
                  <a:spcPts val="2700"/>
                </a:lnSpc>
              </a:pPr>
              <a:r>
                <a:rPr lang="en-US" b="true" sz="1800" spc="-36" strike="noStrike" u="none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③ 운영체제 선택 (Windows · macOS)</a:t>
              </a:r>
            </a:p>
            <a:p>
              <a:pPr algn="ctr">
                <a:lnSpc>
                  <a:spcPts val="2700"/>
                </a:lnSpc>
              </a:pPr>
              <a:r>
                <a:rPr lang="en-US" b="true" sz="1800" spc="-36" strike="noStrike" u="none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④ 아키텍처 확인 (x64 · ARM64)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66675"/>
              <a:ext cx="7231623" cy="5713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72"/>
                </a:lnSpc>
                <a:spcBef>
                  <a:spcPct val="0"/>
                </a:spcBef>
              </a:pPr>
              <a:r>
                <a:rPr lang="en-US" b="true" sz="3200" spc="-64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다운로드 페이지 · 설치 파일 선택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355167" y="2898323"/>
            <a:ext cx="9670847" cy="5701057"/>
            <a:chOff x="0" y="0"/>
            <a:chExt cx="1378773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78773" cy="812800"/>
            </a:xfrm>
            <a:custGeom>
              <a:avLst/>
              <a:gdLst/>
              <a:ahLst/>
              <a:cxnLst/>
              <a:rect r="r" b="b" t="t" l="l"/>
              <a:pathLst>
                <a:path h="812800" w="1378773">
                  <a:moveTo>
                    <a:pt x="12008" y="0"/>
                  </a:moveTo>
                  <a:lnTo>
                    <a:pt x="1366765" y="0"/>
                  </a:lnTo>
                  <a:cubicBezTo>
                    <a:pt x="1369950" y="0"/>
                    <a:pt x="1373004" y="1265"/>
                    <a:pt x="1375256" y="3517"/>
                  </a:cubicBezTo>
                  <a:cubicBezTo>
                    <a:pt x="1377508" y="5769"/>
                    <a:pt x="1378773" y="8823"/>
                    <a:pt x="1378773" y="12008"/>
                  </a:cubicBezTo>
                  <a:lnTo>
                    <a:pt x="1378773" y="800792"/>
                  </a:lnTo>
                  <a:cubicBezTo>
                    <a:pt x="1378773" y="807424"/>
                    <a:pt x="1373397" y="812800"/>
                    <a:pt x="1366765" y="812800"/>
                  </a:cubicBezTo>
                  <a:lnTo>
                    <a:pt x="12008" y="812800"/>
                  </a:lnTo>
                  <a:cubicBezTo>
                    <a:pt x="5376" y="812800"/>
                    <a:pt x="0" y="807424"/>
                    <a:pt x="0" y="800792"/>
                  </a:cubicBezTo>
                  <a:lnTo>
                    <a:pt x="0" y="12008"/>
                  </a:lnTo>
                  <a:cubicBezTo>
                    <a:pt x="0" y="5376"/>
                    <a:pt x="5376" y="0"/>
                    <a:pt x="12008" y="0"/>
                  </a:cubicBezTo>
                  <a:close/>
                </a:path>
              </a:pathLst>
            </a:custGeom>
            <a:blipFill>
              <a:blip r:embed="rId4"/>
              <a:stretch>
                <a:fillRect l="-11081" t="0" r="-2820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874339" y="6346709"/>
            <a:ext cx="4881481" cy="2252671"/>
            <a:chOff x="0" y="0"/>
            <a:chExt cx="6508642" cy="3003561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6159875" cy="3003561"/>
              <a:chOff x="0" y="0"/>
              <a:chExt cx="1216765" cy="593296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16765" cy="593296"/>
              </a:xfrm>
              <a:custGeom>
                <a:avLst/>
                <a:gdLst/>
                <a:ahLst/>
                <a:cxnLst/>
                <a:rect r="r" b="b" t="t" l="l"/>
                <a:pathLst>
                  <a:path h="593296" w="1216765">
                    <a:moveTo>
                      <a:pt x="25137" y="0"/>
                    </a:moveTo>
                    <a:lnTo>
                      <a:pt x="1191629" y="0"/>
                    </a:lnTo>
                    <a:cubicBezTo>
                      <a:pt x="1205511" y="0"/>
                      <a:pt x="1216765" y="11254"/>
                      <a:pt x="1216765" y="25137"/>
                    </a:cubicBezTo>
                    <a:lnTo>
                      <a:pt x="1216765" y="568159"/>
                    </a:lnTo>
                    <a:cubicBezTo>
                      <a:pt x="1216765" y="582042"/>
                      <a:pt x="1205511" y="593296"/>
                      <a:pt x="1191629" y="593296"/>
                    </a:cubicBezTo>
                    <a:lnTo>
                      <a:pt x="25137" y="593296"/>
                    </a:lnTo>
                    <a:cubicBezTo>
                      <a:pt x="11254" y="593296"/>
                      <a:pt x="0" y="582042"/>
                      <a:pt x="0" y="568159"/>
                    </a:cubicBezTo>
                    <a:lnTo>
                      <a:pt x="0" y="25137"/>
                    </a:lnTo>
                    <a:cubicBezTo>
                      <a:pt x="0" y="11254"/>
                      <a:pt x="11254" y="0"/>
                      <a:pt x="25137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1216765" cy="5742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43"/>
                  </a:lnSpc>
                </a:pPr>
              </a:p>
            </p:txBody>
          </p:sp>
        </p:grpSp>
        <p:sp>
          <p:nvSpPr>
            <p:cNvPr name="Freeform 22" id="22"/>
            <p:cNvSpPr/>
            <p:nvPr/>
          </p:nvSpPr>
          <p:spPr>
            <a:xfrm flipH="false" flipV="false" rot="0">
              <a:off x="741639" y="70938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1045128" y="502290"/>
              <a:ext cx="5463513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000000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흰색 배경 로고가 Antigravity 2.0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741639" y="141804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1045128" y="1210950"/>
              <a:ext cx="5463513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000000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관리자 권한은 필요하지 않음</a:t>
              </a:r>
            </a:p>
          </p:txBody>
        </p:sp>
        <p:sp>
          <p:nvSpPr>
            <p:cNvPr name="Freeform 26" id="26"/>
            <p:cNvSpPr/>
            <p:nvPr/>
          </p:nvSpPr>
          <p:spPr>
            <a:xfrm flipH="false" flipV="false" rot="0">
              <a:off x="741639" y="2126706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1045128" y="1919611"/>
              <a:ext cx="5463513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000000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설치 후 바탕화면 아이콘 확인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874339" y="2898323"/>
            <a:ext cx="3903318" cy="555498"/>
            <a:chOff x="0" y="0"/>
            <a:chExt cx="5204424" cy="7406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192339"/>
              <a:ext cx="355986" cy="355986"/>
            </a:xfrm>
            <a:custGeom>
              <a:avLst/>
              <a:gdLst/>
              <a:ahLst/>
              <a:cxnLst/>
              <a:rect r="r" b="b" t="t" l="l"/>
              <a:pathLst>
                <a:path h="355986" w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500339" y="76200"/>
              <a:ext cx="4704085" cy="6644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56"/>
                </a:lnSpc>
                <a:spcBef>
                  <a:spcPct val="0"/>
                </a:spcBef>
              </a:pPr>
              <a:r>
                <a:rPr lang="en-US" b="true" sz="3600" spc="-72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설치 진행하기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설치 파일 실행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874339" y="3604117"/>
            <a:ext cx="5384961" cy="136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내려받은 설치 파일을 더블클릭합니다.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설치 경로는 기본값을 그대로 둡니다.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설치가 끝나면 앱을 실행합니다.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name="AutoShape 34" id="34"/>
          <p:cNvSpPr/>
          <p:nvPr/>
        </p:nvSpPr>
        <p:spPr>
          <a:xfrm flipV="true">
            <a:off x="1028700" y="4082076"/>
            <a:ext cx="612832" cy="0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5" id="35"/>
          <p:cNvSpPr/>
          <p:nvPr/>
        </p:nvSpPr>
        <p:spPr>
          <a:xfrm>
            <a:off x="2281993" y="4101126"/>
            <a:ext cx="395755" cy="228796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6" id="36"/>
          <p:cNvSpPr/>
          <p:nvPr/>
        </p:nvSpPr>
        <p:spPr>
          <a:xfrm flipV="true">
            <a:off x="3507258" y="3964729"/>
            <a:ext cx="1447840" cy="3508315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7" id="37"/>
          <p:cNvSpPr/>
          <p:nvPr/>
        </p:nvSpPr>
        <p:spPr>
          <a:xfrm flipV="true">
            <a:off x="5448134" y="5186028"/>
            <a:ext cx="1388109" cy="872097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8" id="38"/>
          <p:cNvSpPr/>
          <p:nvPr/>
        </p:nvSpPr>
        <p:spPr>
          <a:xfrm flipV="true">
            <a:off x="7372401" y="4220741"/>
            <a:ext cx="659499" cy="4001476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1130521" y="6346709"/>
            <a:ext cx="5384961" cy="2252671"/>
            <a:chOff x="0" y="0"/>
            <a:chExt cx="7179948" cy="300356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418261" cy="593296"/>
              </a:xfrm>
              <a:custGeom>
                <a:avLst/>
                <a:gdLst/>
                <a:ahLst/>
                <a:cxnLst/>
                <a:rect r="r" b="b" t="t" l="l"/>
                <a:pathLst>
                  <a:path h="593296" w="1418261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19050"/>
                <a:ext cx="1418261" cy="5742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43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741639" y="70811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1045128" y="502290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000000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채팅창에 "이 프로젝트 설명해줘" 입력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741639" y="141677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1045128" y="1210950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000000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답변이 나오면 설치 성공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741639" y="2125436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1045128" y="1919611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000000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폴더 경로에 한글·공백은 피하기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130521" y="2884234"/>
            <a:ext cx="3903318" cy="555498"/>
            <a:chOff x="0" y="0"/>
            <a:chExt cx="5204424" cy="7406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192339"/>
              <a:ext cx="355986" cy="355986"/>
            </a:xfrm>
            <a:custGeom>
              <a:avLst/>
              <a:gdLst/>
              <a:ahLst/>
              <a:cxnLst/>
              <a:rect r="r" b="b" t="t" l="l"/>
              <a:pathLst>
                <a:path h="355986" w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500339" y="76200"/>
              <a:ext cx="4704085" cy="6644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56"/>
                </a:lnSpc>
                <a:spcBef>
                  <a:spcPct val="0"/>
                </a:spcBef>
              </a:pPr>
              <a:r>
                <a:rPr lang="en-US" b="true" sz="3600" spc="-72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프로젝트 생성 순서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987970" y="3439732"/>
            <a:ext cx="9731087" cy="4934461"/>
          </a:xfrm>
          <a:custGeom>
            <a:avLst/>
            <a:gdLst/>
            <a:ahLst/>
            <a:cxnLst/>
            <a:rect r="r" b="b" t="t" l="l"/>
            <a:pathLst>
              <a:path h="4934461" w="9731087">
                <a:moveTo>
                  <a:pt x="0" y="0"/>
                </a:moveTo>
                <a:lnTo>
                  <a:pt x="9731087" y="0"/>
                </a:lnTo>
                <a:lnTo>
                  <a:pt x="9731087" y="4934461"/>
                </a:lnTo>
                <a:lnTo>
                  <a:pt x="0" y="49344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첫 프로젝트 만들기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130521" y="3604117"/>
            <a:ext cx="6429075" cy="182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바탕화면에 작업 폴더를 만듭니다.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Select Project → New Project를 선택합니다.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Add Folder로 만든 폴더를 지정합니다.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④ 보안 프리셋은 기본값을 사용합니다.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717296" y="1999002"/>
            <a:ext cx="7277574" cy="4940289"/>
            <a:chOff x="0" y="0"/>
            <a:chExt cx="1283210" cy="8710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3210" cy="871091"/>
            </a:xfrm>
            <a:custGeom>
              <a:avLst/>
              <a:gdLst/>
              <a:ahLst/>
              <a:cxnLst/>
              <a:rect r="r" b="b" t="t" l="l"/>
              <a:pathLst>
                <a:path h="871091" w="1283210">
                  <a:moveTo>
                    <a:pt x="15957" y="0"/>
                  </a:moveTo>
                  <a:lnTo>
                    <a:pt x="1267253" y="0"/>
                  </a:lnTo>
                  <a:cubicBezTo>
                    <a:pt x="1276066" y="0"/>
                    <a:pt x="1283210" y="7144"/>
                    <a:pt x="1283210" y="15957"/>
                  </a:cubicBezTo>
                  <a:lnTo>
                    <a:pt x="1283210" y="855134"/>
                  </a:lnTo>
                  <a:cubicBezTo>
                    <a:pt x="1283210" y="859366"/>
                    <a:pt x="1281529" y="863425"/>
                    <a:pt x="1278536" y="866417"/>
                  </a:cubicBezTo>
                  <a:cubicBezTo>
                    <a:pt x="1275544" y="869410"/>
                    <a:pt x="1271485" y="871091"/>
                    <a:pt x="1267253" y="871091"/>
                  </a:cubicBezTo>
                  <a:lnTo>
                    <a:pt x="15957" y="871091"/>
                  </a:lnTo>
                  <a:cubicBezTo>
                    <a:pt x="7144" y="871091"/>
                    <a:pt x="0" y="863947"/>
                    <a:pt x="0" y="855134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5736" r="0" b="-35736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8994870" y="1999002"/>
            <a:ext cx="3307543" cy="2565918"/>
          </a:xfrm>
          <a:custGeom>
            <a:avLst/>
            <a:gdLst/>
            <a:ahLst/>
            <a:cxnLst/>
            <a:rect r="r" b="b" t="t" l="l"/>
            <a:pathLst>
              <a:path h="2565918" w="3307543">
                <a:moveTo>
                  <a:pt x="0" y="0"/>
                </a:moveTo>
                <a:lnTo>
                  <a:pt x="3307544" y="0"/>
                </a:lnTo>
                <a:lnTo>
                  <a:pt x="3307544" y="2565917"/>
                </a:lnTo>
                <a:lnTo>
                  <a:pt x="0" y="25659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800860" y="3093462"/>
            <a:ext cx="2966784" cy="2319956"/>
          </a:xfrm>
          <a:custGeom>
            <a:avLst/>
            <a:gdLst/>
            <a:ahLst/>
            <a:cxnLst/>
            <a:rect r="r" b="b" t="t" l="l"/>
            <a:pathLst>
              <a:path h="2319956" w="2966784">
                <a:moveTo>
                  <a:pt x="0" y="0"/>
                </a:moveTo>
                <a:lnTo>
                  <a:pt x="2966783" y="0"/>
                </a:lnTo>
                <a:lnTo>
                  <a:pt x="2966783" y="2319956"/>
                </a:lnTo>
                <a:lnTo>
                  <a:pt x="0" y="23199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478921" y="1999002"/>
            <a:ext cx="3310686" cy="2565918"/>
          </a:xfrm>
          <a:custGeom>
            <a:avLst/>
            <a:gdLst/>
            <a:ahLst/>
            <a:cxnLst/>
            <a:rect r="r" b="b" t="t" l="l"/>
            <a:pathLst>
              <a:path h="2565918" w="3310686">
                <a:moveTo>
                  <a:pt x="0" y="0"/>
                </a:moveTo>
                <a:lnTo>
                  <a:pt x="3310686" y="0"/>
                </a:lnTo>
                <a:lnTo>
                  <a:pt x="3310686" y="2565917"/>
                </a:lnTo>
                <a:lnTo>
                  <a:pt x="0" y="25659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994870" y="5305899"/>
            <a:ext cx="3393091" cy="2624738"/>
          </a:xfrm>
          <a:custGeom>
            <a:avLst/>
            <a:gdLst/>
            <a:ahLst/>
            <a:cxnLst/>
            <a:rect r="r" b="b" t="t" l="l"/>
            <a:pathLst>
              <a:path h="2624738" w="3393091">
                <a:moveTo>
                  <a:pt x="0" y="0"/>
                </a:moveTo>
                <a:lnTo>
                  <a:pt x="3393091" y="0"/>
                </a:lnTo>
                <a:lnTo>
                  <a:pt x="3393091" y="2624737"/>
                </a:lnTo>
                <a:lnTo>
                  <a:pt x="0" y="26247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719577" y="6939291"/>
            <a:ext cx="3336768" cy="2591611"/>
          </a:xfrm>
          <a:custGeom>
            <a:avLst/>
            <a:gdLst/>
            <a:ahLst/>
            <a:cxnLst/>
            <a:rect r="r" b="b" t="t" l="l"/>
            <a:pathLst>
              <a:path h="2591611" w="3336768">
                <a:moveTo>
                  <a:pt x="0" y="0"/>
                </a:moveTo>
                <a:lnTo>
                  <a:pt x="3336768" y="0"/>
                </a:lnTo>
                <a:lnTo>
                  <a:pt x="3336768" y="2591611"/>
                </a:lnTo>
                <a:lnTo>
                  <a:pt x="0" y="2591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452529" y="5305899"/>
            <a:ext cx="3363470" cy="2624738"/>
          </a:xfrm>
          <a:custGeom>
            <a:avLst/>
            <a:gdLst/>
            <a:ahLst/>
            <a:cxnLst/>
            <a:rect r="r" b="b" t="t" l="l"/>
            <a:pathLst>
              <a:path h="2624738" w="3363470">
                <a:moveTo>
                  <a:pt x="0" y="0"/>
                </a:moveTo>
                <a:lnTo>
                  <a:pt x="3363470" y="0"/>
                </a:lnTo>
                <a:lnTo>
                  <a:pt x="3363470" y="2624737"/>
                </a:lnTo>
                <a:lnTo>
                  <a:pt x="0" y="262473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019354" y="7854436"/>
            <a:ext cx="6673459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같은 다운로드 페이지 접속</a:t>
            </a:r>
          </a:p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Antigravity IDE 항목 선택</a:t>
            </a:r>
          </a:p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설치 파일 실행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720283" y="7263141"/>
            <a:ext cx="3528064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2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다운로드</a:t>
            </a:r>
          </a:p>
        </p:txBody>
      </p:sp>
      <p:sp>
        <p:nvSpPr>
          <p:cNvPr name="Freeform 26" id="26"/>
          <p:cNvSpPr/>
          <p:nvPr/>
        </p:nvSpPr>
        <p:spPr>
          <a:xfrm>
            <a:off x="6247137" y="2115545"/>
            <a:ext cx="2747733" cy="6694103"/>
          </a:xfrm>
          <a:custGeom>
            <a:avLst/>
            <a:gdLst/>
            <a:ahLst/>
            <a:cxnLst/>
            <a:rect r="r" b="b" t="t" l="l"/>
            <a:pathLst>
              <a:path h="6694103" w="2747733">
                <a:moveTo>
                  <a:pt x="0" y="6694103"/>
                </a:moveTo>
                <a:lnTo>
                  <a:pt x="1600910" y="6694103"/>
                </a:lnTo>
                <a:cubicBezTo>
                  <a:pt x="1727162" y="6694103"/>
                  <a:pt x="1829510" y="6591755"/>
                  <a:pt x="1829510" y="6465503"/>
                </a:cubicBezTo>
                <a:lnTo>
                  <a:pt x="1829510" y="228600"/>
                </a:lnTo>
                <a:cubicBezTo>
                  <a:pt x="1829510" y="102347"/>
                  <a:pt x="1931858" y="0"/>
                  <a:pt x="2058110" y="0"/>
                </a:cubicBezTo>
                <a:lnTo>
                  <a:pt x="2747733" y="0"/>
                </a:lnTo>
              </a:path>
            </a:pathLst>
          </a:cu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7" id="27"/>
          <p:cNvSpPr/>
          <p:nvPr/>
        </p:nvSpPr>
        <p:spPr>
          <a:xfrm>
            <a:off x="9995320" y="2115545"/>
            <a:ext cx="846959" cy="999832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8" id="28"/>
          <p:cNvSpPr/>
          <p:nvPr/>
        </p:nvSpPr>
        <p:spPr>
          <a:xfrm flipV="true">
            <a:off x="11708415" y="2115545"/>
            <a:ext cx="1796424" cy="1087784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9" id="29"/>
          <p:cNvSpPr/>
          <p:nvPr/>
        </p:nvSpPr>
        <p:spPr>
          <a:xfrm flipH="true">
            <a:off x="10066595" y="4469146"/>
            <a:ext cx="5943090" cy="944271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0" id="30"/>
          <p:cNvSpPr/>
          <p:nvPr/>
        </p:nvSpPr>
        <p:spPr>
          <a:xfrm>
            <a:off x="10066595" y="5413418"/>
            <a:ext cx="734264" cy="1602475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1" id="31"/>
          <p:cNvSpPr/>
          <p:nvPr/>
        </p:nvSpPr>
        <p:spPr>
          <a:xfrm flipV="true">
            <a:off x="13300844" y="5481409"/>
            <a:ext cx="696845" cy="3881199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2" id="32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Antigravity IDE 설치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5505213" y="2438623"/>
            <a:ext cx="7277574" cy="4940289"/>
            <a:chOff x="0" y="0"/>
            <a:chExt cx="1283210" cy="8710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3210" cy="871091"/>
            </a:xfrm>
            <a:custGeom>
              <a:avLst/>
              <a:gdLst/>
              <a:ahLst/>
              <a:cxnLst/>
              <a:rect r="r" b="b" t="t" l="l"/>
              <a:pathLst>
                <a:path h="871091" w="1283210">
                  <a:moveTo>
                    <a:pt x="15957" y="0"/>
                  </a:moveTo>
                  <a:lnTo>
                    <a:pt x="1267253" y="0"/>
                  </a:lnTo>
                  <a:cubicBezTo>
                    <a:pt x="1276066" y="0"/>
                    <a:pt x="1283210" y="7144"/>
                    <a:pt x="1283210" y="15957"/>
                  </a:cubicBezTo>
                  <a:lnTo>
                    <a:pt x="1283210" y="855134"/>
                  </a:lnTo>
                  <a:cubicBezTo>
                    <a:pt x="1283210" y="859366"/>
                    <a:pt x="1281529" y="863425"/>
                    <a:pt x="1278536" y="866417"/>
                  </a:cubicBezTo>
                  <a:cubicBezTo>
                    <a:pt x="1275544" y="869410"/>
                    <a:pt x="1271485" y="871091"/>
                    <a:pt x="1267253" y="871091"/>
                  </a:cubicBezTo>
                  <a:lnTo>
                    <a:pt x="15957" y="871091"/>
                  </a:lnTo>
                  <a:cubicBezTo>
                    <a:pt x="7144" y="871091"/>
                    <a:pt x="0" y="863947"/>
                    <a:pt x="0" y="855134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blipFill>
              <a:blip r:embed="rId4"/>
              <a:stretch>
                <a:fillRect l="-1521" t="0" r="-6944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Antigravity IDE 설치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807270" y="8349615"/>
            <a:ext cx="6673459" cy="90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흰색 배경</a:t>
            </a:r>
            <a:r>
              <a:rPr lang="en-US" sz="2400" spc="-48" strike="noStrike" u="none">
                <a:solidFill>
                  <a:srgbClr val="000000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 </a:t>
            </a:r>
            <a:r>
              <a:rPr lang="en-US" b="true" sz="2400" spc="-48" strike="noStrike" u="none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</a:t>
            </a:r>
            <a:r>
              <a:rPr lang="en-US" sz="2400" spc="-48" strike="noStrike" u="none">
                <a:solidFill>
                  <a:srgbClr val="000000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 </a:t>
            </a:r>
            <a:r>
              <a:rPr lang="en-US" b="true" sz="2400" spc="-48" strike="noStrike" u="none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Antigravity 2.0</a:t>
            </a:r>
          </a:p>
          <a:p>
            <a:pPr algn="ctr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검은색 격자</a:t>
            </a:r>
            <a:r>
              <a:rPr lang="en-US" b="true" sz="2400" spc="-48" strike="noStrike" u="none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 -</a:t>
            </a:r>
            <a:r>
              <a:rPr lang="en-US" sz="2400" spc="-48" strike="noStrike" u="none">
                <a:solidFill>
                  <a:srgbClr val="000000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 </a:t>
            </a:r>
            <a:r>
              <a:rPr lang="en-US" b="true" sz="2400" spc="-48" strike="noStrike" u="none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Antigravity IDE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08200" y="7767845"/>
            <a:ext cx="3528064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2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아이콘 구분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717296" y="2898323"/>
            <a:ext cx="7277574" cy="3960145"/>
            <a:chOff x="0" y="0"/>
            <a:chExt cx="1283210" cy="6982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3210" cy="698268"/>
            </a:xfrm>
            <a:custGeom>
              <a:avLst/>
              <a:gdLst/>
              <a:ahLst/>
              <a:cxnLst/>
              <a:rect r="r" b="b" t="t" l="l"/>
              <a:pathLst>
                <a:path h="698268" w="1283210">
                  <a:moveTo>
                    <a:pt x="15957" y="0"/>
                  </a:moveTo>
                  <a:lnTo>
                    <a:pt x="1267253" y="0"/>
                  </a:lnTo>
                  <a:cubicBezTo>
                    <a:pt x="1276066" y="0"/>
                    <a:pt x="1283210" y="7144"/>
                    <a:pt x="1283210" y="15957"/>
                  </a:cubicBezTo>
                  <a:lnTo>
                    <a:pt x="1283210" y="682311"/>
                  </a:lnTo>
                  <a:cubicBezTo>
                    <a:pt x="1283210" y="691124"/>
                    <a:pt x="1276066" y="698268"/>
                    <a:pt x="1267253" y="698268"/>
                  </a:cubicBezTo>
                  <a:lnTo>
                    <a:pt x="15957" y="698268"/>
                  </a:lnTo>
                  <a:cubicBezTo>
                    <a:pt x="11725" y="698268"/>
                    <a:pt x="7666" y="696587"/>
                    <a:pt x="4674" y="693594"/>
                  </a:cubicBezTo>
                  <a:cubicBezTo>
                    <a:pt x="1681" y="690602"/>
                    <a:pt x="0" y="686543"/>
                    <a:pt x="0" y="682311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1333" r="0" b="-11333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302655" y="2174697"/>
            <a:ext cx="7277574" cy="4683771"/>
            <a:chOff x="0" y="0"/>
            <a:chExt cx="1283210" cy="82586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83210" cy="825861"/>
            </a:xfrm>
            <a:custGeom>
              <a:avLst/>
              <a:gdLst/>
              <a:ahLst/>
              <a:cxnLst/>
              <a:rect r="r" b="b" t="t" l="l"/>
              <a:pathLst>
                <a:path h="825861" w="1283210">
                  <a:moveTo>
                    <a:pt x="15957" y="0"/>
                  </a:moveTo>
                  <a:lnTo>
                    <a:pt x="1267253" y="0"/>
                  </a:lnTo>
                  <a:cubicBezTo>
                    <a:pt x="1276066" y="0"/>
                    <a:pt x="1283210" y="7144"/>
                    <a:pt x="1283210" y="15957"/>
                  </a:cubicBezTo>
                  <a:lnTo>
                    <a:pt x="1283210" y="809904"/>
                  </a:lnTo>
                  <a:cubicBezTo>
                    <a:pt x="1283210" y="814136"/>
                    <a:pt x="1281529" y="818194"/>
                    <a:pt x="1278536" y="821187"/>
                  </a:cubicBezTo>
                  <a:cubicBezTo>
                    <a:pt x="1275544" y="824179"/>
                    <a:pt x="1271485" y="825861"/>
                    <a:pt x="1267253" y="825861"/>
                  </a:cubicBezTo>
                  <a:lnTo>
                    <a:pt x="15957" y="825861"/>
                  </a:lnTo>
                  <a:cubicBezTo>
                    <a:pt x="7144" y="825861"/>
                    <a:pt x="0" y="818716"/>
                    <a:pt x="0" y="809904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blipFill>
              <a:blip r:embed="rId5"/>
              <a:stretch>
                <a:fillRect l="-4772" t="0" r="-16222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Google 계정 로그인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19354" y="8044936"/>
            <a:ext cx="667345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Sign in with Google 클릭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04712" y="7854436"/>
            <a:ext cx="6673459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브라우저에서 Gmail 계정 선택</a:t>
            </a:r>
          </a:p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인증 후 앱으로 자동 복귀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720283" y="7263141"/>
            <a:ext cx="3528064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2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로그인 시작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05641" y="7263141"/>
            <a:ext cx="3528064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2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계정 선택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717296" y="2898323"/>
            <a:ext cx="8207164" cy="5701057"/>
            <a:chOff x="0" y="0"/>
            <a:chExt cx="1170096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70096" cy="812800"/>
            </a:xfrm>
            <a:custGeom>
              <a:avLst/>
              <a:gdLst/>
              <a:ahLst/>
              <a:cxnLst/>
              <a:rect r="r" b="b" t="t" l="l"/>
              <a:pathLst>
                <a:path h="812800" w="1170096">
                  <a:moveTo>
                    <a:pt x="14150" y="0"/>
                  </a:moveTo>
                  <a:lnTo>
                    <a:pt x="1155946" y="0"/>
                  </a:lnTo>
                  <a:cubicBezTo>
                    <a:pt x="1163761" y="0"/>
                    <a:pt x="1170096" y="6335"/>
                    <a:pt x="1170096" y="14150"/>
                  </a:cubicBezTo>
                  <a:lnTo>
                    <a:pt x="1170096" y="798650"/>
                  </a:lnTo>
                  <a:cubicBezTo>
                    <a:pt x="1170096" y="806465"/>
                    <a:pt x="1163761" y="812800"/>
                    <a:pt x="1155946" y="812800"/>
                  </a:cubicBezTo>
                  <a:lnTo>
                    <a:pt x="14150" y="812800"/>
                  </a:lnTo>
                  <a:cubicBezTo>
                    <a:pt x="6335" y="812800"/>
                    <a:pt x="0" y="806465"/>
                    <a:pt x="0" y="798650"/>
                  </a:cubicBezTo>
                  <a:lnTo>
                    <a:pt x="0" y="14150"/>
                  </a:lnTo>
                  <a:cubicBezTo>
                    <a:pt x="0" y="6335"/>
                    <a:pt x="6335" y="0"/>
                    <a:pt x="14150" y="0"/>
                  </a:cubicBezTo>
                  <a:close/>
                </a:path>
              </a:pathLst>
            </a:custGeom>
            <a:blipFill>
              <a:blip r:embed="rId4"/>
              <a:stretch>
                <a:fillRect l="-2012" t="0" r="-2012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418261" cy="593296"/>
              </a:xfrm>
              <a:custGeom>
                <a:avLst/>
                <a:gdLst/>
                <a:ahLst/>
                <a:cxnLst/>
                <a:rect r="r" b="b" t="t" l="l"/>
                <a:pathLst>
                  <a:path h="593296" w="1418261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1418261" cy="5742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43"/>
                  </a:lnSpc>
                </a:pPr>
              </a:p>
            </p:txBody>
          </p:sp>
        </p:grpSp>
        <p:sp>
          <p:nvSpPr>
            <p:cNvPr name="Freeform 22" id="22"/>
            <p:cNvSpPr/>
            <p:nvPr/>
          </p:nvSpPr>
          <p:spPr>
            <a:xfrm flipH="false" flipV="false" rot="0">
              <a:off x="741639" y="70938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1045128" y="502290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Cursor 설정도 같은 방식으로 이전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741639" y="141804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1045128" y="1210950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실패하면 설정 화면에서 재시도</a:t>
              </a:r>
            </a:p>
          </p:txBody>
        </p:sp>
        <p:sp>
          <p:nvSpPr>
            <p:cNvPr name="Freeform 26" id="26"/>
            <p:cNvSpPr/>
            <p:nvPr/>
          </p:nvSpPr>
          <p:spPr>
            <a:xfrm flipH="false" flipV="false" rot="0">
              <a:off x="741639" y="2126706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1045128" y="1919611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VS Code를 안 썼다면 건너뛰기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472784" y="2884234"/>
            <a:ext cx="3903318" cy="555498"/>
            <a:chOff x="0" y="0"/>
            <a:chExt cx="5204424" cy="7406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192339"/>
              <a:ext cx="355986" cy="355986"/>
            </a:xfrm>
            <a:custGeom>
              <a:avLst/>
              <a:gdLst/>
              <a:ahLst/>
              <a:cxnLst/>
              <a:rect r="r" b="b" t="t" l="l"/>
              <a:pathLst>
                <a:path h="355986" w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500339" y="76200"/>
              <a:ext cx="4704085" cy="6644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56"/>
                </a:lnSpc>
                <a:spcBef>
                  <a:spcPct val="0"/>
                </a:spcBef>
              </a:pPr>
              <a:r>
                <a:rPr lang="en-US" b="true" sz="3600" spc="-72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설정 이전하기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VS Code 설정 가져오기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472784" y="3604117"/>
            <a:ext cx="7086813" cy="136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설정 마법사에서 Import from VS Code를 선택합니다.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settings.json · 확장 · 단축키를 함께 가져옵니다.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새로 시작하려면 Start fresh를 선택합니다.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55167" y="1983244"/>
            <a:ext cx="5307184" cy="3496926"/>
          </a:xfrm>
          <a:custGeom>
            <a:avLst/>
            <a:gdLst/>
            <a:ahLst/>
            <a:cxnLst/>
            <a:rect r="r" b="b" t="t" l="l"/>
            <a:pathLst>
              <a:path h="3496926" w="5307184">
                <a:moveTo>
                  <a:pt x="0" y="0"/>
                </a:moveTo>
                <a:lnTo>
                  <a:pt x="5307184" y="0"/>
                </a:lnTo>
                <a:lnTo>
                  <a:pt x="5307184" y="3496926"/>
                </a:lnTo>
                <a:lnTo>
                  <a:pt x="0" y="34969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994602" y="1983244"/>
            <a:ext cx="4423807" cy="3762933"/>
          </a:xfrm>
          <a:custGeom>
            <a:avLst/>
            <a:gdLst/>
            <a:ahLst/>
            <a:cxnLst/>
            <a:rect r="r" b="b" t="t" l="l"/>
            <a:pathLst>
              <a:path h="3762933" w="4423807">
                <a:moveTo>
                  <a:pt x="0" y="0"/>
                </a:moveTo>
                <a:lnTo>
                  <a:pt x="4423806" y="0"/>
                </a:lnTo>
                <a:lnTo>
                  <a:pt x="4423806" y="3762933"/>
                </a:lnTo>
                <a:lnTo>
                  <a:pt x="0" y="37629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750659" y="1983244"/>
            <a:ext cx="4611787" cy="3496926"/>
          </a:xfrm>
          <a:custGeom>
            <a:avLst/>
            <a:gdLst/>
            <a:ahLst/>
            <a:cxnLst/>
            <a:rect r="r" b="b" t="t" l="l"/>
            <a:pathLst>
              <a:path h="3496926" w="4611787">
                <a:moveTo>
                  <a:pt x="0" y="0"/>
                </a:moveTo>
                <a:lnTo>
                  <a:pt x="4611787" y="0"/>
                </a:lnTo>
                <a:lnTo>
                  <a:pt x="4611787" y="3496926"/>
                </a:lnTo>
                <a:lnTo>
                  <a:pt x="0" y="34969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331355" y="5143500"/>
            <a:ext cx="3354807" cy="4098760"/>
          </a:xfrm>
          <a:custGeom>
            <a:avLst/>
            <a:gdLst/>
            <a:ahLst/>
            <a:cxnLst/>
            <a:rect r="r" b="b" t="t" l="l"/>
            <a:pathLst>
              <a:path h="4098760" w="3354807">
                <a:moveTo>
                  <a:pt x="0" y="0"/>
                </a:moveTo>
                <a:lnTo>
                  <a:pt x="3354808" y="0"/>
                </a:lnTo>
                <a:lnTo>
                  <a:pt x="3354808" y="4098760"/>
                </a:lnTo>
                <a:lnTo>
                  <a:pt x="0" y="40987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865587" y="5480170"/>
            <a:ext cx="4681836" cy="3933708"/>
          </a:xfrm>
          <a:custGeom>
            <a:avLst/>
            <a:gdLst/>
            <a:ahLst/>
            <a:cxnLst/>
            <a:rect r="r" b="b" t="t" l="l"/>
            <a:pathLst>
              <a:path h="3933708" w="4681836">
                <a:moveTo>
                  <a:pt x="0" y="0"/>
                </a:moveTo>
                <a:lnTo>
                  <a:pt x="4681836" y="0"/>
                </a:lnTo>
                <a:lnTo>
                  <a:pt x="4681836" y="3933707"/>
                </a:lnTo>
                <a:lnTo>
                  <a:pt x="0" y="39337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672299" y="5855534"/>
            <a:ext cx="4768507" cy="3182979"/>
          </a:xfrm>
          <a:custGeom>
            <a:avLst/>
            <a:gdLst/>
            <a:ahLst/>
            <a:cxnLst/>
            <a:rect r="r" b="b" t="t" l="l"/>
            <a:pathLst>
              <a:path h="3182979" w="4768507">
                <a:moveTo>
                  <a:pt x="0" y="0"/>
                </a:moveTo>
                <a:lnTo>
                  <a:pt x="4768507" y="0"/>
                </a:lnTo>
                <a:lnTo>
                  <a:pt x="4768507" y="3182979"/>
                </a:lnTo>
                <a:lnTo>
                  <a:pt x="0" y="31829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17783" y="1620593"/>
            <a:ext cx="474768" cy="741825"/>
          </a:xfrm>
          <a:custGeom>
            <a:avLst/>
            <a:gdLst/>
            <a:ahLst/>
            <a:cxnLst/>
            <a:rect r="r" b="b" t="t" l="l"/>
            <a:pathLst>
              <a:path h="741825" w="474768">
                <a:moveTo>
                  <a:pt x="0" y="0"/>
                </a:moveTo>
                <a:lnTo>
                  <a:pt x="474768" y="0"/>
                </a:lnTo>
                <a:lnTo>
                  <a:pt x="474768" y="741825"/>
                </a:lnTo>
                <a:lnTo>
                  <a:pt x="0" y="7418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696783" y="1620593"/>
            <a:ext cx="567496" cy="741825"/>
          </a:xfrm>
          <a:custGeom>
            <a:avLst/>
            <a:gdLst/>
            <a:ahLst/>
            <a:cxnLst/>
            <a:rect r="r" b="b" t="t" l="l"/>
            <a:pathLst>
              <a:path h="741825" w="567496">
                <a:moveTo>
                  <a:pt x="0" y="0"/>
                </a:moveTo>
                <a:lnTo>
                  <a:pt x="567496" y="0"/>
                </a:lnTo>
                <a:lnTo>
                  <a:pt x="567496" y="741825"/>
                </a:lnTo>
                <a:lnTo>
                  <a:pt x="0" y="7418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547423" y="1620593"/>
            <a:ext cx="515568" cy="741825"/>
          </a:xfrm>
          <a:custGeom>
            <a:avLst/>
            <a:gdLst/>
            <a:ahLst/>
            <a:cxnLst/>
            <a:rect r="r" b="b" t="t" l="l"/>
            <a:pathLst>
              <a:path h="741825" w="515568">
                <a:moveTo>
                  <a:pt x="0" y="0"/>
                </a:moveTo>
                <a:lnTo>
                  <a:pt x="515568" y="0"/>
                </a:lnTo>
                <a:lnTo>
                  <a:pt x="515568" y="741825"/>
                </a:lnTo>
                <a:lnTo>
                  <a:pt x="0" y="7418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064343" y="4748656"/>
            <a:ext cx="534026" cy="712034"/>
          </a:xfrm>
          <a:custGeom>
            <a:avLst/>
            <a:gdLst/>
            <a:ahLst/>
            <a:cxnLst/>
            <a:rect r="r" b="b" t="t" l="l"/>
            <a:pathLst>
              <a:path h="712034" w="534026">
                <a:moveTo>
                  <a:pt x="0" y="0"/>
                </a:moveTo>
                <a:lnTo>
                  <a:pt x="534025" y="0"/>
                </a:lnTo>
                <a:lnTo>
                  <a:pt x="534025" y="712034"/>
                </a:lnTo>
                <a:lnTo>
                  <a:pt x="0" y="71203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607803" y="5143500"/>
            <a:ext cx="515568" cy="741825"/>
          </a:xfrm>
          <a:custGeom>
            <a:avLst/>
            <a:gdLst/>
            <a:ahLst/>
            <a:cxnLst/>
            <a:rect r="r" b="b" t="t" l="l"/>
            <a:pathLst>
              <a:path h="741825" w="515568">
                <a:moveTo>
                  <a:pt x="0" y="0"/>
                </a:moveTo>
                <a:lnTo>
                  <a:pt x="515568" y="0"/>
                </a:lnTo>
                <a:lnTo>
                  <a:pt x="515568" y="741825"/>
                </a:lnTo>
                <a:lnTo>
                  <a:pt x="0" y="74182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498438" y="5514412"/>
            <a:ext cx="504441" cy="741825"/>
          </a:xfrm>
          <a:custGeom>
            <a:avLst/>
            <a:gdLst/>
            <a:ahLst/>
            <a:cxnLst/>
            <a:rect r="r" b="b" t="t" l="l"/>
            <a:pathLst>
              <a:path h="741825" w="504441">
                <a:moveTo>
                  <a:pt x="0" y="0"/>
                </a:moveTo>
                <a:lnTo>
                  <a:pt x="504441" y="0"/>
                </a:lnTo>
                <a:lnTo>
                  <a:pt x="504441" y="741825"/>
                </a:lnTo>
                <a:lnTo>
                  <a:pt x="0" y="74182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Antigravity IDE 셋팅 마무리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두 앱 함께 쓰기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717296" y="6224694"/>
            <a:ext cx="4764905" cy="2374686"/>
            <a:chOff x="0" y="0"/>
            <a:chExt cx="1254954" cy="6254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54954" cy="625432"/>
            </a:xfrm>
            <a:custGeom>
              <a:avLst/>
              <a:gdLst/>
              <a:ahLst/>
              <a:cxnLst/>
              <a:rect r="r" b="b" t="t" l="l"/>
              <a:pathLst>
                <a:path h="625432" w="1254954">
                  <a:moveTo>
                    <a:pt x="24372" y="0"/>
                  </a:moveTo>
                  <a:lnTo>
                    <a:pt x="1230583" y="0"/>
                  </a:lnTo>
                  <a:cubicBezTo>
                    <a:pt x="1237046" y="0"/>
                    <a:pt x="1243246" y="2568"/>
                    <a:pt x="1247816" y="7138"/>
                  </a:cubicBezTo>
                  <a:cubicBezTo>
                    <a:pt x="1252387" y="11709"/>
                    <a:pt x="1254954" y="17908"/>
                    <a:pt x="1254954" y="24372"/>
                  </a:cubicBezTo>
                  <a:lnTo>
                    <a:pt x="1254954" y="601060"/>
                  </a:lnTo>
                  <a:cubicBezTo>
                    <a:pt x="1254954" y="607524"/>
                    <a:pt x="1252387" y="613723"/>
                    <a:pt x="1247816" y="618293"/>
                  </a:cubicBezTo>
                  <a:cubicBezTo>
                    <a:pt x="1243246" y="622864"/>
                    <a:pt x="1237046" y="625432"/>
                    <a:pt x="1230583" y="625432"/>
                  </a:cubicBezTo>
                  <a:lnTo>
                    <a:pt x="24372" y="625432"/>
                  </a:lnTo>
                  <a:cubicBezTo>
                    <a:pt x="10912" y="625432"/>
                    <a:pt x="0" y="614520"/>
                    <a:pt x="0" y="601060"/>
                  </a:cubicBezTo>
                  <a:lnTo>
                    <a:pt x="0" y="24372"/>
                  </a:lnTo>
                  <a:cubicBezTo>
                    <a:pt x="0" y="10912"/>
                    <a:pt x="10912" y="0"/>
                    <a:pt x="24372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19050"/>
              <a:ext cx="1254954" cy="606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4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761548" y="6224694"/>
            <a:ext cx="4764905" cy="2374686"/>
            <a:chOff x="0" y="0"/>
            <a:chExt cx="1254954" cy="6254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54954" cy="625432"/>
            </a:xfrm>
            <a:custGeom>
              <a:avLst/>
              <a:gdLst/>
              <a:ahLst/>
              <a:cxnLst/>
              <a:rect r="r" b="b" t="t" l="l"/>
              <a:pathLst>
                <a:path h="625432" w="1254954">
                  <a:moveTo>
                    <a:pt x="24372" y="0"/>
                  </a:moveTo>
                  <a:lnTo>
                    <a:pt x="1230583" y="0"/>
                  </a:lnTo>
                  <a:cubicBezTo>
                    <a:pt x="1237046" y="0"/>
                    <a:pt x="1243246" y="2568"/>
                    <a:pt x="1247816" y="7138"/>
                  </a:cubicBezTo>
                  <a:cubicBezTo>
                    <a:pt x="1252387" y="11709"/>
                    <a:pt x="1254954" y="17908"/>
                    <a:pt x="1254954" y="24372"/>
                  </a:cubicBezTo>
                  <a:lnTo>
                    <a:pt x="1254954" y="601060"/>
                  </a:lnTo>
                  <a:cubicBezTo>
                    <a:pt x="1254954" y="607524"/>
                    <a:pt x="1252387" y="613723"/>
                    <a:pt x="1247816" y="618293"/>
                  </a:cubicBezTo>
                  <a:cubicBezTo>
                    <a:pt x="1243246" y="622864"/>
                    <a:pt x="1237046" y="625432"/>
                    <a:pt x="1230583" y="625432"/>
                  </a:cubicBezTo>
                  <a:lnTo>
                    <a:pt x="24372" y="625432"/>
                  </a:lnTo>
                  <a:cubicBezTo>
                    <a:pt x="10912" y="625432"/>
                    <a:pt x="0" y="614520"/>
                    <a:pt x="0" y="601060"/>
                  </a:cubicBezTo>
                  <a:lnTo>
                    <a:pt x="0" y="24372"/>
                  </a:lnTo>
                  <a:cubicBezTo>
                    <a:pt x="0" y="10912"/>
                    <a:pt x="10912" y="0"/>
                    <a:pt x="24372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1254954" cy="606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4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805799" y="6224694"/>
            <a:ext cx="4764905" cy="2374686"/>
            <a:chOff x="0" y="0"/>
            <a:chExt cx="1254954" cy="6254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54954" cy="625432"/>
            </a:xfrm>
            <a:custGeom>
              <a:avLst/>
              <a:gdLst/>
              <a:ahLst/>
              <a:cxnLst/>
              <a:rect r="r" b="b" t="t" l="l"/>
              <a:pathLst>
                <a:path h="625432" w="1254954">
                  <a:moveTo>
                    <a:pt x="24372" y="0"/>
                  </a:moveTo>
                  <a:lnTo>
                    <a:pt x="1230583" y="0"/>
                  </a:lnTo>
                  <a:cubicBezTo>
                    <a:pt x="1237046" y="0"/>
                    <a:pt x="1243246" y="2568"/>
                    <a:pt x="1247816" y="7138"/>
                  </a:cubicBezTo>
                  <a:cubicBezTo>
                    <a:pt x="1252387" y="11709"/>
                    <a:pt x="1254954" y="17908"/>
                    <a:pt x="1254954" y="24372"/>
                  </a:cubicBezTo>
                  <a:lnTo>
                    <a:pt x="1254954" y="601060"/>
                  </a:lnTo>
                  <a:cubicBezTo>
                    <a:pt x="1254954" y="607524"/>
                    <a:pt x="1252387" y="613723"/>
                    <a:pt x="1247816" y="618293"/>
                  </a:cubicBezTo>
                  <a:cubicBezTo>
                    <a:pt x="1243246" y="622864"/>
                    <a:pt x="1237046" y="625432"/>
                    <a:pt x="1230583" y="625432"/>
                  </a:cubicBezTo>
                  <a:lnTo>
                    <a:pt x="24372" y="625432"/>
                  </a:lnTo>
                  <a:cubicBezTo>
                    <a:pt x="10912" y="625432"/>
                    <a:pt x="0" y="614520"/>
                    <a:pt x="0" y="601060"/>
                  </a:cubicBezTo>
                  <a:lnTo>
                    <a:pt x="0" y="24372"/>
                  </a:lnTo>
                  <a:cubicBezTo>
                    <a:pt x="0" y="10912"/>
                    <a:pt x="10912" y="0"/>
                    <a:pt x="24372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19050"/>
              <a:ext cx="1254954" cy="606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4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850791" y="6346150"/>
            <a:ext cx="4505671" cy="787186"/>
            <a:chOff x="0" y="0"/>
            <a:chExt cx="1186679" cy="2073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86679" cy="207325"/>
            </a:xfrm>
            <a:custGeom>
              <a:avLst/>
              <a:gdLst/>
              <a:ahLst/>
              <a:cxnLst/>
              <a:rect r="r" b="b" t="t" l="l"/>
              <a:pathLst>
                <a:path h="207325" w="1186679">
                  <a:moveTo>
                    <a:pt x="20619" y="0"/>
                  </a:moveTo>
                  <a:lnTo>
                    <a:pt x="1166060" y="0"/>
                  </a:lnTo>
                  <a:cubicBezTo>
                    <a:pt x="1171528" y="0"/>
                    <a:pt x="1176773" y="2172"/>
                    <a:pt x="1180640" y="6039"/>
                  </a:cubicBezTo>
                  <a:cubicBezTo>
                    <a:pt x="1184506" y="9906"/>
                    <a:pt x="1186679" y="15151"/>
                    <a:pt x="1186679" y="20619"/>
                  </a:cubicBezTo>
                  <a:lnTo>
                    <a:pt x="1186679" y="186706"/>
                  </a:lnTo>
                  <a:cubicBezTo>
                    <a:pt x="1186679" y="192174"/>
                    <a:pt x="1184506" y="197419"/>
                    <a:pt x="1180640" y="201286"/>
                  </a:cubicBezTo>
                  <a:cubicBezTo>
                    <a:pt x="1176773" y="205152"/>
                    <a:pt x="1171528" y="207325"/>
                    <a:pt x="1166060" y="207325"/>
                  </a:cubicBezTo>
                  <a:lnTo>
                    <a:pt x="20619" y="207325"/>
                  </a:lnTo>
                  <a:cubicBezTo>
                    <a:pt x="9232" y="207325"/>
                    <a:pt x="0" y="198093"/>
                    <a:pt x="0" y="186706"/>
                  </a:cubicBezTo>
                  <a:lnTo>
                    <a:pt x="0" y="20619"/>
                  </a:lnTo>
                  <a:cubicBezTo>
                    <a:pt x="0" y="9232"/>
                    <a:pt x="9232" y="0"/>
                    <a:pt x="20619" y="0"/>
                  </a:cubicBezTo>
                  <a:close/>
                </a:path>
              </a:pathLst>
            </a:custGeom>
            <a:solidFill>
              <a:srgbClr val="5170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19050"/>
              <a:ext cx="1186679" cy="188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4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891165" y="6346150"/>
            <a:ext cx="4505671" cy="787186"/>
            <a:chOff x="0" y="0"/>
            <a:chExt cx="1186679" cy="20732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86679" cy="207325"/>
            </a:xfrm>
            <a:custGeom>
              <a:avLst/>
              <a:gdLst/>
              <a:ahLst/>
              <a:cxnLst/>
              <a:rect r="r" b="b" t="t" l="l"/>
              <a:pathLst>
                <a:path h="207325" w="1186679">
                  <a:moveTo>
                    <a:pt x="20619" y="0"/>
                  </a:moveTo>
                  <a:lnTo>
                    <a:pt x="1166060" y="0"/>
                  </a:lnTo>
                  <a:cubicBezTo>
                    <a:pt x="1171528" y="0"/>
                    <a:pt x="1176773" y="2172"/>
                    <a:pt x="1180640" y="6039"/>
                  </a:cubicBezTo>
                  <a:cubicBezTo>
                    <a:pt x="1184506" y="9906"/>
                    <a:pt x="1186679" y="15151"/>
                    <a:pt x="1186679" y="20619"/>
                  </a:cubicBezTo>
                  <a:lnTo>
                    <a:pt x="1186679" y="186706"/>
                  </a:lnTo>
                  <a:cubicBezTo>
                    <a:pt x="1186679" y="192174"/>
                    <a:pt x="1184506" y="197419"/>
                    <a:pt x="1180640" y="201286"/>
                  </a:cubicBezTo>
                  <a:cubicBezTo>
                    <a:pt x="1176773" y="205152"/>
                    <a:pt x="1171528" y="207325"/>
                    <a:pt x="1166060" y="207325"/>
                  </a:cubicBezTo>
                  <a:lnTo>
                    <a:pt x="20619" y="207325"/>
                  </a:lnTo>
                  <a:cubicBezTo>
                    <a:pt x="9232" y="207325"/>
                    <a:pt x="0" y="198093"/>
                    <a:pt x="0" y="186706"/>
                  </a:cubicBezTo>
                  <a:lnTo>
                    <a:pt x="0" y="20619"/>
                  </a:lnTo>
                  <a:cubicBezTo>
                    <a:pt x="0" y="9232"/>
                    <a:pt x="9232" y="0"/>
                    <a:pt x="20619" y="0"/>
                  </a:cubicBezTo>
                  <a:close/>
                </a:path>
              </a:pathLst>
            </a:custGeom>
            <a:solidFill>
              <a:srgbClr val="5170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19050"/>
              <a:ext cx="1186679" cy="188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4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935416" y="6346150"/>
            <a:ext cx="4505671" cy="787186"/>
            <a:chOff x="0" y="0"/>
            <a:chExt cx="1186679" cy="20732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86679" cy="207325"/>
            </a:xfrm>
            <a:custGeom>
              <a:avLst/>
              <a:gdLst/>
              <a:ahLst/>
              <a:cxnLst/>
              <a:rect r="r" b="b" t="t" l="l"/>
              <a:pathLst>
                <a:path h="207325" w="1186679">
                  <a:moveTo>
                    <a:pt x="20619" y="0"/>
                  </a:moveTo>
                  <a:lnTo>
                    <a:pt x="1166060" y="0"/>
                  </a:lnTo>
                  <a:cubicBezTo>
                    <a:pt x="1171528" y="0"/>
                    <a:pt x="1176773" y="2172"/>
                    <a:pt x="1180640" y="6039"/>
                  </a:cubicBezTo>
                  <a:cubicBezTo>
                    <a:pt x="1184506" y="9906"/>
                    <a:pt x="1186679" y="15151"/>
                    <a:pt x="1186679" y="20619"/>
                  </a:cubicBezTo>
                  <a:lnTo>
                    <a:pt x="1186679" y="186706"/>
                  </a:lnTo>
                  <a:cubicBezTo>
                    <a:pt x="1186679" y="192174"/>
                    <a:pt x="1184506" y="197419"/>
                    <a:pt x="1180640" y="201286"/>
                  </a:cubicBezTo>
                  <a:cubicBezTo>
                    <a:pt x="1176773" y="205152"/>
                    <a:pt x="1171528" y="207325"/>
                    <a:pt x="1166060" y="207325"/>
                  </a:cubicBezTo>
                  <a:lnTo>
                    <a:pt x="20619" y="207325"/>
                  </a:lnTo>
                  <a:cubicBezTo>
                    <a:pt x="9232" y="207325"/>
                    <a:pt x="0" y="198093"/>
                    <a:pt x="0" y="186706"/>
                  </a:cubicBezTo>
                  <a:lnTo>
                    <a:pt x="0" y="20619"/>
                  </a:lnTo>
                  <a:cubicBezTo>
                    <a:pt x="0" y="9232"/>
                    <a:pt x="9232" y="0"/>
                    <a:pt x="20619" y="0"/>
                  </a:cubicBezTo>
                  <a:close/>
                </a:path>
              </a:pathLst>
            </a:custGeom>
            <a:solidFill>
              <a:srgbClr val="5170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19050"/>
              <a:ext cx="1186679" cy="188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4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717296" y="3537442"/>
            <a:ext cx="14853407" cy="90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두 앱은 디스크의 같은 파일을 읽고 씀!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2.0에서 에이전트가 코드를 고치면 IDE 화면에 바로 반영됨!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915859" y="6462734"/>
            <a:ext cx="2367780" cy="498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87"/>
              </a:lnSpc>
              <a:spcBef>
                <a:spcPct val="0"/>
              </a:spcBef>
            </a:pPr>
            <a:r>
              <a:rPr lang="en-US" b="true" sz="2799" spc="-55" strike="noStrike" u="none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같은 폴더 열기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960110" y="6462734"/>
            <a:ext cx="2367780" cy="498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87"/>
              </a:lnSpc>
              <a:spcBef>
                <a:spcPct val="0"/>
              </a:spcBef>
            </a:pPr>
            <a:r>
              <a:rPr lang="en-US" b="true" sz="2799" spc="-55" strike="noStrike" u="none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역할 나누기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004361" y="6462734"/>
            <a:ext cx="2367780" cy="498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87"/>
              </a:lnSpc>
              <a:spcBef>
                <a:spcPct val="0"/>
              </a:spcBef>
            </a:pPr>
            <a:r>
              <a:rPr lang="en-US" b="true" sz="2799" spc="-55" strike="noStrike" u="none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확장 설치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083245" y="7545387"/>
            <a:ext cx="399490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두 앱에서 동일한 프로젝트 폴더 지정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127496" y="7354887"/>
            <a:ext cx="3994907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작업은 2.0에!</a:t>
            </a:r>
          </a:p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검토는 IDE에서!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171748" y="7354887"/>
            <a:ext cx="3994907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OpenVSX에 없으면,</a:t>
            </a:r>
          </a:p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.vsix 파일로 설치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717296" y="2817559"/>
            <a:ext cx="3903318" cy="555498"/>
            <a:chOff x="0" y="0"/>
            <a:chExt cx="5204424" cy="740664"/>
          </a:xfrm>
        </p:grpSpPr>
        <p:sp>
          <p:nvSpPr>
            <p:cNvPr name="TextBox 43" id="43"/>
            <p:cNvSpPr txBox="true"/>
            <p:nvPr/>
          </p:nvSpPr>
          <p:spPr>
            <a:xfrm rot="0">
              <a:off x="500339" y="76200"/>
              <a:ext cx="4704085" cy="6644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56"/>
                </a:lnSpc>
                <a:spcBef>
                  <a:spcPct val="0"/>
                </a:spcBef>
              </a:pPr>
              <a:r>
                <a:rPr lang="en-US" b="true" sz="3600" spc="-72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함께 쓰는 원리</a:t>
              </a:r>
            </a:p>
          </p:txBody>
        </p:sp>
        <p:sp>
          <p:nvSpPr>
            <p:cNvPr name="Freeform 44" id="44"/>
            <p:cNvSpPr/>
            <p:nvPr/>
          </p:nvSpPr>
          <p:spPr>
            <a:xfrm flipH="false" flipV="false" rot="0">
              <a:off x="0" y="192339"/>
              <a:ext cx="355986" cy="355986"/>
            </a:xfrm>
            <a:custGeom>
              <a:avLst/>
              <a:gdLst/>
              <a:ahLst/>
              <a:cxnLst/>
              <a:rect r="r" b="b" t="t" l="l"/>
              <a:pathLst>
                <a:path h="355986" w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717296" y="5336887"/>
            <a:ext cx="3903318" cy="555498"/>
            <a:chOff x="0" y="0"/>
            <a:chExt cx="5204424" cy="740664"/>
          </a:xfrm>
        </p:grpSpPr>
        <p:sp>
          <p:nvSpPr>
            <p:cNvPr name="TextBox 46" id="46"/>
            <p:cNvSpPr txBox="true"/>
            <p:nvPr/>
          </p:nvSpPr>
          <p:spPr>
            <a:xfrm rot="0">
              <a:off x="500339" y="76200"/>
              <a:ext cx="4704085" cy="6644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56"/>
                </a:lnSpc>
                <a:spcBef>
                  <a:spcPct val="0"/>
                </a:spcBef>
              </a:pPr>
              <a:r>
                <a:rPr lang="en-US" b="true" sz="3600" spc="-72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사용 요령</a:t>
              </a:r>
            </a:p>
          </p:txBody>
        </p:sp>
        <p:sp>
          <p:nvSpPr>
            <p:cNvPr name="Freeform 47" id="47"/>
            <p:cNvSpPr/>
            <p:nvPr/>
          </p:nvSpPr>
          <p:spPr>
            <a:xfrm flipH="false" flipV="false" rot="0">
              <a:off x="0" y="192339"/>
              <a:ext cx="355986" cy="355986"/>
            </a:xfrm>
            <a:custGeom>
              <a:avLst/>
              <a:gdLst/>
              <a:ahLst/>
              <a:cxnLst/>
              <a:rect r="r" b="b" t="t" l="l"/>
              <a:pathLst>
                <a:path h="355986" w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48" id="48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선택 도구 안내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090908" y="7082717"/>
            <a:ext cx="3613935" cy="90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FF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Antigravity</a:t>
            </a:r>
            <a:r>
              <a:rPr lang="en-US" b="true" sz="2400" spc="-48" strike="noStrike" u="none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만 설치해도</a:t>
            </a:r>
          </a:p>
          <a:p>
            <a:pPr algn="ctr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8차시 수업</a:t>
            </a:r>
            <a:r>
              <a:rPr lang="en-US" b="true" sz="2400" spc="-48" strike="noStrike" u="none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을 들을 수 있어요!!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91784" y="7082717"/>
            <a:ext cx="4104431" cy="90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Claude Pro 또는 ChatGPT Plus가</a:t>
            </a:r>
          </a:p>
          <a:p>
            <a:pPr algn="ctr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있어야 CLI에 로그인 가능!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05565" y="7311317"/>
            <a:ext cx="3588168" cy="45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도구별 결과 비교에 활용 가능!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45660" y="5336790"/>
            <a:ext cx="4104431" cy="960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6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필수</a:t>
            </a:r>
          </a:p>
          <a:p>
            <a:pPr algn="ctr" marL="0" indent="0" lvl="0">
              <a:lnSpc>
                <a:spcPts val="3776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아닙니다!!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091784" y="5336790"/>
            <a:ext cx="4104431" cy="960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6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유료 구독</a:t>
            </a:r>
          </a:p>
          <a:p>
            <a:pPr algn="ctr" marL="0" indent="0" lvl="0">
              <a:lnSpc>
                <a:spcPts val="3776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필요해요!!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47433" y="5574915"/>
            <a:ext cx="4104431" cy="48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6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언제 쓰나요?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2944444" y="3048665"/>
            <a:ext cx="1906863" cy="1756697"/>
          </a:xfrm>
          <a:custGeom>
            <a:avLst/>
            <a:gdLst/>
            <a:ahLst/>
            <a:cxnLst/>
            <a:rect r="r" b="b" t="t" l="l"/>
            <a:pathLst>
              <a:path h="1756697" w="1906863">
                <a:moveTo>
                  <a:pt x="0" y="0"/>
                </a:moveTo>
                <a:lnTo>
                  <a:pt x="1906863" y="0"/>
                </a:lnTo>
                <a:lnTo>
                  <a:pt x="1906863" y="1756697"/>
                </a:lnTo>
                <a:lnTo>
                  <a:pt x="0" y="17566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176076" y="3176873"/>
            <a:ext cx="1935847" cy="1500282"/>
          </a:xfrm>
          <a:custGeom>
            <a:avLst/>
            <a:gdLst/>
            <a:ahLst/>
            <a:cxnLst/>
            <a:rect r="r" b="b" t="t" l="l"/>
            <a:pathLst>
              <a:path h="1500282" w="1935847">
                <a:moveTo>
                  <a:pt x="0" y="0"/>
                </a:moveTo>
                <a:lnTo>
                  <a:pt x="1935848" y="0"/>
                </a:lnTo>
                <a:lnTo>
                  <a:pt x="1935848" y="1500282"/>
                </a:lnTo>
                <a:lnTo>
                  <a:pt x="0" y="1500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580283" y="3112769"/>
            <a:ext cx="1638732" cy="1628490"/>
          </a:xfrm>
          <a:custGeom>
            <a:avLst/>
            <a:gdLst/>
            <a:ahLst/>
            <a:cxnLst/>
            <a:rect r="r" b="b" t="t" l="l"/>
            <a:pathLst>
              <a:path h="1628490" w="1638732">
                <a:moveTo>
                  <a:pt x="0" y="0"/>
                </a:moveTo>
                <a:lnTo>
                  <a:pt x="1638732" y="0"/>
                </a:lnTo>
                <a:lnTo>
                  <a:pt x="1638732" y="1628489"/>
                </a:lnTo>
                <a:lnTo>
                  <a:pt x="0" y="16284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3810206" y="6690275"/>
            <a:ext cx="175340" cy="171395"/>
          </a:xfrm>
          <a:custGeom>
            <a:avLst/>
            <a:gdLst/>
            <a:ahLst/>
            <a:cxnLst/>
            <a:rect r="r" b="b" t="t" l="l"/>
            <a:pathLst>
              <a:path h="171395" w="175340">
                <a:moveTo>
                  <a:pt x="0" y="0"/>
                </a:moveTo>
                <a:lnTo>
                  <a:pt x="175340" y="0"/>
                </a:lnTo>
                <a:lnTo>
                  <a:pt x="175340" y="171394"/>
                </a:lnTo>
                <a:lnTo>
                  <a:pt x="0" y="1713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5400000">
            <a:off x="9056330" y="6690275"/>
            <a:ext cx="175340" cy="171395"/>
          </a:xfrm>
          <a:custGeom>
            <a:avLst/>
            <a:gdLst/>
            <a:ahLst/>
            <a:cxnLst/>
            <a:rect r="r" b="b" t="t" l="l"/>
            <a:pathLst>
              <a:path h="171395" w="175340">
                <a:moveTo>
                  <a:pt x="0" y="0"/>
                </a:moveTo>
                <a:lnTo>
                  <a:pt x="175340" y="0"/>
                </a:lnTo>
                <a:lnTo>
                  <a:pt x="175340" y="171394"/>
                </a:lnTo>
                <a:lnTo>
                  <a:pt x="0" y="1713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5400000">
            <a:off x="14226282" y="6690275"/>
            <a:ext cx="175340" cy="171395"/>
          </a:xfrm>
          <a:custGeom>
            <a:avLst/>
            <a:gdLst/>
            <a:ahLst/>
            <a:cxnLst/>
            <a:rect r="r" b="b" t="t" l="l"/>
            <a:pathLst>
              <a:path h="171395" w="175340">
                <a:moveTo>
                  <a:pt x="0" y="0"/>
                </a:moveTo>
                <a:lnTo>
                  <a:pt x="175340" y="0"/>
                </a:lnTo>
                <a:lnTo>
                  <a:pt x="175340" y="171394"/>
                </a:lnTo>
                <a:lnTo>
                  <a:pt x="0" y="1713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717296" y="2196625"/>
            <a:ext cx="7277574" cy="5384530"/>
            <a:chOff x="0" y="0"/>
            <a:chExt cx="1283210" cy="94942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3210" cy="949421"/>
            </a:xfrm>
            <a:custGeom>
              <a:avLst/>
              <a:gdLst/>
              <a:ahLst/>
              <a:cxnLst/>
              <a:rect r="r" b="b" t="t" l="l"/>
              <a:pathLst>
                <a:path h="949421" w="1283210">
                  <a:moveTo>
                    <a:pt x="15957" y="0"/>
                  </a:moveTo>
                  <a:lnTo>
                    <a:pt x="1267253" y="0"/>
                  </a:lnTo>
                  <a:cubicBezTo>
                    <a:pt x="1276066" y="0"/>
                    <a:pt x="1283210" y="7144"/>
                    <a:pt x="1283210" y="15957"/>
                  </a:cubicBezTo>
                  <a:lnTo>
                    <a:pt x="1283210" y="933464"/>
                  </a:lnTo>
                  <a:cubicBezTo>
                    <a:pt x="1283210" y="937696"/>
                    <a:pt x="1281529" y="941755"/>
                    <a:pt x="1278536" y="944747"/>
                  </a:cubicBezTo>
                  <a:cubicBezTo>
                    <a:pt x="1275544" y="947740"/>
                    <a:pt x="1271485" y="949421"/>
                    <a:pt x="1267253" y="949421"/>
                  </a:cubicBezTo>
                  <a:lnTo>
                    <a:pt x="15957" y="949421"/>
                  </a:lnTo>
                  <a:cubicBezTo>
                    <a:pt x="7144" y="949421"/>
                    <a:pt x="0" y="942277"/>
                    <a:pt x="0" y="933464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blipFill>
              <a:blip r:embed="rId4"/>
              <a:stretch>
                <a:fillRect l="-2449" t="-23122" r="-5301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302655" y="2898323"/>
            <a:ext cx="7277574" cy="3960145"/>
            <a:chOff x="0" y="0"/>
            <a:chExt cx="1283210" cy="6982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83210" cy="698268"/>
            </a:xfrm>
            <a:custGeom>
              <a:avLst/>
              <a:gdLst/>
              <a:ahLst/>
              <a:cxnLst/>
              <a:rect r="r" b="b" t="t" l="l"/>
              <a:pathLst>
                <a:path h="698268" w="1283210">
                  <a:moveTo>
                    <a:pt x="15957" y="0"/>
                  </a:moveTo>
                  <a:lnTo>
                    <a:pt x="1267253" y="0"/>
                  </a:lnTo>
                  <a:cubicBezTo>
                    <a:pt x="1276066" y="0"/>
                    <a:pt x="1283210" y="7144"/>
                    <a:pt x="1283210" y="15957"/>
                  </a:cubicBezTo>
                  <a:lnTo>
                    <a:pt x="1283210" y="682311"/>
                  </a:lnTo>
                  <a:cubicBezTo>
                    <a:pt x="1283210" y="691124"/>
                    <a:pt x="1276066" y="698268"/>
                    <a:pt x="1267253" y="698268"/>
                  </a:cubicBezTo>
                  <a:lnTo>
                    <a:pt x="15957" y="698268"/>
                  </a:lnTo>
                  <a:cubicBezTo>
                    <a:pt x="11725" y="698268"/>
                    <a:pt x="7666" y="696587"/>
                    <a:pt x="4674" y="693594"/>
                  </a:cubicBezTo>
                  <a:cubicBezTo>
                    <a:pt x="1681" y="690602"/>
                    <a:pt x="0" y="686543"/>
                    <a:pt x="0" y="682311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blipFill>
              <a:blip r:embed="rId5"/>
              <a:stretch>
                <a:fillRect l="-7074" t="0" r="-7074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Claude 앱 설치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19354" y="8496300"/>
            <a:ext cx="6673459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claude.ai/download 접속</a:t>
            </a:r>
          </a:p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운영체제 선택 후 설치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04712" y="7854436"/>
            <a:ext cx="6673459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앱 실행 후 Anthropic 계정 로그인</a:t>
            </a:r>
          </a:p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④ 무료 계정은 CLI 사용 불가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720283" y="7905005"/>
            <a:ext cx="3528064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2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다운로드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05641" y="7263141"/>
            <a:ext cx="3528064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2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로그인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717296" y="2898323"/>
            <a:ext cx="7277574" cy="3960145"/>
            <a:chOff x="0" y="0"/>
            <a:chExt cx="1283210" cy="6982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3210" cy="698268"/>
            </a:xfrm>
            <a:custGeom>
              <a:avLst/>
              <a:gdLst/>
              <a:ahLst/>
              <a:cxnLst/>
              <a:rect r="r" b="b" t="t" l="l"/>
              <a:pathLst>
                <a:path h="698268" w="1283210">
                  <a:moveTo>
                    <a:pt x="15957" y="0"/>
                  </a:moveTo>
                  <a:lnTo>
                    <a:pt x="1267253" y="0"/>
                  </a:lnTo>
                  <a:cubicBezTo>
                    <a:pt x="1276066" y="0"/>
                    <a:pt x="1283210" y="7144"/>
                    <a:pt x="1283210" y="15957"/>
                  </a:cubicBezTo>
                  <a:lnTo>
                    <a:pt x="1283210" y="682311"/>
                  </a:lnTo>
                  <a:cubicBezTo>
                    <a:pt x="1283210" y="691124"/>
                    <a:pt x="1276066" y="698268"/>
                    <a:pt x="1267253" y="698268"/>
                  </a:cubicBezTo>
                  <a:lnTo>
                    <a:pt x="15957" y="698268"/>
                  </a:lnTo>
                  <a:cubicBezTo>
                    <a:pt x="11725" y="698268"/>
                    <a:pt x="7666" y="696587"/>
                    <a:pt x="4674" y="693594"/>
                  </a:cubicBezTo>
                  <a:cubicBezTo>
                    <a:pt x="1681" y="690602"/>
                    <a:pt x="0" y="686543"/>
                    <a:pt x="0" y="682311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710" r="0" b="-171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302655" y="2898323"/>
            <a:ext cx="7277574" cy="3960145"/>
            <a:chOff x="0" y="0"/>
            <a:chExt cx="1283210" cy="6982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83210" cy="698268"/>
            </a:xfrm>
            <a:custGeom>
              <a:avLst/>
              <a:gdLst/>
              <a:ahLst/>
              <a:cxnLst/>
              <a:rect r="r" b="b" t="t" l="l"/>
              <a:pathLst>
                <a:path h="698268" w="1283210">
                  <a:moveTo>
                    <a:pt x="15957" y="0"/>
                  </a:moveTo>
                  <a:lnTo>
                    <a:pt x="1267253" y="0"/>
                  </a:lnTo>
                  <a:cubicBezTo>
                    <a:pt x="1276066" y="0"/>
                    <a:pt x="1283210" y="7144"/>
                    <a:pt x="1283210" y="15957"/>
                  </a:cubicBezTo>
                  <a:lnTo>
                    <a:pt x="1283210" y="682311"/>
                  </a:lnTo>
                  <a:cubicBezTo>
                    <a:pt x="1283210" y="691124"/>
                    <a:pt x="1276066" y="698268"/>
                    <a:pt x="1267253" y="698268"/>
                  </a:cubicBezTo>
                  <a:lnTo>
                    <a:pt x="15957" y="698268"/>
                  </a:lnTo>
                  <a:cubicBezTo>
                    <a:pt x="11725" y="698268"/>
                    <a:pt x="7666" y="696587"/>
                    <a:pt x="4674" y="693594"/>
                  </a:cubicBezTo>
                  <a:cubicBezTo>
                    <a:pt x="1681" y="690602"/>
                    <a:pt x="0" y="686543"/>
                    <a:pt x="0" y="682311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blipFill>
              <a:blip r:embed="rId5"/>
              <a:stretch>
                <a:fillRect l="-21721" t="0" r="-22021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Claude Code CLI 설치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19354" y="7854436"/>
            <a:ext cx="6673459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터미널 열기 - </a:t>
            </a:r>
            <a:r>
              <a:rPr lang="en-US" b="true" sz="2000" spc="-40" strike="noStrike" u="none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Windows (PowerShell)</a:t>
            </a:r>
          </a:p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100" strike="noStrike" u="none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명령어 입력 : </a:t>
            </a:r>
            <a:r>
              <a:rPr lang="en-US" b="true" sz="2000" spc="100" strike="noStrike" u="none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irm https://claude.ai/install.ps1 | iex</a:t>
            </a:r>
          </a:p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설치 참고 : </a:t>
            </a:r>
            <a:r>
              <a:rPr lang="en-US" b="true" sz="2000" spc="-40" strike="noStrike" u="sng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  <a:hlinkClick r:id="rId6" tooltip="https://code.claude.com/docs/ko/quickstart"/>
              </a:rPr>
              <a:t>https://code.claude.com/docs/ko/quickstart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04712" y="7854436"/>
            <a:ext cx="6673459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명령창에 claude 입력 후, 브라우저 로그인</a:t>
            </a:r>
          </a:p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claude doctor 로 상태 점검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720283" y="7263141"/>
            <a:ext cx="3528064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2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설치 명령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05641" y="7263141"/>
            <a:ext cx="3528064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2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실행 · 확인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717296" y="2309864"/>
            <a:ext cx="7277574" cy="5271291"/>
            <a:chOff x="0" y="0"/>
            <a:chExt cx="1283210" cy="92945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3210" cy="929455"/>
            </a:xfrm>
            <a:custGeom>
              <a:avLst/>
              <a:gdLst/>
              <a:ahLst/>
              <a:cxnLst/>
              <a:rect r="r" b="b" t="t" l="l"/>
              <a:pathLst>
                <a:path h="929455" w="1283210">
                  <a:moveTo>
                    <a:pt x="15957" y="0"/>
                  </a:moveTo>
                  <a:lnTo>
                    <a:pt x="1267253" y="0"/>
                  </a:lnTo>
                  <a:cubicBezTo>
                    <a:pt x="1276066" y="0"/>
                    <a:pt x="1283210" y="7144"/>
                    <a:pt x="1283210" y="15957"/>
                  </a:cubicBezTo>
                  <a:lnTo>
                    <a:pt x="1283210" y="913497"/>
                  </a:lnTo>
                  <a:cubicBezTo>
                    <a:pt x="1283210" y="917730"/>
                    <a:pt x="1281529" y="921788"/>
                    <a:pt x="1278536" y="924781"/>
                  </a:cubicBezTo>
                  <a:cubicBezTo>
                    <a:pt x="1275544" y="927773"/>
                    <a:pt x="1271485" y="929455"/>
                    <a:pt x="1267253" y="929455"/>
                  </a:cubicBezTo>
                  <a:lnTo>
                    <a:pt x="15957" y="929455"/>
                  </a:lnTo>
                  <a:cubicBezTo>
                    <a:pt x="7144" y="929455"/>
                    <a:pt x="0" y="922310"/>
                    <a:pt x="0" y="913497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-19614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302655" y="2898323"/>
            <a:ext cx="7277574" cy="3960145"/>
            <a:chOff x="0" y="0"/>
            <a:chExt cx="1283210" cy="6982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83210" cy="698268"/>
            </a:xfrm>
            <a:custGeom>
              <a:avLst/>
              <a:gdLst/>
              <a:ahLst/>
              <a:cxnLst/>
              <a:rect r="r" b="b" t="t" l="l"/>
              <a:pathLst>
                <a:path h="698268" w="1283210">
                  <a:moveTo>
                    <a:pt x="15957" y="0"/>
                  </a:moveTo>
                  <a:lnTo>
                    <a:pt x="1267253" y="0"/>
                  </a:lnTo>
                  <a:cubicBezTo>
                    <a:pt x="1276066" y="0"/>
                    <a:pt x="1283210" y="7144"/>
                    <a:pt x="1283210" y="15957"/>
                  </a:cubicBezTo>
                  <a:lnTo>
                    <a:pt x="1283210" y="682311"/>
                  </a:lnTo>
                  <a:cubicBezTo>
                    <a:pt x="1283210" y="691124"/>
                    <a:pt x="1276066" y="698268"/>
                    <a:pt x="1267253" y="698268"/>
                  </a:cubicBezTo>
                  <a:lnTo>
                    <a:pt x="15957" y="698268"/>
                  </a:lnTo>
                  <a:cubicBezTo>
                    <a:pt x="11725" y="698268"/>
                    <a:pt x="7666" y="696587"/>
                    <a:pt x="4674" y="693594"/>
                  </a:cubicBezTo>
                  <a:cubicBezTo>
                    <a:pt x="1681" y="690602"/>
                    <a:pt x="0" y="686543"/>
                    <a:pt x="0" y="682311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blipFill>
              <a:blip r:embed="rId5"/>
              <a:stretch>
                <a:fillRect l="-3435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ChatGPT 앱 설치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19354" y="8496300"/>
            <a:ext cx="6673459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chatgpt.com/download 접속</a:t>
            </a:r>
          </a:p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운영체제 선택 후 설치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04712" y="7854436"/>
            <a:ext cx="6673459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앱 실행 후 ChatGPT 계정 로그인</a:t>
            </a:r>
          </a:p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④ Plus 구독 상태 확인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720283" y="7905005"/>
            <a:ext cx="3528064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2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다운로드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05641" y="7263141"/>
            <a:ext cx="3528064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2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로그인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717296" y="2898323"/>
            <a:ext cx="7277574" cy="3960145"/>
            <a:chOff x="0" y="0"/>
            <a:chExt cx="1283210" cy="6982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3210" cy="698268"/>
            </a:xfrm>
            <a:custGeom>
              <a:avLst/>
              <a:gdLst/>
              <a:ahLst/>
              <a:cxnLst/>
              <a:rect r="r" b="b" t="t" l="l"/>
              <a:pathLst>
                <a:path h="698268" w="1283210">
                  <a:moveTo>
                    <a:pt x="15957" y="0"/>
                  </a:moveTo>
                  <a:lnTo>
                    <a:pt x="1267253" y="0"/>
                  </a:lnTo>
                  <a:cubicBezTo>
                    <a:pt x="1276066" y="0"/>
                    <a:pt x="1283210" y="7144"/>
                    <a:pt x="1283210" y="15957"/>
                  </a:cubicBezTo>
                  <a:lnTo>
                    <a:pt x="1283210" y="682311"/>
                  </a:lnTo>
                  <a:cubicBezTo>
                    <a:pt x="1283210" y="691124"/>
                    <a:pt x="1276066" y="698268"/>
                    <a:pt x="1267253" y="698268"/>
                  </a:cubicBezTo>
                  <a:lnTo>
                    <a:pt x="15957" y="698268"/>
                  </a:lnTo>
                  <a:cubicBezTo>
                    <a:pt x="11725" y="698268"/>
                    <a:pt x="7666" y="696587"/>
                    <a:pt x="4674" y="693594"/>
                  </a:cubicBezTo>
                  <a:cubicBezTo>
                    <a:pt x="1681" y="690602"/>
                    <a:pt x="0" y="686543"/>
                    <a:pt x="0" y="682311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824" r="0" b="-1824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302655" y="2898323"/>
            <a:ext cx="7277574" cy="3960145"/>
            <a:chOff x="0" y="0"/>
            <a:chExt cx="1283210" cy="6982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83210" cy="698268"/>
            </a:xfrm>
            <a:custGeom>
              <a:avLst/>
              <a:gdLst/>
              <a:ahLst/>
              <a:cxnLst/>
              <a:rect r="r" b="b" t="t" l="l"/>
              <a:pathLst>
                <a:path h="698268" w="1283210">
                  <a:moveTo>
                    <a:pt x="15957" y="0"/>
                  </a:moveTo>
                  <a:lnTo>
                    <a:pt x="1267253" y="0"/>
                  </a:lnTo>
                  <a:cubicBezTo>
                    <a:pt x="1276066" y="0"/>
                    <a:pt x="1283210" y="7144"/>
                    <a:pt x="1283210" y="15957"/>
                  </a:cubicBezTo>
                  <a:lnTo>
                    <a:pt x="1283210" y="682311"/>
                  </a:lnTo>
                  <a:cubicBezTo>
                    <a:pt x="1283210" y="691124"/>
                    <a:pt x="1276066" y="698268"/>
                    <a:pt x="1267253" y="698268"/>
                  </a:cubicBezTo>
                  <a:lnTo>
                    <a:pt x="15957" y="698268"/>
                  </a:lnTo>
                  <a:cubicBezTo>
                    <a:pt x="11725" y="698268"/>
                    <a:pt x="7666" y="696587"/>
                    <a:pt x="4674" y="693594"/>
                  </a:cubicBezTo>
                  <a:cubicBezTo>
                    <a:pt x="1681" y="690602"/>
                    <a:pt x="0" y="686543"/>
                    <a:pt x="0" y="682311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338" r="0" b="-338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Codex CLI 설치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19354" y="7854436"/>
            <a:ext cx="6673459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npm install -g @openai/codex</a:t>
            </a:r>
          </a:p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패키지명 주의: codex는 다른 프로젝트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04712" y="7854436"/>
            <a:ext cx="6673459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codex 입력 → Sign in with ChatGPT</a:t>
            </a:r>
          </a:p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codex --version 으로 확인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720283" y="7263141"/>
            <a:ext cx="3528064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2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설치 명령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05641" y="7263141"/>
            <a:ext cx="3528064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2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실행 · 확인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설치 완료 체크리스트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3182207" y="3790471"/>
          <a:ext cx="11923585" cy="3917157"/>
        </p:xfrm>
        <a:graphic>
          <a:graphicData uri="http://schemas.openxmlformats.org/drawingml/2006/table">
            <a:tbl>
              <a:tblPr/>
              <a:tblGrid>
                <a:gridCol w="3495557"/>
                <a:gridCol w="1398541"/>
                <a:gridCol w="7029487"/>
              </a:tblGrid>
              <a:tr h="899920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00" strike="noStrike" u="non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확인 항목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00" strike="noStrike" u="non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구분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00" strike="noStrike" u="non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확인 방법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</a:tr>
              <a:tr h="75430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Git · Node.js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필수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strike="noStrike" u="non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☐  git --version · node --version 을 실행해 버전이 나오는지 확인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0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Antigravity 2.0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필수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strike="noStrike" u="non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☐  프로젝트를 열고 채팅창에서 답변이 나오는지 확인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0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Antigravity IDE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필수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strike="noStrike" u="non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☐  검은색 격자 아이콘 앱을 실행해 프로젝트 폴더를 열기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0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Claude · Codex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5170FF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선택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strike="noStrike" u="non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☐  claude doctor · codex --version 으로 설치 상태 점검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8" id="18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자주 겪는 문제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>
            <a:off x="6024486" y="2898323"/>
            <a:ext cx="0" cy="1053640"/>
          </a:xfrm>
          <a:prstGeom prst="line">
            <a:avLst/>
          </a:prstGeom>
          <a:ln cap="flat" w="9525">
            <a:solidFill>
              <a:srgbClr val="50535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3048547" y="3118668"/>
            <a:ext cx="2632522" cy="48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6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대부분의 원인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983625" y="3078692"/>
            <a:ext cx="840475" cy="714403"/>
          </a:xfrm>
          <a:custGeom>
            <a:avLst/>
            <a:gdLst/>
            <a:ahLst/>
            <a:cxnLst/>
            <a:rect r="r" b="b" t="t" l="l"/>
            <a:pathLst>
              <a:path h="714403" w="840475">
                <a:moveTo>
                  <a:pt x="0" y="0"/>
                </a:moveTo>
                <a:lnTo>
                  <a:pt x="840474" y="0"/>
                </a:lnTo>
                <a:lnTo>
                  <a:pt x="840474" y="714404"/>
                </a:lnTo>
                <a:lnTo>
                  <a:pt x="0" y="7144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506746" y="2933210"/>
            <a:ext cx="9816540" cy="90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설치는 끝났지만 터미널이 실행 파일의 위치를 아직 모르거나, 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다른 셸에서 명령을 실행한 경우에요. 아래 세 가지만 확인하면 대부분 해결됩니다!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705928" y="4639191"/>
            <a:ext cx="4832311" cy="3960188"/>
            <a:chOff x="0" y="0"/>
            <a:chExt cx="1272707" cy="104301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72707" cy="1043012"/>
            </a:xfrm>
            <a:custGeom>
              <a:avLst/>
              <a:gdLst/>
              <a:ahLst/>
              <a:cxnLst/>
              <a:rect r="r" b="b" t="t" l="l"/>
              <a:pathLst>
                <a:path h="1043012" w="1272707">
                  <a:moveTo>
                    <a:pt x="24032" y="0"/>
                  </a:moveTo>
                  <a:lnTo>
                    <a:pt x="1248676" y="0"/>
                  </a:lnTo>
                  <a:cubicBezTo>
                    <a:pt x="1261948" y="0"/>
                    <a:pt x="1272707" y="10759"/>
                    <a:pt x="1272707" y="24032"/>
                  </a:cubicBezTo>
                  <a:lnTo>
                    <a:pt x="1272707" y="1018981"/>
                  </a:lnTo>
                  <a:cubicBezTo>
                    <a:pt x="1272707" y="1032253"/>
                    <a:pt x="1261948" y="1043012"/>
                    <a:pt x="1248676" y="1043012"/>
                  </a:cubicBezTo>
                  <a:lnTo>
                    <a:pt x="24032" y="1043012"/>
                  </a:lnTo>
                  <a:cubicBezTo>
                    <a:pt x="17658" y="1043012"/>
                    <a:pt x="11546" y="1040481"/>
                    <a:pt x="7039" y="1035974"/>
                  </a:cubicBezTo>
                  <a:cubicBezTo>
                    <a:pt x="2532" y="1031467"/>
                    <a:pt x="0" y="1025354"/>
                    <a:pt x="0" y="1018981"/>
                  </a:cubicBezTo>
                  <a:lnTo>
                    <a:pt x="0" y="24032"/>
                  </a:lnTo>
                  <a:cubicBezTo>
                    <a:pt x="0" y="10759"/>
                    <a:pt x="10759" y="0"/>
                    <a:pt x="24032" y="0"/>
                  </a:cubicBezTo>
                  <a:close/>
                </a:path>
              </a:pathLst>
            </a:custGeom>
            <a:solidFill>
              <a:srgbClr val="747EA3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1272707" cy="10715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726923" y="4639191"/>
            <a:ext cx="4832311" cy="3960188"/>
            <a:chOff x="0" y="0"/>
            <a:chExt cx="1272707" cy="104301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72707" cy="1043012"/>
            </a:xfrm>
            <a:custGeom>
              <a:avLst/>
              <a:gdLst/>
              <a:ahLst/>
              <a:cxnLst/>
              <a:rect r="r" b="b" t="t" l="l"/>
              <a:pathLst>
                <a:path h="1043012" w="1272707">
                  <a:moveTo>
                    <a:pt x="24032" y="0"/>
                  </a:moveTo>
                  <a:lnTo>
                    <a:pt x="1248676" y="0"/>
                  </a:lnTo>
                  <a:cubicBezTo>
                    <a:pt x="1261948" y="0"/>
                    <a:pt x="1272707" y="10759"/>
                    <a:pt x="1272707" y="24032"/>
                  </a:cubicBezTo>
                  <a:lnTo>
                    <a:pt x="1272707" y="1018981"/>
                  </a:lnTo>
                  <a:cubicBezTo>
                    <a:pt x="1272707" y="1032253"/>
                    <a:pt x="1261948" y="1043012"/>
                    <a:pt x="1248676" y="1043012"/>
                  </a:cubicBezTo>
                  <a:lnTo>
                    <a:pt x="24032" y="1043012"/>
                  </a:lnTo>
                  <a:cubicBezTo>
                    <a:pt x="17658" y="1043012"/>
                    <a:pt x="11546" y="1040481"/>
                    <a:pt x="7039" y="1035974"/>
                  </a:cubicBezTo>
                  <a:cubicBezTo>
                    <a:pt x="2532" y="1031467"/>
                    <a:pt x="0" y="1025354"/>
                    <a:pt x="0" y="1018981"/>
                  </a:cubicBezTo>
                  <a:lnTo>
                    <a:pt x="0" y="24032"/>
                  </a:lnTo>
                  <a:cubicBezTo>
                    <a:pt x="0" y="10759"/>
                    <a:pt x="10759" y="0"/>
                    <a:pt x="24032" y="0"/>
                  </a:cubicBezTo>
                  <a:close/>
                </a:path>
              </a:pathLst>
            </a:custGeom>
            <a:solidFill>
              <a:srgbClr val="747EA3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1272707" cy="10715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747917" y="4639191"/>
            <a:ext cx="4832311" cy="3960188"/>
            <a:chOff x="0" y="0"/>
            <a:chExt cx="1272707" cy="104301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72707" cy="1043012"/>
            </a:xfrm>
            <a:custGeom>
              <a:avLst/>
              <a:gdLst/>
              <a:ahLst/>
              <a:cxnLst/>
              <a:rect r="r" b="b" t="t" l="l"/>
              <a:pathLst>
                <a:path h="1043012" w="1272707">
                  <a:moveTo>
                    <a:pt x="24032" y="0"/>
                  </a:moveTo>
                  <a:lnTo>
                    <a:pt x="1248676" y="0"/>
                  </a:lnTo>
                  <a:cubicBezTo>
                    <a:pt x="1261948" y="0"/>
                    <a:pt x="1272707" y="10759"/>
                    <a:pt x="1272707" y="24032"/>
                  </a:cubicBezTo>
                  <a:lnTo>
                    <a:pt x="1272707" y="1018981"/>
                  </a:lnTo>
                  <a:cubicBezTo>
                    <a:pt x="1272707" y="1032253"/>
                    <a:pt x="1261948" y="1043012"/>
                    <a:pt x="1248676" y="1043012"/>
                  </a:cubicBezTo>
                  <a:lnTo>
                    <a:pt x="24032" y="1043012"/>
                  </a:lnTo>
                  <a:cubicBezTo>
                    <a:pt x="17658" y="1043012"/>
                    <a:pt x="11546" y="1040481"/>
                    <a:pt x="7039" y="1035974"/>
                  </a:cubicBezTo>
                  <a:cubicBezTo>
                    <a:pt x="2532" y="1031467"/>
                    <a:pt x="0" y="1025354"/>
                    <a:pt x="0" y="1018981"/>
                  </a:cubicBezTo>
                  <a:lnTo>
                    <a:pt x="0" y="24032"/>
                  </a:lnTo>
                  <a:cubicBezTo>
                    <a:pt x="0" y="10759"/>
                    <a:pt x="10759" y="0"/>
                    <a:pt x="24032" y="0"/>
                  </a:cubicBezTo>
                  <a:close/>
                </a:path>
              </a:pathLst>
            </a:custGeom>
            <a:solidFill>
              <a:srgbClr val="747EA3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272707" cy="10715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2212939" y="6825195"/>
            <a:ext cx="3811547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터미널을 모두 닫고 새로 엽니다.</a:t>
            </a:r>
          </a:p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그래도 안 되면 재부팅합니다.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233350" y="6825195"/>
            <a:ext cx="3819457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PS 로 시작하면 </a:t>
            </a:r>
            <a:r>
              <a:rPr lang="en-US" b="true" sz="2000" spc="-40" strike="noStrike" u="none">
                <a:solidFill>
                  <a:srgbClr val="000000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PowerShell</a:t>
            </a:r>
            <a:r>
              <a:rPr lang="en-US" b="true" sz="2000" spc="-40" strike="noStrike" u="none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입니다.</a:t>
            </a:r>
          </a:p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000000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Windows 키 + S</a:t>
            </a:r>
            <a:r>
              <a:rPr lang="en-US" b="true" sz="2000" spc="-40" strike="noStrike" u="none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로 실행합니다.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250849" y="6825195"/>
            <a:ext cx="376792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000000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흰색 로고</a:t>
            </a:r>
            <a:r>
              <a:rPr lang="en-US" b="true" sz="2000" spc="-40" strike="noStrike" u="none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는 2.0, </a:t>
            </a:r>
            <a:r>
              <a:rPr lang="en-US" b="true" sz="2000" spc="-40" strike="noStrike" u="none">
                <a:solidFill>
                  <a:srgbClr val="000000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검은색</a:t>
            </a:r>
            <a:r>
              <a:rPr lang="en-US" b="true" sz="2000" spc="-40" strike="noStrike" u="none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은 IDE입니다.</a:t>
            </a:r>
          </a:p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코드를 보려면 IDE를 실행합니다.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815302" y="5598734"/>
            <a:ext cx="4606821" cy="54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07"/>
              </a:lnSpc>
              <a:spcBef>
                <a:spcPct val="0"/>
              </a:spcBef>
            </a:pPr>
            <a:r>
              <a:rPr lang="en-US" b="true" sz="2799" spc="-97" strike="noStrike" u="none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command not found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839668" y="5598734"/>
            <a:ext cx="4606821" cy="54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07"/>
              </a:lnSpc>
              <a:spcBef>
                <a:spcPct val="0"/>
              </a:spcBef>
            </a:pPr>
            <a:r>
              <a:rPr lang="en-US" b="true" sz="2799" spc="-97" strike="noStrike" u="none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명령어 인식 불가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864034" y="5598734"/>
            <a:ext cx="4606821" cy="54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07"/>
              </a:lnSpc>
              <a:spcBef>
                <a:spcPct val="0"/>
              </a:spcBef>
            </a:pPr>
            <a:r>
              <a:rPr lang="en-US" b="true" sz="2799" spc="-97" strike="noStrike" u="none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두 앱 혼동</a:t>
            </a:r>
          </a:p>
        </p:txBody>
      </p:sp>
      <p:sp>
        <p:nvSpPr>
          <p:cNvPr name="AutoShape 36" id="36"/>
          <p:cNvSpPr/>
          <p:nvPr/>
        </p:nvSpPr>
        <p:spPr>
          <a:xfrm>
            <a:off x="2037627" y="6457826"/>
            <a:ext cx="4162171" cy="0"/>
          </a:xfrm>
          <a:prstGeom prst="line">
            <a:avLst/>
          </a:prstGeom>
          <a:ln cap="rnd" w="9525">
            <a:solidFill>
              <a:srgbClr val="FEFE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7061993" y="6457826"/>
            <a:ext cx="4162171" cy="0"/>
          </a:xfrm>
          <a:prstGeom prst="line">
            <a:avLst/>
          </a:prstGeom>
          <a:ln cap="rnd" w="9525">
            <a:solidFill>
              <a:srgbClr val="FEFE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12086359" y="6457826"/>
            <a:ext cx="4162171" cy="0"/>
          </a:xfrm>
          <a:prstGeom prst="line">
            <a:avLst/>
          </a:prstGeom>
          <a:ln cap="rnd" w="9525">
            <a:solidFill>
              <a:srgbClr val="FEFE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2893526" y="5218788"/>
            <a:ext cx="2483896" cy="189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27"/>
              </a:lnSpc>
              <a:spcBef>
                <a:spcPct val="0"/>
              </a:spcBef>
            </a:pPr>
            <a:r>
              <a:rPr lang="en-US" b="true" sz="1599" spc="95" strike="noStrike" u="none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문제 01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947534" y="5218788"/>
            <a:ext cx="2483896" cy="189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27"/>
              </a:lnSpc>
              <a:spcBef>
                <a:spcPct val="0"/>
              </a:spcBef>
            </a:pPr>
            <a:r>
              <a:rPr lang="en-US" b="true" sz="1599" spc="95" strike="noStrike" u="none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문제 02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939267" y="5218788"/>
            <a:ext cx="2483896" cy="189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27"/>
              </a:lnSpc>
              <a:spcBef>
                <a:spcPct val="0"/>
              </a:spcBef>
            </a:pPr>
            <a:r>
              <a:rPr lang="en-US" b="true" sz="1599" spc="95" strike="noStrike" u="none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문제 03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3173163" y="5212756"/>
            <a:ext cx="180073" cy="137305"/>
          </a:xfrm>
          <a:custGeom>
            <a:avLst/>
            <a:gdLst/>
            <a:ahLst/>
            <a:cxnLst/>
            <a:rect r="r" b="b" t="t" l="l"/>
            <a:pathLst>
              <a:path h="137305" w="180073">
                <a:moveTo>
                  <a:pt x="0" y="0"/>
                </a:moveTo>
                <a:lnTo>
                  <a:pt x="180073" y="0"/>
                </a:lnTo>
                <a:lnTo>
                  <a:pt x="180073" y="137305"/>
                </a:lnTo>
                <a:lnTo>
                  <a:pt x="0" y="1373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8233976" y="5212756"/>
            <a:ext cx="180073" cy="137305"/>
          </a:xfrm>
          <a:custGeom>
            <a:avLst/>
            <a:gdLst/>
            <a:ahLst/>
            <a:cxnLst/>
            <a:rect r="r" b="b" t="t" l="l"/>
            <a:pathLst>
              <a:path h="137305" w="180073">
                <a:moveTo>
                  <a:pt x="0" y="0"/>
                </a:moveTo>
                <a:lnTo>
                  <a:pt x="180073" y="0"/>
                </a:lnTo>
                <a:lnTo>
                  <a:pt x="180073" y="137305"/>
                </a:lnTo>
                <a:lnTo>
                  <a:pt x="0" y="1373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3207771" y="5212756"/>
            <a:ext cx="180073" cy="137305"/>
          </a:xfrm>
          <a:custGeom>
            <a:avLst/>
            <a:gdLst/>
            <a:ahLst/>
            <a:cxnLst/>
            <a:rect r="r" b="b" t="t" l="l"/>
            <a:pathLst>
              <a:path h="137305" w="180073">
                <a:moveTo>
                  <a:pt x="0" y="0"/>
                </a:moveTo>
                <a:lnTo>
                  <a:pt x="180072" y="0"/>
                </a:lnTo>
                <a:lnTo>
                  <a:pt x="180072" y="137305"/>
                </a:lnTo>
                <a:lnTo>
                  <a:pt x="0" y="1373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</a:pPr>
            <a:r>
              <a:rPr lang="en-US" b="true" sz="5000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질문과 답변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32477" y="5792019"/>
            <a:ext cx="11423046" cy="717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23"/>
              </a:lnSpc>
              <a:spcBef>
                <a:spcPct val="0"/>
              </a:spcBef>
            </a:pPr>
            <a:r>
              <a:rPr lang="en-US" b="true" sz="4800" spc="-144" strike="noStrike" u="none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설치 중 막히는 부분이 있으신가요?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32477" y="6590517"/>
            <a:ext cx="11423046" cy="717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23"/>
              </a:lnSpc>
              <a:spcBef>
                <a:spcPct val="0"/>
              </a:spcBef>
            </a:pPr>
            <a:r>
              <a:rPr lang="en-US" b="true" sz="4800" spc="-144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단톡방에 남겨 주세요.</a:t>
            </a:r>
          </a:p>
        </p:txBody>
      </p:sp>
      <p:sp>
        <p:nvSpPr>
          <p:cNvPr name="Freeform 19" id="19"/>
          <p:cNvSpPr/>
          <p:nvPr/>
        </p:nvSpPr>
        <p:spPr>
          <a:xfrm flipH="true" flipV="false" rot="0">
            <a:off x="7153634" y="3343132"/>
            <a:ext cx="2003592" cy="1570315"/>
          </a:xfrm>
          <a:custGeom>
            <a:avLst/>
            <a:gdLst/>
            <a:ahLst/>
            <a:cxnLst/>
            <a:rect r="r" b="b" t="t" l="l"/>
            <a:pathLst>
              <a:path h="1570315" w="2003592">
                <a:moveTo>
                  <a:pt x="2003593" y="0"/>
                </a:moveTo>
                <a:lnTo>
                  <a:pt x="0" y="0"/>
                </a:lnTo>
                <a:lnTo>
                  <a:pt x="0" y="1570316"/>
                </a:lnTo>
                <a:lnTo>
                  <a:pt x="2003593" y="1570316"/>
                </a:lnTo>
                <a:lnTo>
                  <a:pt x="200359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133758" y="3914364"/>
            <a:ext cx="2003592" cy="1570315"/>
          </a:xfrm>
          <a:custGeom>
            <a:avLst/>
            <a:gdLst/>
            <a:ahLst/>
            <a:cxnLst/>
            <a:rect r="r" b="b" t="t" l="l"/>
            <a:pathLst>
              <a:path h="1570315" w="2003592">
                <a:moveTo>
                  <a:pt x="0" y="0"/>
                </a:moveTo>
                <a:lnTo>
                  <a:pt x="2003592" y="0"/>
                </a:lnTo>
                <a:lnTo>
                  <a:pt x="2003592" y="1570315"/>
                </a:lnTo>
                <a:lnTo>
                  <a:pt x="0" y="15703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291556" y="3386575"/>
            <a:ext cx="1727750" cy="1143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41"/>
              </a:lnSpc>
            </a:pPr>
            <a:r>
              <a:rPr lang="en-US" b="true" sz="6701" spc="-341">
                <a:solidFill>
                  <a:srgbClr val="FDFDFB"/>
                </a:solidFill>
                <a:latin typeface="DIN Next Bold"/>
                <a:ea typeface="DIN Next Bold"/>
                <a:cs typeface="DIN Next Bold"/>
                <a:sym typeface="DIN Next Bold"/>
              </a:rPr>
              <a:t>Q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71679" y="3957807"/>
            <a:ext cx="1727750" cy="1143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41"/>
              </a:lnSpc>
            </a:pPr>
            <a:r>
              <a:rPr lang="en-US" b="true" sz="6701" spc="-341">
                <a:solidFill>
                  <a:srgbClr val="FDFDFB"/>
                </a:solidFill>
                <a:latin typeface="DIN Next Bold"/>
                <a:ea typeface="DIN Next Bold"/>
                <a:cs typeface="DIN Next Bold"/>
                <a:sym typeface="DIN Next Bold"/>
              </a:rPr>
              <a:t>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08845" y="7574259"/>
            <a:ext cx="7496762" cy="574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85"/>
              </a:lnSpc>
              <a:spcBef>
                <a:spcPct val="0"/>
              </a:spcBef>
            </a:pPr>
            <a:r>
              <a:rPr lang="en-US" b="true" sz="1799" spc="30" strike="noStrike" u="none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설치가 어려우면 Antigravity 2.0과 IDE만 먼저 끝내 주세요.</a:t>
            </a:r>
          </a:p>
          <a:p>
            <a:pPr algn="ctr" marL="0" indent="0" lvl="0">
              <a:lnSpc>
                <a:spcPts val="2285"/>
              </a:lnSpc>
              <a:spcBef>
                <a:spcPct val="0"/>
              </a:spcBef>
            </a:pPr>
            <a:r>
              <a:rPr lang="en-US" b="true" sz="1799" spc="30" strike="noStrike" u="none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나머지 도구는 1차시 수업에서 함께 살펴봅시다!!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566049"/>
            <a:ext cx="17218292" cy="9186097"/>
            <a:chOff x="0" y="0"/>
            <a:chExt cx="22957723" cy="1224812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835531"/>
              <a:ext cx="22957723" cy="11412598"/>
              <a:chOff x="0" y="0"/>
              <a:chExt cx="4777465" cy="237494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374943"/>
              </a:xfrm>
              <a:custGeom>
                <a:avLst/>
                <a:gdLst/>
                <a:ahLst/>
                <a:cxnLst/>
                <a:rect r="r" b="b" t="t" l="l"/>
                <a:pathLst>
                  <a:path h="2374943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352012"/>
                    </a:lnTo>
                    <a:cubicBezTo>
                      <a:pt x="4777465" y="2358094"/>
                      <a:pt x="4775049" y="2363926"/>
                      <a:pt x="4770749" y="2368227"/>
                    </a:cubicBezTo>
                    <a:cubicBezTo>
                      <a:pt x="4766449" y="2372527"/>
                      <a:pt x="4760616" y="2374943"/>
                      <a:pt x="4754534" y="2374943"/>
                    </a:cubicBezTo>
                    <a:lnTo>
                      <a:pt x="22931" y="2374943"/>
                    </a:lnTo>
                    <a:cubicBezTo>
                      <a:pt x="10267" y="2374943"/>
                      <a:pt x="0" y="2364677"/>
                      <a:pt x="0" y="2352012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413043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4517287" y="0"/>
              <a:ext cx="18440436" cy="3397582"/>
              <a:chOff x="0" y="0"/>
              <a:chExt cx="3837425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837425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3837425">
                    <a:moveTo>
                      <a:pt x="28549" y="0"/>
                    </a:moveTo>
                    <a:lnTo>
                      <a:pt x="3808877" y="0"/>
                    </a:lnTo>
                    <a:cubicBezTo>
                      <a:pt x="3824644" y="0"/>
                      <a:pt x="3837425" y="12782"/>
                      <a:pt x="3837425" y="28549"/>
                    </a:cubicBezTo>
                    <a:lnTo>
                      <a:pt x="3837425" y="678483"/>
                    </a:lnTo>
                    <a:cubicBezTo>
                      <a:pt x="3837425" y="686054"/>
                      <a:pt x="3834418" y="693316"/>
                      <a:pt x="3829064" y="698670"/>
                    </a:cubicBezTo>
                    <a:cubicBezTo>
                      <a:pt x="3823710" y="704024"/>
                      <a:pt x="3816448" y="707031"/>
                      <a:pt x="3808877" y="707031"/>
                    </a:cubicBezTo>
                    <a:lnTo>
                      <a:pt x="28549" y="707031"/>
                    </a:lnTo>
                    <a:cubicBezTo>
                      <a:pt x="12782" y="707031"/>
                      <a:pt x="0" y="694250"/>
                      <a:pt x="0" y="678483"/>
                    </a:cubicBezTo>
                    <a:lnTo>
                      <a:pt x="0" y="28549"/>
                    </a:lnTo>
                    <a:cubicBezTo>
                      <a:pt x="0" y="20977"/>
                      <a:pt x="3008" y="13716"/>
                      <a:pt x="8362" y="8362"/>
                    </a:cubicBezTo>
                    <a:cubicBezTo>
                      <a:pt x="13716" y="3008"/>
                      <a:pt x="20977" y="0"/>
                      <a:pt x="28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3837425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081187" y="442770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2091821" y="-102735"/>
            <a:ext cx="1878623" cy="1295432"/>
            <a:chOff x="0" y="0"/>
            <a:chExt cx="521251" cy="3594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1251" cy="359436"/>
            </a:xfrm>
            <a:custGeom>
              <a:avLst/>
              <a:gdLst/>
              <a:ahLst/>
              <a:cxnLst/>
              <a:rect r="r" b="b" t="t" l="l"/>
              <a:pathLst>
                <a:path h="359436" w="521251">
                  <a:moveTo>
                    <a:pt x="179718" y="0"/>
                  </a:moveTo>
                  <a:lnTo>
                    <a:pt x="341533" y="0"/>
                  </a:lnTo>
                  <a:cubicBezTo>
                    <a:pt x="440789" y="0"/>
                    <a:pt x="521251" y="80463"/>
                    <a:pt x="521251" y="179718"/>
                  </a:cubicBezTo>
                  <a:lnTo>
                    <a:pt x="521251" y="179718"/>
                  </a:lnTo>
                  <a:cubicBezTo>
                    <a:pt x="521251" y="227382"/>
                    <a:pt x="502317" y="273094"/>
                    <a:pt x="468613" y="306798"/>
                  </a:cubicBezTo>
                  <a:cubicBezTo>
                    <a:pt x="434909" y="340502"/>
                    <a:pt x="389197" y="359436"/>
                    <a:pt x="341533" y="359436"/>
                  </a:cubicBezTo>
                  <a:lnTo>
                    <a:pt x="179718" y="359436"/>
                  </a:lnTo>
                  <a:cubicBezTo>
                    <a:pt x="132054" y="359436"/>
                    <a:pt x="86342" y="340502"/>
                    <a:pt x="52638" y="306798"/>
                  </a:cubicBezTo>
                  <a:cubicBezTo>
                    <a:pt x="18935" y="273094"/>
                    <a:pt x="0" y="227382"/>
                    <a:pt x="0" y="179718"/>
                  </a:cubicBezTo>
                  <a:lnTo>
                    <a:pt x="0" y="179718"/>
                  </a:lnTo>
                  <a:cubicBezTo>
                    <a:pt x="0" y="132054"/>
                    <a:pt x="18935" y="86342"/>
                    <a:pt x="52638" y="52638"/>
                  </a:cubicBezTo>
                  <a:cubicBezTo>
                    <a:pt x="86342" y="18935"/>
                    <a:pt x="132054" y="0"/>
                    <a:pt x="179718" y="0"/>
                  </a:cubicBezTo>
                  <a:close/>
                </a:path>
              </a:pathLst>
            </a:custGeom>
            <a:solidFill>
              <a:srgbClr val="5170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21251" cy="397536"/>
            </a:xfrm>
            <a:prstGeom prst="rect">
              <a:avLst/>
            </a:prstGeom>
          </p:spPr>
          <p:txBody>
            <a:bodyPr anchor="ctr" rtlCol="false" tIns="48220" lIns="48220" bIns="48220" rIns="48220"/>
            <a:lstStyle/>
            <a:p>
              <a:pPr algn="ctr" marL="0" indent="0" lvl="0">
                <a:lnSpc>
                  <a:spcPts val="1853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1853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185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5400000">
            <a:off x="16995628" y="862350"/>
            <a:ext cx="82863" cy="368281"/>
          </a:xfrm>
          <a:custGeom>
            <a:avLst/>
            <a:gdLst/>
            <a:ahLst/>
            <a:cxnLst/>
            <a:rect r="r" b="b" t="t" l="l"/>
            <a:pathLst>
              <a:path h="368281" w="82863">
                <a:moveTo>
                  <a:pt x="0" y="0"/>
                </a:moveTo>
                <a:lnTo>
                  <a:pt x="82863" y="0"/>
                </a:lnTo>
                <a:lnTo>
                  <a:pt x="82863" y="368281"/>
                </a:lnTo>
                <a:lnTo>
                  <a:pt x="0" y="368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3540110" y="6593084"/>
            <a:ext cx="3312808" cy="2401786"/>
          </a:xfrm>
          <a:custGeom>
            <a:avLst/>
            <a:gdLst/>
            <a:ahLst/>
            <a:cxnLst/>
            <a:rect r="r" b="b" t="t" l="l"/>
            <a:pathLst>
              <a:path h="2401786" w="3312808">
                <a:moveTo>
                  <a:pt x="0" y="0"/>
                </a:moveTo>
                <a:lnTo>
                  <a:pt x="3312809" y="0"/>
                </a:lnTo>
                <a:lnTo>
                  <a:pt x="3312809" y="2401786"/>
                </a:lnTo>
                <a:lnTo>
                  <a:pt x="0" y="2401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377195" y="3066368"/>
            <a:ext cx="14882105" cy="1553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93"/>
              </a:lnSpc>
            </a:pPr>
            <a:r>
              <a:rPr lang="en-US" b="true" sz="9601">
                <a:solidFill>
                  <a:srgbClr val="000000"/>
                </a:solidFill>
                <a:latin typeface="프리젠테이션 Ultra-Bold"/>
                <a:ea typeface="프리젠테이션 Ultra-Bold"/>
                <a:cs typeface="프리젠테이션 Ultra-Bold"/>
                <a:sym typeface="프리젠테이션 Ultra-Bold"/>
              </a:rPr>
              <a:t>THANK YOU!!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77195" y="5160276"/>
            <a:ext cx="10520872" cy="38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1999" spc="-19" strike="noStrike" u="none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설치 중 막히면 단톡방에 남겨 주세요. 1차시에 함께 해결합니다.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77195" y="4572020"/>
            <a:ext cx="7287980" cy="59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15"/>
              </a:lnSpc>
              <a:spcBef>
                <a:spcPct val="0"/>
              </a:spcBef>
            </a:pPr>
            <a:r>
              <a:rPr lang="en-US" b="true" sz="3599" spc="-147" strike="noStrike" u="none">
                <a:solidFill>
                  <a:srgbClr val="5170FF">
                    <a:alpha val="93725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1차시에 만나요~!</a:t>
            </a:r>
          </a:p>
        </p:txBody>
      </p:sp>
      <p:sp>
        <p:nvSpPr>
          <p:cNvPr name="AutoShape 20" id="20"/>
          <p:cNvSpPr/>
          <p:nvPr/>
        </p:nvSpPr>
        <p:spPr>
          <a:xfrm flipH="true" flipV="true">
            <a:off x="4803882" y="6372794"/>
            <a:ext cx="0" cy="212812"/>
          </a:xfrm>
          <a:prstGeom prst="line">
            <a:avLst/>
          </a:prstGeom>
          <a:ln cap="flat" w="9525">
            <a:solidFill>
              <a:srgbClr val="222222">
                <a:alpha val="2274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2377195" y="6327216"/>
            <a:ext cx="2421924" cy="334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619"/>
              </a:lnSpc>
              <a:spcBef>
                <a:spcPct val="0"/>
              </a:spcBef>
            </a:pPr>
            <a:r>
              <a:rPr lang="en-US" b="true" sz="1999" spc="-79" strike="noStrike" u="none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교육운영진 </a:t>
            </a:r>
            <a:r>
              <a:rPr lang="en-US" b="true" sz="1999" spc="-79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허진수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75369" y="6427467"/>
            <a:ext cx="5819862" cy="246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59"/>
              </a:lnSpc>
              <a:spcBef>
                <a:spcPct val="0"/>
              </a:spcBef>
            </a:pPr>
            <a:r>
              <a:rPr lang="en-US" b="true" sz="1999" spc="33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문의: 단톡방 / zintn11@gmail.com</a:t>
            </a:r>
          </a:p>
        </p:txBody>
      </p:sp>
      <p:sp>
        <p:nvSpPr>
          <p:cNvPr name="AutoShape 23" id="23"/>
          <p:cNvSpPr/>
          <p:nvPr/>
        </p:nvSpPr>
        <p:spPr>
          <a:xfrm flipV="true">
            <a:off x="2377195" y="5933484"/>
            <a:ext cx="8718036" cy="0"/>
          </a:xfrm>
          <a:prstGeom prst="line">
            <a:avLst/>
          </a:prstGeom>
          <a:ln cap="flat" w="9525">
            <a:solidFill>
              <a:srgbClr val="222222">
                <a:alpha val="2274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659283" y="679939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DAHV6yTzldo</dc:identifier>
  <dcterms:modified xsi:type="dcterms:W3CDTF">2011-08-01T06:04:30Z</dcterms:modified>
  <cp:revision>1</cp:revision>
  <dc:title>[VibeCoding] Antigravity+@ 설치 가이드</dc:title>
</cp:coreProperties>
</file>