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8288000" cy="10287000"/>
  <p:notesSz cx="6858000" cy="9144000"/>
  <p:embeddedFontLst>
    <p:embeddedFont>
      <p:font typeface="프리젠테이션" panose="020B0600000101010101" charset="-127"/>
      <p:regular r:id="rId47"/>
    </p:embeddedFont>
    <p:embeddedFont>
      <p:font typeface="프리젠테이션 Bold" panose="020B0600000101010101" charset="-127"/>
      <p:regular r:id="rId48"/>
    </p:embeddedFont>
    <p:embeddedFont>
      <p:font typeface="프리젠테이션 Semi-Bold" panose="020B0600000101010101" charset="-127"/>
      <p:regular r:id="rId49"/>
    </p:embeddedFont>
    <p:embeddedFont>
      <p:font typeface="프리젠테이션 Ultra-Bold" panose="020B0600000101010101" charset="-127"/>
      <p:regular r:id="rId50"/>
    </p:embeddedFont>
    <p:embeddedFont>
      <p:font typeface="Arimo" panose="020B0600000101010101" charset="0"/>
      <p:regular r:id="rId51"/>
    </p:embeddedFont>
    <p:embeddedFont>
      <p:font typeface="Arimo Bold" panose="020B0600000101010101" charset="0"/>
      <p:regular r:id="rId52"/>
    </p:embeddedFont>
    <p:embeddedFont>
      <p:font typeface="DIN Next Bold" panose="020B0600000101010101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9023" autoAdjust="0"/>
  </p:normalViewPr>
  <p:slideViewPr>
    <p:cSldViewPr>
      <p:cViewPr varScale="1">
        <p:scale>
          <a:sx n="44" d="100"/>
          <a:sy n="44" d="100"/>
        </p:scale>
        <p:origin x="70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안녕하세요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오늘은</a:t>
            </a:r>
            <a:r>
              <a:rPr lang="en-US" dirty="0"/>
              <a:t> </a:t>
            </a:r>
            <a:r>
              <a:rPr lang="en-US" dirty="0" err="1"/>
              <a:t>해달</a:t>
            </a:r>
            <a:r>
              <a:rPr lang="en-US" dirty="0"/>
              <a:t> </a:t>
            </a:r>
            <a:r>
              <a:rPr lang="en-US" dirty="0" err="1"/>
              <a:t>바이브코딩</a:t>
            </a:r>
            <a:r>
              <a:rPr lang="en-US" dirty="0"/>
              <a:t> </a:t>
            </a:r>
            <a:r>
              <a:rPr lang="en-US" dirty="0" err="1"/>
              <a:t>기초반</a:t>
            </a:r>
            <a:r>
              <a:rPr lang="en-US" dirty="0"/>
              <a:t> 3차시입니다.</a:t>
            </a:r>
          </a:p>
          <a:p>
            <a:endParaRPr lang="en-US" dirty="0"/>
          </a:p>
          <a:p>
            <a:r>
              <a:rPr lang="en-US" dirty="0" err="1"/>
              <a:t>이번</a:t>
            </a:r>
            <a:r>
              <a:rPr lang="en-US" dirty="0"/>
              <a:t> </a:t>
            </a:r>
            <a:r>
              <a:rPr lang="en-US" dirty="0" err="1"/>
              <a:t>시간에는</a:t>
            </a:r>
            <a:r>
              <a:rPr lang="en-US" dirty="0"/>
              <a:t> </a:t>
            </a:r>
            <a:r>
              <a:rPr lang="en-US" dirty="0" err="1"/>
              <a:t>프롬프트</a:t>
            </a:r>
            <a:r>
              <a:rPr lang="en-US" dirty="0"/>
              <a:t>, </a:t>
            </a:r>
            <a:r>
              <a:rPr lang="en-US" dirty="0" err="1"/>
              <a:t>컨텍스트</a:t>
            </a:r>
            <a:r>
              <a:rPr lang="en-US" dirty="0"/>
              <a:t>, </a:t>
            </a:r>
            <a:r>
              <a:rPr lang="en-US" dirty="0" err="1"/>
              <a:t>하네스</a:t>
            </a:r>
            <a:r>
              <a:rPr lang="en-US" dirty="0"/>
              <a:t>, </a:t>
            </a:r>
            <a:r>
              <a:rPr lang="en-US" dirty="0" err="1"/>
              <a:t>루프</a:t>
            </a:r>
            <a:r>
              <a:rPr lang="en-US" dirty="0"/>
              <a:t> </a:t>
            </a:r>
            <a:r>
              <a:rPr lang="en-US" dirty="0" err="1"/>
              <a:t>엔지니어링을</a:t>
            </a:r>
            <a:r>
              <a:rPr lang="en-US" dirty="0"/>
              <a:t> </a:t>
            </a:r>
            <a:r>
              <a:rPr lang="en-US" dirty="0" err="1"/>
              <a:t>차례로</a:t>
            </a:r>
            <a:r>
              <a:rPr lang="en-US" dirty="0"/>
              <a:t> </a:t>
            </a:r>
            <a:r>
              <a:rPr lang="en-US" dirty="0" err="1"/>
              <a:t>배우면서</a:t>
            </a:r>
            <a:r>
              <a:rPr lang="en-US" dirty="0"/>
              <a:t> </a:t>
            </a:r>
            <a:r>
              <a:rPr lang="en-US" dirty="0" err="1"/>
              <a:t>AI에게</a:t>
            </a:r>
            <a:r>
              <a:rPr lang="en-US" dirty="0"/>
              <a:t> </a:t>
            </a:r>
            <a:r>
              <a:rPr lang="en-US" dirty="0" err="1"/>
              <a:t>일을</a:t>
            </a:r>
            <a:r>
              <a:rPr lang="en-US" dirty="0"/>
              <a:t> 더 잘 </a:t>
            </a:r>
            <a:r>
              <a:rPr lang="en-US" dirty="0" err="1"/>
              <a:t>시키는</a:t>
            </a:r>
            <a:r>
              <a:rPr lang="en-US" dirty="0"/>
              <a:t> </a:t>
            </a:r>
            <a:r>
              <a:rPr lang="en-US" dirty="0" err="1"/>
              <a:t>방법을</a:t>
            </a:r>
            <a:r>
              <a:rPr lang="en-US" dirty="0"/>
              <a:t> </a:t>
            </a:r>
            <a:r>
              <a:rPr lang="en-US" dirty="0" err="1"/>
              <a:t>익혀</a:t>
            </a:r>
            <a:r>
              <a:rPr lang="en-US" dirty="0"/>
              <a:t> </a:t>
            </a:r>
            <a:r>
              <a:rPr lang="en-US" dirty="0" err="1"/>
              <a:t>보겠습니다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오늘</a:t>
            </a:r>
            <a:r>
              <a:rPr lang="en-US" dirty="0"/>
              <a:t> </a:t>
            </a:r>
            <a:r>
              <a:rPr lang="en-US" dirty="0" err="1"/>
              <a:t>배운</a:t>
            </a:r>
            <a:r>
              <a:rPr lang="en-US" dirty="0"/>
              <a:t> </a:t>
            </a:r>
            <a:r>
              <a:rPr lang="en-US" dirty="0" err="1"/>
              <a:t>내용은</a:t>
            </a:r>
            <a:r>
              <a:rPr lang="en-US" dirty="0"/>
              <a:t> </a:t>
            </a:r>
            <a:r>
              <a:rPr lang="ko-KR" altLang="en-US" dirty="0"/>
              <a:t>저</a:t>
            </a:r>
            <a:r>
              <a:rPr lang="en-US" dirty="0"/>
              <a:t>와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en-US" dirty="0" err="1"/>
              <a:t>실습으로</a:t>
            </a:r>
            <a:r>
              <a:rPr lang="en-US" dirty="0"/>
              <a:t> </a:t>
            </a:r>
            <a:r>
              <a:rPr lang="en-US" dirty="0" err="1"/>
              <a:t>바로</a:t>
            </a:r>
            <a:r>
              <a:rPr lang="en-US" dirty="0"/>
              <a:t> </a:t>
            </a:r>
            <a:r>
              <a:rPr lang="en-US" dirty="0" err="1"/>
              <a:t>확인해</a:t>
            </a:r>
            <a:r>
              <a:rPr lang="en-US" dirty="0"/>
              <a:t> </a:t>
            </a:r>
            <a:r>
              <a:rPr lang="en-US" dirty="0" err="1"/>
              <a:t>볼게요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오늘 수업은 총 120분이고 네 덩어리로 진행합니다.</a:t>
            </a:r>
          </a:p>
          <a:p>
            <a:endParaRPr lang="en-US"/>
          </a:p>
          <a:p>
            <a:r>
              <a:rPr lang="en-US"/>
              <a:t>먼저 프롬프트 엔지니어링을 배우고 실습 1을 한 뒤, 컨텍스트 엔지니어링과 실습 2로 이어 갑니다.</a:t>
            </a:r>
          </a:p>
          <a:p>
            <a:endParaRPr lang="en-US"/>
          </a:p>
          <a:p>
            <a:r>
              <a:rPr lang="en-US"/>
              <a:t>이후 하네스와 루프 엔지니어링에서 실습 3과 4를 하고, 마지막 10분은 정리와 질문으로 마무리하겠습니다.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시간을</a:t>
            </a:r>
            <a:r>
              <a:rPr lang="en-US" dirty="0"/>
              <a:t>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en-US" dirty="0" err="1"/>
              <a:t>맞춰</a:t>
            </a:r>
            <a:r>
              <a:rPr lang="en-US" dirty="0"/>
              <a:t> </a:t>
            </a:r>
            <a:r>
              <a:rPr lang="en-US" dirty="0" err="1"/>
              <a:t>둘게요</a:t>
            </a:r>
            <a:r>
              <a:rPr lang="en-US" dirty="0"/>
              <a:t>. 19시부터 19시 30분까지 </a:t>
            </a:r>
            <a:r>
              <a:rPr lang="en-US" dirty="0" err="1"/>
              <a:t>프롬프트와</a:t>
            </a:r>
            <a:r>
              <a:rPr lang="en-US" dirty="0"/>
              <a:t> </a:t>
            </a:r>
            <a:r>
              <a:rPr lang="en-US" dirty="0" err="1"/>
              <a:t>실습</a:t>
            </a:r>
            <a:r>
              <a:rPr lang="en-US" dirty="0"/>
              <a:t> 1을 </a:t>
            </a:r>
            <a:r>
              <a:rPr lang="en-US" dirty="0" err="1"/>
              <a:t>진행하고</a:t>
            </a:r>
            <a:r>
              <a:rPr lang="en-US" dirty="0"/>
              <a:t> 10분 </a:t>
            </a:r>
            <a:r>
              <a:rPr lang="en-US" dirty="0" err="1"/>
              <a:t>쉬겠습니다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19시 40분에 </a:t>
            </a:r>
            <a:r>
              <a:rPr lang="en-US" dirty="0" err="1"/>
              <a:t>컨텍스트와</a:t>
            </a:r>
            <a:r>
              <a:rPr lang="en-US" dirty="0"/>
              <a:t> </a:t>
            </a:r>
            <a:r>
              <a:rPr lang="en-US" dirty="0" err="1"/>
              <a:t>실습</a:t>
            </a:r>
            <a:r>
              <a:rPr lang="en-US" dirty="0"/>
              <a:t> 2를 </a:t>
            </a:r>
            <a:r>
              <a:rPr lang="en-US" dirty="0" err="1"/>
              <a:t>시작해</a:t>
            </a:r>
            <a:r>
              <a:rPr lang="en-US" dirty="0"/>
              <a:t> 20시 10분까지 한 뒤 </a:t>
            </a:r>
            <a:r>
              <a:rPr lang="en-US" dirty="0" err="1"/>
              <a:t>다시</a:t>
            </a:r>
            <a:r>
              <a:rPr lang="en-US" dirty="0"/>
              <a:t> </a:t>
            </a:r>
            <a:r>
              <a:rPr lang="en-US" dirty="0" err="1"/>
              <a:t>쉬고</a:t>
            </a:r>
            <a:r>
              <a:rPr lang="en-US" dirty="0"/>
              <a:t>, </a:t>
            </a:r>
          </a:p>
          <a:p>
            <a:r>
              <a:rPr lang="en-US" dirty="0"/>
              <a:t>20시 20분부터 </a:t>
            </a:r>
            <a:r>
              <a:rPr lang="en-US" dirty="0" err="1"/>
              <a:t>하네스·루프와</a:t>
            </a:r>
            <a:r>
              <a:rPr lang="en-US" dirty="0"/>
              <a:t> </a:t>
            </a:r>
            <a:r>
              <a:rPr lang="en-US" dirty="0" err="1"/>
              <a:t>실습</a:t>
            </a:r>
            <a:r>
              <a:rPr lang="en-US" dirty="0"/>
              <a:t> 3·4를 </a:t>
            </a:r>
            <a:r>
              <a:rPr lang="en-US" dirty="0" err="1"/>
              <a:t>진행해</a:t>
            </a:r>
            <a:r>
              <a:rPr lang="en-US" dirty="0"/>
              <a:t> 20시 50분부터 </a:t>
            </a:r>
            <a:r>
              <a:rPr lang="en-US" dirty="0" err="1"/>
              <a:t>마무리하겠습니다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첫 번째 파트는 프롬프트 엔지니어링이고 30분 동안 진행합니다.</a:t>
            </a:r>
          </a:p>
          <a:p>
            <a:endParaRPr lang="en-US"/>
          </a:p>
          <a:p>
            <a:r>
              <a:rPr lang="en-US"/>
              <a:t>프롬프트가 무엇인지부터 꼭 알아야 할 개념, 다섯 가지 원칙, 그리고 실전에 바로 쓸 수 있는 기법까지 살펴보겠습니다.</a:t>
            </a:r>
          </a:p>
          <a:p>
            <a:endParaRPr lang="en-US"/>
          </a:p>
          <a:p>
            <a:r>
              <a:rPr lang="en-US"/>
              <a:t>마지막에는 직접 프롬프트를 고쳐 보는 실습으로 연결할게요.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프롬프트는 AI에게 보내는 대사이자 지시문이라고 생각하면 쉽습니다.</a:t>
            </a:r>
          </a:p>
          <a:p>
            <a:endParaRPr lang="en-US"/>
          </a:p>
          <a:p>
            <a:r>
              <a:rPr lang="en-US"/>
              <a:t>엔지니어링은 그 지시문을 목적에 맞게 설계하는 기술이고요.</a:t>
            </a:r>
          </a:p>
          <a:p>
            <a:endParaRPr lang="en-US"/>
          </a:p>
          <a:p>
            <a:r>
              <a:rPr lang="en-US"/>
              <a:t>같은 AI라도 무엇을, 어떤 순서와 표현으로 요청하느냐에 따라 결과가 크게 달라진다는 점이 핵심입니다.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왼쪽처럼 ‘고양이’라고만 하면 AI가 세부 모습을 스스로 추측합니다.</a:t>
            </a:r>
          </a:p>
          <a:p>
            <a:endParaRPr lang="en-US"/>
          </a:p>
          <a:p>
            <a:r>
              <a:rPr lang="en-US"/>
              <a:t>반대로 창가의 햇살, 주황색 고양이의 모습, 수채화 스타일처럼 원하는 조건을 구체적으로 주면 결과의 방향이 훨씬 분명해집니다.</a:t>
            </a:r>
          </a:p>
          <a:p>
            <a:endParaRPr lang="en-US"/>
          </a:p>
          <a:p>
            <a:r>
              <a:rPr lang="en-US"/>
              <a:t>말이 길어지는 것보다 내가 원하는 장면을 정확히 설명하는 것이 중요합니다.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프롬프트를 다듬기 전에 모델, 할루시네이션, 토큰, API라는 네 단어를 익혀 두겠습니다.</a:t>
            </a:r>
          </a:p>
          <a:p>
            <a:endParaRPr lang="en-US"/>
          </a:p>
          <a:p>
            <a:r>
              <a:rPr lang="en-US"/>
              <a:t>모델은 답을 만들어 내는 AI의 종류이고, 토큰은 모델이 글을 읽는 단위입니다.</a:t>
            </a:r>
          </a:p>
          <a:p>
            <a:endParaRPr lang="en-US"/>
          </a:p>
          <a:p>
            <a:r>
              <a:rPr lang="en-US"/>
              <a:t>할루시네이션은 그럴듯한 오답을 뜻하고, API는 프로그램이 AI와 대화하는 연결 창구입니다.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토큰은 AI가 문장을 읽고 처리하는 작은 조각 단위입니다.</a:t>
            </a:r>
          </a:p>
          <a:p>
            <a:endParaRPr lang="en-US"/>
          </a:p>
          <a:p>
            <a:r>
              <a:rPr lang="en-US"/>
              <a:t>입력과 출력에 토큰이 사용되기 때문에 사용량과 요금에 연결되고, 한 번에 넣을 수 있는 양에도 한도가 있습니다.</a:t>
            </a:r>
          </a:p>
          <a:p>
            <a:endParaRPr lang="en-US"/>
          </a:p>
          <a:p>
            <a:r>
              <a:rPr lang="en-US"/>
              <a:t>그래서 필요한 정보만 짧고 정확하게 전달하는 습관이 중요합니다.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할루시네이션은 말투는 자신 있어 보이지만 실제로는 틀린 답을 하는 현상입니다.</a:t>
            </a:r>
          </a:p>
          <a:p>
            <a:endParaRPr lang="en-US"/>
          </a:p>
          <a:p>
            <a:r>
              <a:rPr lang="en-US"/>
              <a:t>출처와 숫자, 날짜는 꼭 다시 확인하고, 모르는 내용은 모른다고 답하라고 미리 지시해 주세요.</a:t>
            </a:r>
          </a:p>
          <a:p>
            <a:endParaRPr lang="en-US"/>
          </a:p>
          <a:p>
            <a:r>
              <a:rPr lang="en-US"/>
              <a:t>코드도 설명만 믿지 말고 직접 실행해서 동작을 확인해야 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좋은 프롬프트에는 다섯 가지 원칙이 있습니다.</a:t>
            </a:r>
          </a:p>
          <a:p>
            <a:endParaRPr lang="en-US"/>
          </a:p>
          <a:p>
            <a:r>
              <a:rPr lang="en-US"/>
              <a:t>구체적으로 지시하고, 해석이 갈리지 않는 단어를 쓰고, 필요한 맥락을 제공하고, 결과 형식을 정한 뒤, 대화 전체에서 같은 기준을 유지하는 겁니다.</a:t>
            </a:r>
          </a:p>
          <a:p>
            <a:endParaRPr lang="en-US"/>
          </a:p>
          <a:p>
            <a:r>
              <a:rPr lang="en-US"/>
              <a:t>이 다섯 가지를 지키면 AI가 추측할 공간이 줄어듭니다.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모호한 요청은 AI가 알아서 빈칸을 채워야 해서 결과가 들쭉날쭉해집니다.</a:t>
            </a:r>
          </a:p>
          <a:p>
            <a:endParaRPr lang="en-US"/>
          </a:p>
          <a:p>
            <a:r>
              <a:rPr lang="en-US"/>
              <a:t>여기에 대상과 맥락, 원하는 형식과 제한 조건을 더하면 AI가 해야 할 일이 선명해집니다.</a:t>
            </a:r>
          </a:p>
          <a:p>
            <a:endParaRPr lang="en-US"/>
          </a:p>
          <a:p>
            <a:r>
              <a:rPr lang="en-US"/>
              <a:t>지금부터는 ‘잘 만들어 줘’ 같은 표현을 실제로 확인할 수 있는 지시로 바꾸는 연습을 하겠습니다.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프롬프트 기법은 열한 가지가 있지만 오늘은 크게 세 방향으로 기억해 보겠습니다.</a:t>
            </a:r>
          </a:p>
          <a:p>
            <a:endParaRPr lang="en-US"/>
          </a:p>
          <a:p>
            <a:r>
              <a:rPr lang="en-US"/>
              <a:t>예시를 보여 주고, AI의 역할과 결과 형식을 정하고, 필요한 경우 단계적으로 생각하게 만드는 방식입니다.</a:t>
            </a:r>
          </a:p>
          <a:p>
            <a:endParaRPr lang="en-US"/>
          </a:p>
          <a:p>
            <a:r>
              <a:rPr lang="en-US"/>
              <a:t>기법은 멋있어 보이려고 쓰는 게 아니라 원하는 결과를 안정적으로 얻기 위해 선택합니다.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예시를 몇 개 주느냐에 따라 이름이 달라집니다.</a:t>
            </a:r>
          </a:p>
          <a:p>
            <a:endParaRPr lang="en-US"/>
          </a:p>
          <a:p>
            <a:r>
              <a:rPr lang="en-US"/>
              <a:t>예시가 하나도 없으면 Zero-shot, 예시가 하나면 One-shot, 여러 개면 Few-shot이라고 부릅니다.</a:t>
            </a:r>
          </a:p>
          <a:p>
            <a:endParaRPr lang="en-US"/>
          </a:p>
          <a:p>
            <a:r>
              <a:rPr lang="en-US"/>
              <a:t>여기에 ‘너는 웹 디자이너야’처럼 역할을 지정하면 말투와 판단 기준까지 함께 조정할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출력 형식을 미리 정하면 결과의 틀이 통일됩니다.</a:t>
            </a:r>
          </a:p>
          <a:p>
            <a:endParaRPr lang="en-US"/>
          </a:p>
          <a:p>
            <a:r>
              <a:rPr lang="en-US"/>
              <a:t>명령문과 제약조건, 입력문, 출력 형식을 구분해 템플릿으로 적고, 필요하면 Markdown 제목이나 목록도 지정해 주세요.</a:t>
            </a:r>
          </a:p>
          <a:p>
            <a:endParaRPr lang="en-US"/>
          </a:p>
          <a:p>
            <a:r>
              <a:rPr lang="en-US"/>
              <a:t>그러면 매번 같은 구조로 결과를 받아 비교하고 수정하기가 쉬워집니다.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CoT는 복잡한 계산이나 논리를 단계적으로 풀도록 요청하는 접근입니다.</a:t>
            </a:r>
          </a:p>
          <a:p>
            <a:endParaRPr lang="en-US"/>
          </a:p>
          <a:p>
            <a:r>
              <a:rPr lang="en-US"/>
              <a:t>ReAct는 생각하고, 행동하고, 관찰하는 과정을 반복하면서 답을 찾아가는 방식이고요.</a:t>
            </a:r>
          </a:p>
          <a:p>
            <a:endParaRPr lang="en-US"/>
          </a:p>
          <a:p>
            <a:r>
              <a:rPr lang="en-US"/>
              <a:t>계산이나 논리 문제, 또는 최신 정보를 확인해야 하는 작업처럼 중간 점검이 필요한 경우에 특히 유용합니다.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이제 실습 1을 약 5분 동안 해 보겠습니다.</a:t>
            </a:r>
          </a:p>
          <a:p>
            <a:endParaRPr lang="en-US"/>
          </a:p>
          <a:p>
            <a:r>
              <a:rPr lang="en-US"/>
              <a:t>my-intro의 자기소개 페이지에서 프롬프트만 개선해 내용을 수정하고, 변경 범위와 말투, 분량, 절대 하지 말아야 할 일을 구체적으로 적어 주세요.</a:t>
            </a:r>
          </a:p>
          <a:p>
            <a:endParaRPr lang="en-US"/>
          </a:p>
          <a:p>
            <a:r>
              <a:rPr lang="en-US"/>
              <a:t>목표는 AI가 멋대로 넓게 고치지 않고 우리가 정한 범위 안에서만 작업하게 만드는 것입니다.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토큰을 아끼려면 한 번에 여러 일을 시키지 말고 한 가지 작업씩 요청하세요.</a:t>
            </a:r>
          </a:p>
          <a:p>
            <a:endParaRPr lang="en-US"/>
          </a:p>
          <a:p>
            <a:r>
              <a:rPr lang="en-US"/>
              <a:t>문장은 짧고 정확하게 쓰고, 수정 범위도 좁혀 주는 게 좋습니다.</a:t>
            </a:r>
          </a:p>
          <a:p>
            <a:endParaRPr lang="en-US"/>
          </a:p>
          <a:p>
            <a:r>
              <a:rPr lang="en-US"/>
              <a:t>주제가 바뀌면 새 채팅을 시작하고, 단순한 작업에는 가벼운 모델을 선택하면 비용과 혼란을 함께 줄일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여기서 10분 쉬고 19시 40분에 다시 시작하겠습니다.</a:t>
            </a:r>
          </a:p>
          <a:p>
            <a:endParaRPr lang="en-US"/>
          </a:p>
          <a:p>
            <a:r>
              <a:rPr lang="en-US"/>
              <a:t>쉬기 전에 실습 1에서 수정한 index.html을 그대로 저장해 두세요.</a:t>
            </a:r>
          </a:p>
          <a:p>
            <a:endParaRPr lang="en-US"/>
          </a:p>
          <a:p>
            <a:r>
              <a:rPr lang="en-US"/>
              <a:t>다음 파트에서는 바로 그 파일을 이어서 사용하면서, AI에게 배경 자료와 조건을 어떻게 전달할지 살펴보겠습니다.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두 번째 파트는 컨텍스트 엔지니어링이고 30분 동안 진행합니다.</a:t>
            </a:r>
          </a:p>
          <a:p>
            <a:endParaRPr lang="en-US"/>
          </a:p>
          <a:p>
            <a:r>
              <a:rPr lang="en-US"/>
              <a:t>프롬프트와 컨텍스트가 어떻게 다른지 구분하고, TCREI라는 흐름을 배운 뒤 실습 2에서 index.html에 적용해 보겠습니다.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프롬프트가 ‘무엇을 해 달라’는 요청이라면 컨텍스트는 그 일을 이해하는 데 필요한 배경과 자료입니다.</a:t>
            </a:r>
          </a:p>
          <a:p>
            <a:endParaRPr lang="en-US"/>
          </a:p>
          <a:p>
            <a:r>
              <a:rPr lang="en-US"/>
              <a:t>AI에게 정보를 많이 주는 것이 능사는 아니고, 지금 작업에 필요한 것만 골라 주는 것이 핵심입니다.</a:t>
            </a:r>
          </a:p>
          <a:p>
            <a:endParaRPr lang="en-US"/>
          </a:p>
          <a:p>
            <a:r>
              <a:rPr lang="en-US"/>
              <a:t>좋은 컨텍스트는 AI의 추측을 줄이고 판단의 기준을 만들어 줍니다.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TCREI는 Task, Context, Reference, Evaluate, Iterate의 앞글자를 딴 다섯 단계입니다.</a:t>
            </a:r>
          </a:p>
          <a:p>
            <a:endParaRPr lang="en-US"/>
          </a:p>
          <a:p>
            <a:r>
              <a:rPr lang="en-US"/>
              <a:t>할 일과 배경, 참고 자료, 성공 조건을 순서대로 주고 결과를 확인한 뒤 다시 개선합니다.</a:t>
            </a:r>
          </a:p>
          <a:p>
            <a:endParaRPr lang="en-US"/>
          </a:p>
          <a:p>
            <a:r>
              <a:rPr lang="en-US"/>
              <a:t>한 번에 완벽한 답을 기대하기보다 이 흐름을 반복하는 것이 실전적인 방법입니다.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Task에서는 목표와 대상 파일, 수정할 섹션과 개수, 작업 범위를 정확한 동사로 적습니다.</a:t>
            </a:r>
          </a:p>
          <a:p>
            <a:endParaRPr lang="en-US"/>
          </a:p>
          <a:p>
            <a:r>
              <a:rPr lang="en-US"/>
              <a:t>예를 들어 index.html에 올해 목표 세 개 섹션을 추가하라고 하면 파일과 개수, 작업이 분명해집니다. ‘개선해 줘’보다 ‘추가해 줘’, ‘교체해 줘’처럼 행동이 보이는 동사를 사용하세요.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Context에는 AI가 작업을 시작하기 전에 알아야 할 역할과 현재 상태, 제약을 넣습니다.</a:t>
            </a:r>
          </a:p>
          <a:p>
            <a:endParaRPr lang="en-US"/>
          </a:p>
          <a:p>
            <a:r>
              <a:rPr lang="en-US"/>
              <a:t>예를 들어 웹 디자이너 역할, HTML 단일 파일 구조, 외부 라이브러리 금지, 기존 내용 유지라는 조건을 알려 주는 식입니다.</a:t>
            </a:r>
          </a:p>
          <a:p>
            <a:endParaRPr lang="en-US"/>
          </a:p>
          <a:p>
            <a:r>
              <a:rPr lang="en-US"/>
              <a:t>반대로 작업과 무관한 정보는 덜어 내야 AI가 중요한 조건을 놓치지 않습니다.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Reference에서는 긴 설명보다 실제 예시가 더 정확할 때가 많습니다.</a:t>
            </a:r>
          </a:p>
          <a:p>
            <a:endParaRPr lang="en-US"/>
          </a:p>
          <a:p>
            <a:r>
              <a:rPr lang="en-US"/>
              <a:t>기존 페이지의 스타일이나 이미지, 손으로 그린 스케치처럼 원하는 결과를 보여 주는 자료를 참고로 전달해 보세요.</a:t>
            </a:r>
          </a:p>
          <a:p>
            <a:endParaRPr lang="en-US"/>
          </a:p>
          <a:p>
            <a:r>
              <a:rPr lang="en-US"/>
              <a:t>AI가 새로 상상하기보다 이미 있는 디자인 언어를 따라가게 만들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Evaluate 단계에서는 성공했는지를 눈으로 확인할 수 있는 기준을 씁니다.</a:t>
            </a:r>
          </a:p>
          <a:p>
            <a:endParaRPr lang="en-US"/>
          </a:p>
          <a:p>
            <a:r>
              <a:rPr lang="en-US"/>
              <a:t>예를 들면 목표 카드가 정확히 세 개이고 한 줄에 배치되며 모바일에서도 대응하고, 기존 섹션은 유지되어야 한다고 적는 겁니다.</a:t>
            </a:r>
          </a:p>
          <a:p>
            <a:endParaRPr lang="en-US"/>
          </a:p>
          <a:p>
            <a:r>
              <a:rPr lang="en-US"/>
              <a:t>이렇게 기준을 수치와 상태로 적어야 결과를 보고 통과 여부를 판단할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Iterate는 결과를 확인한 뒤 한 번에 한 가지 아쉬운 점만 다시 요청하는 단계입니다.</a:t>
            </a:r>
          </a:p>
          <a:p>
            <a:endParaRPr lang="en-US"/>
          </a:p>
          <a:p>
            <a:r>
              <a:rPr lang="en-US"/>
              <a:t>에러가 났다면 내용을 요약하지 말고 에러 메시지와 화면을 그대로 전달하세요.</a:t>
            </a:r>
          </a:p>
          <a:p>
            <a:endParaRPr lang="en-US"/>
          </a:p>
          <a:p>
            <a:r>
              <a:rPr lang="en-US"/>
              <a:t>완벽하게 한 번에 끝내려 하기보다 작은 수정을 두세 번 반복하는 편이 빠르고 안전합니다.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실습 2는 약 7분입니다.</a:t>
            </a:r>
          </a:p>
          <a:p>
            <a:endParaRPr lang="en-US"/>
          </a:p>
          <a:p>
            <a:r>
              <a:rPr lang="en-US"/>
              <a:t>TCREI 순서에 맞춰 index.html에 본인의 올해 목표 세 개 섹션을 추가하고, 결과를 직접 확인한 뒤 수정은 딱 한 번만 해 보겠습니다.</a:t>
            </a:r>
          </a:p>
          <a:p>
            <a:endParaRPr lang="en-US"/>
          </a:p>
          <a:p>
            <a:r>
              <a:rPr lang="en-US"/>
              <a:t>무엇이 바뀌었는지와 성공 조건을 눈으로 확인하는 것까지가 실습입니다.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일반적인 요청은 AI가 빈칸을 추측하게 만들어 결과를 여러 번 고치게 합니다.</a:t>
            </a:r>
          </a:p>
          <a:p>
            <a:endParaRPr lang="en-US"/>
          </a:p>
          <a:p>
            <a:r>
              <a:rPr lang="en-US"/>
              <a:t>반면 TCREI는 필요한 정보와 성공 기준을 처음부터 주기 때문에 원하는 결과에 빨리 가까워지고 토큰도 아낄 수 있습니다.</a:t>
            </a:r>
          </a:p>
          <a:p>
            <a:endParaRPr lang="en-US"/>
          </a:p>
          <a:p>
            <a:r>
              <a:rPr lang="en-US"/>
              <a:t>이때 사용자는 모든 일을 직접 하는 사람이 아니라 방향을 정하고 확인하는 오케스트레이터 역할을 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다시 10분 쉬고 20시 20분에 시작하겠습니다.</a:t>
            </a:r>
          </a:p>
          <a:p>
            <a:endParaRPr lang="en-US"/>
          </a:p>
          <a:p>
            <a:r>
              <a:rPr lang="en-US"/>
              <a:t>다음 주제는 하네스와 루프입니다.</a:t>
            </a:r>
          </a:p>
          <a:p>
            <a:endParaRPr lang="en-US"/>
          </a:p>
          <a:p>
            <a:r>
              <a:rPr lang="en-US"/>
              <a:t>규칙을 먼저 정해 AI가 지켜야 할 길을 만들고, 스스로 계획하고 반복하도록 구성하는 방법을 다루겠습니다.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세 번째 파트는 하네스와 루프 엔지니어링이고 30분 동안 진행합니다.</a:t>
            </a:r>
          </a:p>
          <a:p>
            <a:endParaRPr lang="en-US"/>
          </a:p>
          <a:p>
            <a:r>
              <a:rPr lang="en-US"/>
              <a:t>하네스는 규칙으로 작업을 지키는 장치이고, 루프는 목표를 향해 작업과 검사를 반복하는 구조입니다.</a:t>
            </a:r>
          </a:p>
          <a:p>
            <a:endParaRPr lang="en-US"/>
          </a:p>
          <a:p>
            <a:r>
              <a:rPr lang="en-US"/>
              <a:t>두 개를 함께 쓰면 AI의 자유는 남기면서도 결과의 안전성과 일관성을 높일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하네스는 AI 작업을 위한 안전장치라고 보면 됩니다.</a:t>
            </a:r>
          </a:p>
          <a:p>
            <a:endParaRPr lang="en-US"/>
          </a:p>
          <a:p>
            <a:r>
              <a:rPr lang="en-US"/>
              <a:t>규칙 파일로 지켜야 할 기준을 알려 주고, 테스트와 로그를 검사하며, 규칙을 어기면 멈추게 하는 훅을 둡니다.</a:t>
            </a:r>
          </a:p>
          <a:p>
            <a:endParaRPr lang="en-US"/>
          </a:p>
          <a:p>
            <a:r>
              <a:rPr lang="en-US"/>
              <a:t>즉, AI가 매번 기억에 의존하지 않고 정해진 길 안에서 작업하도록 환경을 설계하는 것입니다.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하네스에는 세 겹의 방어막을 둘 수 있습니다.</a:t>
            </a:r>
          </a:p>
          <a:p>
            <a:endParaRPr lang="en-US"/>
          </a:p>
          <a:p>
            <a:r>
              <a:rPr lang="en-US"/>
              <a:t>AGENTS.md 같은 규칙 파일로 기본 원칙을 적고, 오류와 테스트 결과를 피드백 루프로 돌려 문제를 확인합니다.</a:t>
            </a:r>
          </a:p>
          <a:p>
            <a:endParaRPr lang="en-US"/>
          </a:p>
          <a:p>
            <a:r>
              <a:rPr lang="en-US"/>
              <a:t>마지막으로 위반 시 저장을 막는 시스템 훅을 두면 실수한 결과가 그대로 남는 것을 예방할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하네스를 설계할 때는 네 가지 원칙을 기억하세요.</a:t>
            </a:r>
          </a:p>
          <a:p>
            <a:endParaRPr lang="en-US"/>
          </a:p>
          <a:p>
            <a:r>
              <a:rPr lang="en-US"/>
              <a:t>작업 환경 자체를 바꾸고, 틀린 곳에서부터 규칙을 시작하며, 필요한 만큼의 정보만 제공하고, 부탁이 아니라 시스템으로 강제하는 겁니다.</a:t>
            </a:r>
          </a:p>
          <a:p>
            <a:endParaRPr lang="en-US"/>
          </a:p>
          <a:p>
            <a:r>
              <a:rPr lang="en-US"/>
              <a:t>말로 ‘조심해 달라’고 하는 것보다 실제로 통과하지 못하게 만드는 편이 훨씬 강력합니다.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예를 들어 저장 전 훅이 금지된 색상과 비밀번호를 검사한다고 해 보겠습니다.</a:t>
            </a:r>
          </a:p>
          <a:p>
            <a:endParaRPr lang="en-US"/>
          </a:p>
          <a:p>
            <a:r>
              <a:rPr lang="en-US"/>
              <a:t>조건을 통과하면 저장되고, 위반하면 저장이 차단되어 수정해야 합니다.</a:t>
            </a:r>
          </a:p>
          <a:p>
            <a:endParaRPr lang="en-US"/>
          </a:p>
          <a:p>
            <a:r>
              <a:rPr lang="en-US"/>
              <a:t>출입 카드가 없으면 문이 열리지 않는 사무실처럼, 규칙을 지키지 않으면 다음 단계로 넘어갈 수 없게 만드는 비유로 이해하면 쉽습니다.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폴더 구조를 보면 루트에 AGENTS.md가 있고, 작업 파일인 index.html이 있습니다.</a:t>
            </a:r>
          </a:p>
          <a:p>
            <a:endParaRPr lang="en-US"/>
          </a:p>
          <a:p>
            <a:r>
              <a:rPr lang="en-US"/>
              <a:t>docs/rules에는 더 세부적인 규칙을 두고, progress와 checklist에는 진행 상태와 확인 항목을 기록합니다.</a:t>
            </a:r>
          </a:p>
          <a:p>
            <a:endParaRPr lang="en-US"/>
          </a:p>
          <a:p>
            <a:r>
              <a:rPr lang="en-US"/>
              <a:t>도구에 따라 AGENTS.md, CLAUDE.md, GEMINI.md처럼 규칙 파일 이름이 달라질 수 있으니 사용하는 환경의 이름을 확인해 주세요.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실습 3은 약 7분입니다.</a:t>
            </a:r>
          </a:p>
          <a:p>
            <a:endParaRPr lang="en-US"/>
          </a:p>
          <a:p>
            <a:r>
              <a:rPr lang="en-US"/>
              <a:t>AGENTS.md를 만들고 파란색 계열만 허용하기, index.html만 수정하기, 결과를 세 줄로 요약하기, 모르면 질문하기라는 규칙을 넣어 보겠습니다.</a:t>
            </a:r>
          </a:p>
          <a:p>
            <a:endParaRPr lang="en-US"/>
          </a:p>
          <a:p>
            <a:r>
              <a:rPr lang="en-US"/>
              <a:t>그다음 빨간색으로 바꿔 달라는 요청을 보내 AI가 규칙을 거부하고 어떻게 반응하는지 확인하세요.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루프는 목표를 주면 계획하고, 실행하고, 검사하는 작업 순환입니다.</a:t>
            </a:r>
          </a:p>
          <a:p>
            <a:endParaRPr lang="en-US"/>
          </a:p>
          <a:p>
            <a:r>
              <a:rPr lang="en-US"/>
              <a:t>하네스가 ‘무엇을 지켜야 하는가’를 정한다면 루프는 ‘어떻게 반복해서 목표에 도달할 것인가’를 담당합니다.</a:t>
            </a:r>
          </a:p>
          <a:p>
            <a:endParaRPr lang="en-US"/>
          </a:p>
          <a:p>
            <a:r>
              <a:rPr lang="en-US"/>
              <a:t>다만 무한 반복을 막기 위해 반드시 반복 횟수나 중단 조건을 함께 정해야 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루프를 구성하는 여섯 요소는 자동화, 분리된 작업공간, 스킬, 커넥터, 하위 에이전트, 상태 기록입니다.</a:t>
            </a:r>
          </a:p>
          <a:p>
            <a:endParaRPr lang="en-US"/>
          </a:p>
          <a:p>
            <a:r>
              <a:rPr lang="en-US"/>
              <a:t>반복 작업을 자동으로 돌리고, 서로 영향을 덜 주는 공간에서 실행하며, 필요한 도구와 전문 역할을 연결합니다.</a:t>
            </a:r>
          </a:p>
          <a:p>
            <a:endParaRPr lang="en-US"/>
          </a:p>
          <a:p>
            <a:r>
              <a:rPr lang="en-US"/>
              <a:t>진행 상황은 상태로 남겨야 다음 반복에서 어디까지 왔는지 잃지 않습니다.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루프는 Discover, Plan, Execute, Verify, Iterate의 다섯 단계로 진행합니다.</a:t>
            </a:r>
          </a:p>
          <a:p>
            <a:endParaRPr lang="en-US"/>
          </a:p>
          <a:p>
            <a:r>
              <a:rPr lang="en-US"/>
              <a:t>문제를 발견하면 다시 Plan으로 돌아가고, 반복은 최대 두 번까지만 허용하며 Plan 단계에서는 사람이 승인합니다.</a:t>
            </a:r>
          </a:p>
          <a:p>
            <a:endParaRPr lang="en-US"/>
          </a:p>
          <a:p>
            <a:r>
              <a:rPr lang="en-US"/>
              <a:t>AI가 알아서 계속 달리지 않도록 사람의 확인 지점을 분명히 두는 것이 중요합니다.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마지막 실습 4는 약 8분입니다.</a:t>
            </a:r>
          </a:p>
          <a:p>
            <a:endParaRPr lang="en-US"/>
          </a:p>
          <a:p>
            <a:r>
              <a:rPr lang="en-US"/>
              <a:t>먼저 개선점 두 개를 찾고, 세 줄 계획을 작성해 승인을 받은 뒤 실행과 검증을 진행하겠습니다.</a:t>
            </a:r>
          </a:p>
          <a:p>
            <a:endParaRPr lang="en-US"/>
          </a:p>
          <a:p>
            <a:r>
              <a:rPr lang="en-US"/>
              <a:t>문제가 생기면 한 번만 수정하고 멈추며, 계획 자체가 이상하면 승인하지 않습니다.</a:t>
            </a:r>
          </a:p>
          <a:p>
            <a:endParaRPr lang="en-US"/>
          </a:p>
          <a:p>
            <a:r>
              <a:rPr lang="en-US"/>
              <a:t>이번 실습의 목표는 빨리 많이 고치는 것이 아니라, 계획과 중단 기준을 지키는 것입니다.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오늘 배운 내용을 한 줄씩 묶어 보겠습니다.</a:t>
            </a:r>
          </a:p>
          <a:p>
            <a:endParaRPr lang="en-US"/>
          </a:p>
          <a:p>
            <a:r>
              <a:rPr lang="en-US"/>
              <a:t>프롬프트는 구체적이고 명확하게 쓰고, 컨텍스트는 TCREI 순서로 필요한 정보와 성공 조건을 제공합니다.</a:t>
            </a:r>
          </a:p>
          <a:p>
            <a:endParaRPr lang="en-US"/>
          </a:p>
          <a:p>
            <a:r>
              <a:rPr lang="en-US"/>
              <a:t>하네스로 규칙을 지키게 하고, 루프로 반복하되 반드시 횟수 제한과 사람의 확인 지점을 둡니다.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 4차시에는 LLM의 기본 개념을 더 넓게 보고, 프롬프트 보안과 LLM 에이전트까지 다루겠습니다.</a:t>
            </a:r>
          </a:p>
          <a:p>
            <a:endParaRPr lang="en-US"/>
          </a:p>
          <a:p>
            <a:r>
              <a:rPr lang="en-US"/>
              <a:t>다음 시간 실습을 위해 my-intro 파일과 오늘 만든 AGENTS.md를 준비해 주세요.</a:t>
            </a:r>
          </a:p>
          <a:p>
            <a:endParaRPr lang="en-US"/>
          </a:p>
          <a:p>
            <a:r>
              <a:rPr lang="en-US"/>
              <a:t>오늘 파일을 정리해 두면 다음 수업에서 바로 이어서 작업할 수 있습니다.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궁금한 점은 지금 편하게 질문해 주세요.</a:t>
            </a:r>
          </a:p>
          <a:p>
            <a:endParaRPr lang="en-US"/>
          </a:p>
          <a:p>
            <a:r>
              <a:rPr lang="en-US"/>
              <a:t>수업이 끝난 뒤에도 단톡방으로 문의할 수 있고, 실습이 덜 끝났다면 우선 TCREI 흐름부터 완성하면 됩니다.</a:t>
            </a:r>
          </a:p>
          <a:p>
            <a:endParaRPr lang="en-US"/>
          </a:p>
          <a:p>
            <a:r>
              <a:rPr lang="en-US"/>
              <a:t>에러가 났을 때는 설명으로 바꾸지 말고 에러 화면을 그대로 공유해 주시면 함께 확인하겠습니다.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오늘 고친 자기소개 페이지는 수업 후 단톡방에 공유해 주세요.</a:t>
            </a:r>
          </a:p>
          <a:p>
            <a:endParaRPr lang="en-US"/>
          </a:p>
          <a:p>
            <a:r>
              <a:rPr lang="en-US"/>
              <a:t>다른 사람의 결과를 보면서 같은 요청도 어떻게 달라지는지 비교해 보면 좋습니다.</a:t>
            </a:r>
          </a:p>
          <a:p>
            <a:endParaRPr lang="en-US"/>
          </a:p>
          <a:p>
            <a:r>
              <a:rPr lang="en-US"/>
              <a:t>다음 4차시에서 다시 만나 LLM과 보안, 에이전트 이야기를 이어가겠습니다.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19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VIBE CODING 기초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716107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3차시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· 컨텍스트 · 하네스 · 루프 엔지니어링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728798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AI에게 일 잘 시키는 법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2091821" y="3201454"/>
            <a:ext cx="4351624" cy="153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2"/>
              </a:lnSpc>
            </a:pPr>
            <a:r>
              <a:rPr lang="en-US" sz="9600" b="1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INDEX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09189" y="4672145"/>
            <a:ext cx="4753408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3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3차시 수업 순서 (120분)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00950" y="3238500"/>
            <a:ext cx="8750967" cy="3351235"/>
            <a:chOff x="0" y="0"/>
            <a:chExt cx="11667955" cy="4468314"/>
          </a:xfrm>
        </p:grpSpPr>
        <p:sp>
          <p:nvSpPr>
            <p:cNvPr id="19" name="AutoShape 19"/>
            <p:cNvSpPr/>
            <p:nvPr/>
          </p:nvSpPr>
          <p:spPr>
            <a:xfrm>
              <a:off x="36676" y="934034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36676" y="2234157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36676" y="3534280"/>
              <a:ext cx="11631279" cy="0"/>
            </a:xfrm>
            <a:prstGeom prst="line">
              <a:avLst/>
            </a:prstGeom>
            <a:ln w="12700" cap="flat">
              <a:solidFill>
                <a:srgbClr val="222222">
                  <a:alpha val="14902"/>
                </a:srgbClr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8941" y="1338223"/>
              <a:ext cx="6928367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컨텍스트 엔지니어링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391606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8941" y="3938470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마무리 &amp; 질의응답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3991852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8941" y="38100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프롬프트 엔지니어링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1483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8941" y="2638346"/>
              <a:ext cx="6595062" cy="5298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6"/>
                </a:lnSpc>
                <a:spcBef>
                  <a:spcPct val="0"/>
                </a:spcBef>
              </a:pPr>
              <a:r>
                <a:rPr lang="en-US" sz="2800" b="1" u="none" strike="noStrike" spc="-56">
                  <a:solidFill>
                    <a:srgbClr val="000000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하네스 · 루프 엔지니어링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2691729"/>
              <a:ext cx="624642" cy="470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23"/>
                </a:lnSpc>
              </a:pPr>
              <a:r>
                <a:rPr lang="en-US" sz="2799" b="1" spc="212">
                  <a:solidFill>
                    <a:srgbClr val="5170FF"/>
                  </a:solidFill>
                  <a:latin typeface="프리젠테이션 Semi-Bold"/>
                  <a:ea typeface="프리젠테이션 Semi-Bold"/>
                  <a:cs typeface="프리젠테이션 Semi-Bold"/>
                  <a:sym typeface="프리젠테이션 Semi-Bold"/>
                </a:rPr>
                <a:t>3</a:t>
              </a:r>
            </a:p>
          </p:txBody>
        </p:sp>
      </p:grpSp>
      <p:sp>
        <p:nvSpPr>
          <p:cNvPr id="30" name="Freeform 30"/>
          <p:cNvSpPr/>
          <p:nvPr/>
        </p:nvSpPr>
        <p:spPr>
          <a:xfrm>
            <a:off x="2137764" y="2174998"/>
            <a:ext cx="1092574" cy="1021557"/>
          </a:xfrm>
          <a:custGeom>
            <a:avLst/>
            <a:gdLst/>
            <a:ahLst/>
            <a:cxnLst/>
            <a:rect l="l" t="t" r="r" b="b"/>
            <a:pathLst>
              <a:path w="1092574" h="1021557">
                <a:moveTo>
                  <a:pt x="0" y="0"/>
                </a:moveTo>
                <a:lnTo>
                  <a:pt x="1092574" y="0"/>
                </a:lnTo>
                <a:lnTo>
                  <a:pt x="1092574" y="1021556"/>
                </a:lnTo>
                <a:lnTo>
                  <a:pt x="0" y="1021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4379" y="534854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696061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66675"/>
              <a:ext cx="16393653" cy="949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오늘의 시간표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1717296" y="3187045"/>
          <a:ext cx="14853407" cy="4261328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74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파트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시간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내용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10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① 프롬프트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19:00 ~19:30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필수 개념, 5대 원칙, 기법 + 실습 1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② 컨텍스트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19:40 ~20:10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TCREI 프레임워크 + 실습 2  →  🍵 10분 휴식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③ 하네스 · 루프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20:20 ~20:50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하네스 4대 원칙, 루프 5단계 + 실습 3 ·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16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④ 마무리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52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80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20:50 ~21:00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질의응답, 다음 수업 안내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E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9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엔지니어링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30분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47750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프롬프트란? · 필수 개념 · 5대 원칙 · 다양한 기법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무대 앞 박스에서 배우에게 대사를 알려주는 프롬프터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같은 AI, 다른 지시 → 다른 결과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잘 묻는 사람이 잘 얻는다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바이브코딩의 가장 기본 기술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AI에게 주는 대사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원래 뜻: 배우에게 대사를 알려주는 것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== AI에게 보내는 지시문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엔지니어링 == 지시문을 설계하는 기술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7277574" cy="3960145"/>
            <a:chOff x="0" y="0"/>
            <a:chExt cx="1283210" cy="698268"/>
          </a:xfrm>
        </p:grpSpPr>
        <p:sp>
          <p:nvSpPr>
            <p:cNvPr id="17" name="Freeform 17" descr="'고양이' 프롬프트로 생성된 평범한 고양이 사진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4"/>
              <a:stretch>
                <a:fillRect t="-18569" b="-1856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302655" y="2898323"/>
            <a:ext cx="7277574" cy="3960145"/>
            <a:chOff x="0" y="0"/>
            <a:chExt cx="1283210" cy="698268"/>
          </a:xfrm>
        </p:grpSpPr>
        <p:sp>
          <p:nvSpPr>
            <p:cNvPr id="19" name="Freeform 19" descr="자세한 프롬프트로 생성된 창가에서 졸고 있는 주황색 고양이 수채화"/>
            <p:cNvSpPr/>
            <p:nvPr/>
          </p:nvSpPr>
          <p:spPr>
            <a:xfrm>
              <a:off x="0" y="0"/>
              <a:ext cx="1283210" cy="698268"/>
            </a:xfrm>
            <a:custGeom>
              <a:avLst/>
              <a:gdLst/>
              <a:ahLst/>
              <a:cxnLst/>
              <a:rect l="l" t="t" r="r" b="b"/>
              <a:pathLst>
                <a:path w="1283210" h="698268">
                  <a:moveTo>
                    <a:pt x="15957" y="0"/>
                  </a:moveTo>
                  <a:lnTo>
                    <a:pt x="1267253" y="0"/>
                  </a:lnTo>
                  <a:cubicBezTo>
                    <a:pt x="1276066" y="0"/>
                    <a:pt x="1283210" y="7144"/>
                    <a:pt x="1283210" y="15957"/>
                  </a:cubicBezTo>
                  <a:lnTo>
                    <a:pt x="1283210" y="682311"/>
                  </a:lnTo>
                  <a:cubicBezTo>
                    <a:pt x="1283210" y="691124"/>
                    <a:pt x="1276066" y="698268"/>
                    <a:pt x="1267253" y="698268"/>
                  </a:cubicBezTo>
                  <a:lnTo>
                    <a:pt x="15957" y="698268"/>
                  </a:lnTo>
                  <a:cubicBezTo>
                    <a:pt x="11725" y="698268"/>
                    <a:pt x="7666" y="696587"/>
                    <a:pt x="4674" y="693594"/>
                  </a:cubicBezTo>
                  <a:cubicBezTo>
                    <a:pt x="1681" y="690602"/>
                    <a:pt x="0" y="686543"/>
                    <a:pt x="0" y="682311"/>
                  </a:cubicBezTo>
                  <a:lnTo>
                    <a:pt x="0" y="15957"/>
                  </a:lnTo>
                  <a:cubicBezTo>
                    <a:pt x="0" y="7144"/>
                    <a:pt x="7144" y="0"/>
                    <a:pt x="15957" y="0"/>
                  </a:cubicBezTo>
                  <a:close/>
                </a:path>
              </a:pathLst>
            </a:custGeom>
            <a:blipFill>
              <a:blip r:embed="rId5"/>
              <a:stretch>
                <a:fillRect t="-18569" b="-18569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짧게 vs 자세하게, 결과 비교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20283" y="7854436"/>
            <a:ext cx="352806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"고양이"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AI가 알아서 아무거나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05641" y="7854436"/>
            <a:ext cx="352806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"창가에서 햇살을 받으며 졸고 있는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주황색 고양이, 수채화 스타일"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20283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❌ 짧은 프롬프트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05641" y="7263141"/>
            <a:ext cx="3528064" cy="41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✅ 자세한 프롬프트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꼭 알아야 할 개념 4가지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859623" cy="19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필수 개념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모델 (Model)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할루시네이션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토큰 (Token)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API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22994" y="4303307"/>
            <a:ext cx="4785385" cy="304800"/>
            <a:chOff x="0" y="0"/>
            <a:chExt cx="6380513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다음 말을 예측하는 AI의 두뇌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135542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그럴듯하지만 틀린 답 (환각)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592422" y="4303307"/>
            <a:ext cx="4752200" cy="304800"/>
            <a:chOff x="0" y="0"/>
            <a:chExt cx="6336266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323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 글을 자르는 조각 단위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03966" y="7251663"/>
            <a:ext cx="4785659" cy="304800"/>
            <a:chOff x="0" y="0"/>
            <a:chExt cx="6380879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7692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프로그램끼리 대화하는 창구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22994" y="4790276"/>
            <a:ext cx="4753926" cy="304800"/>
            <a:chOff x="0" y="0"/>
            <a:chExt cx="6338568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예) GPT, Gemini, Claude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135542" y="7738632"/>
            <a:ext cx="4760288" cy="304800"/>
            <a:chOff x="0" y="0"/>
            <a:chExt cx="6347050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4309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중요한 정보는 꼭 직접 확인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592422" y="4790276"/>
            <a:ext cx="4785385" cy="304800"/>
            <a:chOff x="0" y="0"/>
            <a:chExt cx="6380513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토큰 == 사용량 == 요금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03966" y="7738632"/>
            <a:ext cx="4817118" cy="304800"/>
            <a:chOff x="0" y="0"/>
            <a:chExt cx="6422824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118871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AI를 빌려 나만의 서비스 제작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 flipV="1"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문장이 퍼즐 조각(토큰)으로 잘려 AI 로봇에게 들어가는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토큰 == 사용량 == 요금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길게 보낼수록 빨리 소진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Plus 요금제도 한도가 있어요!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 글을 읽는 단위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토큰(Token)이란?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문장을 작은 조각(토큰)으로 자름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자르는 기준은 사람과 다름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 번에 읽을 수 있는 양에 한도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틀린 차트를 자신 있게 보여주는 로봇과 고개를 갸우뚱하는 사람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출처·숫자·날짜는 꼭 재확인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"모르면 모른다고 해줘" 지시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코드는 직접 실행해서 확인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그럴듯한 거짓말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할루시네이션이란?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사실이 아닌 내용을 자신 있게 답함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창의성의 다른 얼굴 (0%는 불가능)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검색보다 요약·아이디어에 활용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5대 원칙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859623" cy="19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⑤ 일관성 유지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구체적 지시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맥락 제공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명확한 단어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구조 형식화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30859" y="4303307"/>
            <a:ext cx="4769655" cy="304800"/>
            <a:chOff x="0" y="0"/>
            <a:chExt cx="6359540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5558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역할 + 작업 + 결과 형태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004856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왜 필요한지 이유 알려주기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600287" y="4303307"/>
            <a:ext cx="4752200" cy="304800"/>
            <a:chOff x="0" y="0"/>
            <a:chExt cx="6336266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323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헷갈리는 말 피하기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91422" y="7251663"/>
            <a:ext cx="4769930" cy="304800"/>
            <a:chOff x="0" y="0"/>
            <a:chExt cx="6359906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5595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원하는 양식(틀) 보여주기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30859" y="4790276"/>
            <a:ext cx="4753926" cy="304800"/>
            <a:chOff x="0" y="0"/>
            <a:chExt cx="6338568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"시 10줄을 프랑스 스타일로"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004856" y="7738632"/>
            <a:ext cx="4760288" cy="304800"/>
            <a:chOff x="0" y="0"/>
            <a:chExt cx="6347050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4309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배경지식·참고 자료 함께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600287" y="4790276"/>
            <a:ext cx="4769655" cy="304800"/>
            <a:chOff x="0" y="0"/>
            <a:chExt cx="6359540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5558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"배" → "배(Ship)"처럼 콕 집기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91422" y="7738632"/>
            <a:ext cx="4754200" cy="304800"/>
            <a:chOff x="0" y="0"/>
            <a:chExt cx="6338934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034981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"이름: [ ] / 성격: [ ]"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7874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이렇게 말고, 이렇게!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731994"/>
          <a:ext cx="14853407" cy="3917156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9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원칙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❌ 나쁜 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✅ 좋은 예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① 구체적 지시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"시 써줘"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"프랑스 스타일로 '숲속 나무' 시를 10줄로 써줘"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② 명확한 단어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"배의 영향 알려줘"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"배(Ship)가 인류 역사에 준 영향을 알려줘"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③ 맥락 제공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"콩쥐팥쥐 가사 써줘"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줄거리를 먼저 설명하고 → "이걸 바탕으로 가사 써줘"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④ 구조 형식화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"캐릭터 만들어줘"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"이름: [ ] / 외모: [ ] / 성격: [ ] 형식으로 만들어줘"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다양한 프롬프트 기법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w="9525" cap="flat">
            <a:solidFill>
              <a:srgbClr val="5053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3048547" y="3118668"/>
            <a:ext cx="263252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기법이란?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83625" y="3078692"/>
            <a:ext cx="840475" cy="714403"/>
          </a:xfrm>
          <a:custGeom>
            <a:avLst/>
            <a:gdLst/>
            <a:ahLst/>
            <a:cxnLst/>
            <a:rect l="l" t="t" r="r" b="b"/>
            <a:pathLst>
              <a:path w="840475" h="714403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746" y="2933210"/>
            <a:ext cx="981654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AI가 더 잘 알아듣게 만드는 '말하기 요령'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11가지 기법을 3가지로 묶었어요!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5928" y="4639191"/>
            <a:ext cx="4832311" cy="3960188"/>
            <a:chOff x="0" y="0"/>
            <a:chExt cx="1272707" cy="1043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6923" y="4639191"/>
            <a:ext cx="4832311" cy="3960188"/>
            <a:chOff x="0" y="0"/>
            <a:chExt cx="1272707" cy="10430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47917" y="4639191"/>
            <a:ext cx="4832311" cy="3960188"/>
            <a:chOff x="0" y="0"/>
            <a:chExt cx="1272707" cy="10430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12939" y="6825195"/>
            <a:ext cx="381154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Few-shot · Q&amp;A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이어쓰기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3350" y="6825195"/>
            <a:ext cx="381945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역할 지정 · 멀티 페르소나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형식 지정 · 마크다운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849" y="6825195"/>
            <a:ext cx="37679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CoT · Zero-shot CoT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Self-Consistency · ReAct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5302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예시 보여주기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9668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역할·형식 정하기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64034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생각하게 하기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2893526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그룹 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534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그룹 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39267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그룹 03</a:t>
            </a:r>
          </a:p>
        </p:txBody>
      </p:sp>
      <p:sp>
        <p:nvSpPr>
          <p:cNvPr id="42" name="Freeform 42"/>
          <p:cNvSpPr/>
          <p:nvPr/>
        </p:nvSpPr>
        <p:spPr>
          <a:xfrm>
            <a:off x="3173163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33976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07771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예시 0개 == Zero-shot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예시 1개 == One-shot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역할은 사람이 아니어도 OK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예시와 역할 주기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기법 ① Few-shot · 역할 지정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Few-shot: 정답 예시 1~3개 보여주기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역할 지정: "너는 ○○야"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둘을 섞으면 효과 UP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예시 + 역할을 함께 주기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43325"/>
            <a:ext cx="7524750" cy="3681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너는 친절한 카페 사장님이야.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아래 예시처럼 메뉴 소개를 써줘.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endParaRPr lang="en-US" sz="22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예시)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아메리카노: 고소하고 깔끔한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기본 커피 ☕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endParaRPr lang="en-US" sz="22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라떼:</a:t>
            </a:r>
          </a:p>
          <a:p>
            <a:pPr marL="0" lvl="0" indent="0" algn="l">
              <a:lnSpc>
                <a:spcPts val="3262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녹차 라떼: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결과 모양이 매번 같아짐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양식은 복사해서 재사용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2차시 Markdown 기호 활용!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틀을 정해서 요청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기법 ② 형식 지정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#명령문: 무엇을 할지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#제약조건: 지켜야 할 규칙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#입력문·#출력형식: 재료와 모양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4단락 템플릿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52850"/>
            <a:ext cx="7524750" cy="4465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#명령문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당신은 여행 작가입니다.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조건에 맞게 여행지를 추천해 주세요.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endParaRPr lang="en-US" sz="19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#제약조건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국내 여행지 3곳만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한 곳당 2줄 이내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endParaRPr lang="en-US" sz="19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#입력문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기간: 1박 2일 / 인원: 친구 2명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endParaRPr lang="en-US" sz="19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#출력형식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[여행지 이름] : [추천 이유]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기법 ③ 생각하게 하기: CoT · ReAct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731994"/>
          <a:ext cx="14853407" cy="3917156"/>
        </p:xfrm>
        <a:graphic>
          <a:graphicData uri="http://schemas.openxmlformats.org/drawingml/2006/table">
            <a:tbl>
              <a:tblPr/>
              <a:tblGrid>
                <a:gridCol w="3495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92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CoT (생각의 사슬)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ReAct (생각 + 행동)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핵심 아이디어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풀이 과정을 단계별로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생각 → 행동(검색) → 관찰을 반복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마법의 한 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"단계별로 생각해줘"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"필요하면 찾아보고, 이유를 말하면서 답해줘"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잘 맞는 일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계산 · 논리 문제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최신 정보나 자료 확인이 필요한 질문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0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더 알아보기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Zero-shot CoT · Self-Consistency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72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950" u="none" strike="noStrike">
                          <a:solidFill>
                            <a:srgbClr val="333333"/>
                          </a:solidFill>
                          <a:latin typeface="프리젠테이션"/>
                          <a:ea typeface="프리젠테이션"/>
                          <a:cs typeface="프리젠테이션"/>
                          <a:sym typeface="프리젠테이션"/>
                        </a:rPr>
                        <a:t>Antigravity 같은 에이전트가 일하는 방식!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- 15 -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⏱ 약 5분 소요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❌ 버전은 입력하지 않아도 OK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5대 원칙이 몇 개 들어갔을까?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실습 순서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1] 프롬프트 개선하기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my-intro 폴더를 2.0에서 열기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✅ 프롬프트만 복사해 입력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브라우저 새로고침(F5)으로 확인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✅ 프롬프트를 2.0 채팅창에 입력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52850"/>
            <a:ext cx="7524750" cy="343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❌ 자기소개 페이지 예쁘게 바꿔줘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endParaRPr lang="en-US" sz="19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너는 웹 디자이너야.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index.html의 자기소개 문단만 수정해줘.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관심사 3가지를 목록으로 정리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말투는 친근하게, 3문장 이내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다른 부분은 건드리지 말 것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endParaRPr lang="en-US" sz="195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변경한 부분만 수정하고,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설명은 3줄 이내로.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토큰 아끼는 법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6024486" y="2898323"/>
            <a:ext cx="0" cy="1053640"/>
          </a:xfrm>
          <a:prstGeom prst="line">
            <a:avLst/>
          </a:prstGeom>
          <a:ln w="9525" cap="flat">
            <a:solidFill>
              <a:srgbClr val="50535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3048547" y="3118668"/>
            <a:ext cx="263252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33333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기억할 것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83625" y="3078692"/>
            <a:ext cx="840475" cy="714403"/>
          </a:xfrm>
          <a:custGeom>
            <a:avLst/>
            <a:gdLst/>
            <a:ahLst/>
            <a:cxnLst/>
            <a:rect l="l" t="t" r="r" b="b"/>
            <a:pathLst>
              <a:path w="840475" h="714403">
                <a:moveTo>
                  <a:pt x="0" y="0"/>
                </a:moveTo>
                <a:lnTo>
                  <a:pt x="840474" y="0"/>
                </a:lnTo>
                <a:lnTo>
                  <a:pt x="840474" y="714404"/>
                </a:lnTo>
                <a:lnTo>
                  <a:pt x="0" y="7144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506746" y="2933210"/>
            <a:ext cx="9816540" cy="9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대화가 길어지고, 붙여넣는 내용이 많을수록 토큰이 빨리 줄어요.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Plus 요금제도 한도가 있으니 아래 세 가지를 지켜 주세요!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705928" y="4639191"/>
            <a:ext cx="4832311" cy="3960188"/>
            <a:chOff x="0" y="0"/>
            <a:chExt cx="1272707" cy="10430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26923" y="4639191"/>
            <a:ext cx="4832311" cy="3960188"/>
            <a:chOff x="0" y="0"/>
            <a:chExt cx="1272707" cy="10430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747917" y="4639191"/>
            <a:ext cx="4832311" cy="3960188"/>
            <a:chOff x="0" y="0"/>
            <a:chExt cx="1272707" cy="104301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72707" cy="1043012"/>
            </a:xfrm>
            <a:custGeom>
              <a:avLst/>
              <a:gdLst/>
              <a:ahLst/>
              <a:cxnLst/>
              <a:rect l="l" t="t" r="r" b="b"/>
              <a:pathLst>
                <a:path w="1272707" h="1043012">
                  <a:moveTo>
                    <a:pt x="24032" y="0"/>
                  </a:moveTo>
                  <a:lnTo>
                    <a:pt x="1248676" y="0"/>
                  </a:lnTo>
                  <a:cubicBezTo>
                    <a:pt x="1261948" y="0"/>
                    <a:pt x="1272707" y="10759"/>
                    <a:pt x="1272707" y="24032"/>
                  </a:cubicBezTo>
                  <a:lnTo>
                    <a:pt x="1272707" y="1018981"/>
                  </a:lnTo>
                  <a:cubicBezTo>
                    <a:pt x="1272707" y="1032253"/>
                    <a:pt x="1261948" y="1043012"/>
                    <a:pt x="1248676" y="1043012"/>
                  </a:cubicBezTo>
                  <a:lnTo>
                    <a:pt x="24032" y="1043012"/>
                  </a:lnTo>
                  <a:cubicBezTo>
                    <a:pt x="17658" y="1043012"/>
                    <a:pt x="11546" y="1040481"/>
                    <a:pt x="7039" y="1035974"/>
                  </a:cubicBezTo>
                  <a:cubicBezTo>
                    <a:pt x="2532" y="1031467"/>
                    <a:pt x="0" y="1025354"/>
                    <a:pt x="0" y="1018981"/>
                  </a:cubicBezTo>
                  <a:lnTo>
                    <a:pt x="0" y="24032"/>
                  </a:lnTo>
                  <a:cubicBezTo>
                    <a:pt x="0" y="10759"/>
                    <a:pt x="10759" y="0"/>
                    <a:pt x="24032" y="0"/>
                  </a:cubicBezTo>
                  <a:close/>
                </a:path>
              </a:pathLst>
            </a:custGeom>
            <a:solidFill>
              <a:srgbClr val="747EA3"/>
            </a:solidFill>
            <a:ln cap="sq">
              <a:noFill/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1272707" cy="1071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12939" y="6825195"/>
            <a:ext cx="381154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한 번에 한 가지만 요청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"설명은 3줄 이내로"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233350" y="6825195"/>
            <a:ext cx="381945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"○○ 부분만 수정해줘"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파일을 통째로 붙여넣지 않기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50849" y="6825195"/>
            <a:ext cx="3767925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주제가 바뀌면 새 채팅 열기</a:t>
            </a:r>
          </a:p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000" b="1" u="none" strike="noStrike" spc="-40">
                <a:solidFill>
                  <a:srgbClr val="FEFEFE">
                    <a:alpha val="81961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가벼운 모델(Flash 등) 선택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15302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짧고 정확하게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39668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범위는 좁게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864034" y="5598734"/>
            <a:ext cx="4606821" cy="549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07"/>
              </a:lnSpc>
              <a:spcBef>
                <a:spcPct val="0"/>
              </a:spcBef>
            </a:pPr>
            <a:r>
              <a:rPr lang="en-US" sz="2799" b="1" u="none" strike="noStrike" spc="-97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새 대화로 시작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037627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7061993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2086359" y="6457826"/>
            <a:ext cx="4162171" cy="0"/>
          </a:xfrm>
          <a:prstGeom prst="line">
            <a:avLst/>
          </a:prstGeom>
          <a:ln w="9525" cap="rnd">
            <a:solidFill>
              <a:srgbClr val="FEFEF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9" name="TextBox 39"/>
          <p:cNvSpPr txBox="1"/>
          <p:nvPr/>
        </p:nvSpPr>
        <p:spPr>
          <a:xfrm>
            <a:off x="2893526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534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39267" y="5209263"/>
            <a:ext cx="2483896" cy="19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7"/>
              </a:lnSpc>
              <a:spcBef>
                <a:spcPct val="0"/>
              </a:spcBef>
            </a:pPr>
            <a:r>
              <a:rPr lang="en-US" sz="1599" b="1" u="none" strike="noStrike" spc="95">
                <a:solidFill>
                  <a:srgbClr val="FEFEFE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TIP 03</a:t>
            </a:r>
          </a:p>
        </p:txBody>
      </p:sp>
      <p:sp>
        <p:nvSpPr>
          <p:cNvPr id="42" name="Freeform 42"/>
          <p:cNvSpPr/>
          <p:nvPr/>
        </p:nvSpPr>
        <p:spPr>
          <a:xfrm>
            <a:off x="3173163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8233976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3" y="0"/>
                </a:lnTo>
                <a:lnTo>
                  <a:pt x="180073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3207771" y="5212756"/>
            <a:ext cx="180073" cy="137305"/>
          </a:xfrm>
          <a:custGeom>
            <a:avLst/>
            <a:gdLst/>
            <a:ahLst/>
            <a:cxnLst/>
            <a:rect l="l" t="t" r="r" b="b"/>
            <a:pathLst>
              <a:path w="180073" h="137305">
                <a:moveTo>
                  <a:pt x="0" y="0"/>
                </a:moveTo>
                <a:lnTo>
                  <a:pt x="180072" y="0"/>
                </a:lnTo>
                <a:lnTo>
                  <a:pt x="180072" y="137305"/>
                </a:lnTo>
                <a:lnTo>
                  <a:pt x="0" y="137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10분 쉬어 갈게요!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19:40에 다시 시작합니다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파트: 컨텍스트 엔지니어링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실습 1에서 수정한 index.html을 그대로 이어서 씁니다.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1" name="Freeform 21" descr="녹차 한 잔과 노트북, 시계가 있는 휴식 일러스트"/>
          <p:cNvSpPr/>
          <p:nvPr/>
        </p:nvSpPr>
        <p:spPr>
          <a:xfrm>
            <a:off x="6191250" y="2143125"/>
            <a:ext cx="5905500" cy="3324225"/>
          </a:xfrm>
          <a:custGeom>
            <a:avLst/>
            <a:gdLst/>
            <a:ahLst/>
            <a:cxnLst/>
            <a:rect l="l" t="t" r="r" b="b"/>
            <a:pathLst>
              <a:path w="5905500" h="3324225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7" r="-147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컨텍스트 엔지니어링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30분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47750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컨텍스트란? · TCREI 프레임워크 · 실습 2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책상 위 문서와 예시, 체크리스트를 읽는 AI 로봇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AI는 내 상황을 전혀 모름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모르면 엉뚱하게 추측함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필요한 것만 골라서 주기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AI에게 주는 배경 자료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컨텍스트(Context)란?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== "무엇을 해줘"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컨텍스트 == 그 일에 필요한 배경·자료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둘을 함께 설계하는 것이 핵심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TCREI 프레임워크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0" y="9280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- 21 -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28750" y="3800693"/>
            <a:ext cx="2667000" cy="3143250"/>
            <a:chOff x="0" y="0"/>
            <a:chExt cx="3556000" cy="419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3800693"/>
            <a:ext cx="2667000" cy="3143250"/>
            <a:chOff x="0" y="0"/>
            <a:chExt cx="3556000" cy="4191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715250" y="3800693"/>
            <a:ext cx="2667000" cy="3143250"/>
            <a:chOff x="0" y="0"/>
            <a:chExt cx="3556000" cy="419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58500" y="3800693"/>
            <a:ext cx="2667000" cy="3143250"/>
            <a:chOff x="0" y="0"/>
            <a:chExt cx="3556000" cy="4191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001750" y="3800693"/>
            <a:ext cx="2667000" cy="3143250"/>
            <a:chOff x="0" y="0"/>
            <a:chExt cx="3556000" cy="4191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28750" y="3753068"/>
            <a:ext cx="26670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72000" y="3753068"/>
            <a:ext cx="26670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5250" y="3753068"/>
            <a:ext cx="26670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58500" y="3753068"/>
            <a:ext cx="26670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001750" y="3753068"/>
            <a:ext cx="266700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82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71625" y="5324693"/>
            <a:ext cx="23812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Task · 작업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무엇을 할지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구체적인 목표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714875" y="5324693"/>
            <a:ext cx="23812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Context · 배경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상황과 환경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지켜야 할 조건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858125" y="5324693"/>
            <a:ext cx="23812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Reference · 참조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따라 할 예시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참고 자료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01375" y="5324693"/>
            <a:ext cx="23812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Evaluate · 평가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성공 기준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확인 방법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144625" y="5324693"/>
            <a:ext cx="238125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Iterate · 반복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결과를 보고</a:t>
            </a:r>
          </a:p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조금씩 개선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33850" y="5048468"/>
            <a:ext cx="41910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277100" y="5048468"/>
            <a:ext cx="41910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0350" y="5048468"/>
            <a:ext cx="41910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563600" y="5048468"/>
            <a:ext cx="41910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5170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85875" y="2754848"/>
            <a:ext cx="15240000" cy="47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747EA3"/>
                </a:solidFill>
                <a:latin typeface="Arimo Bold"/>
                <a:ea typeface="Arimo Bold"/>
                <a:cs typeface="Arimo Bold"/>
                <a:sym typeface="Arimo Bold"/>
              </a:rPr>
              <a:t>좋은 요청의 5가지 재료 (구글 권장 가이드)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8750" y="7458293"/>
            <a:ext cx="15240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↻  결과가 아쉬우면 다시 T부터!  한 번에 완벽한 프롬프트는 없어요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모호하면 AI가 마음대로 결정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"뭐 좀", "알아서"는 금지어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동사는 분명하게: 추가·변경·삭제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목표를 한 문장으로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[T] Task · 무엇을 할지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무엇을 만들지 딱 한 문장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대상(파일·섹션)을 정확히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개수·범위 같은 조건 포함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❌ 모호한 요청 vs ✅ Task 요청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333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❌ 페이지에 뭐 좀 추가해줘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[Task]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index.html에 '올해 목표' 섹션을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새로 추가해줘.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목표는 3개야.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무엇을(대상) + 어떻게(동사)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+ 얼마나(조건)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모르는 부분은 AI가 추측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환경부터 먼저 주기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많다고 좋은 건 아님 (토큰!)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상황을 알려주기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[C] Context · 배경과 환경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역할: 누구의 관점으로?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현재 상태: 지금 무엇이 있나?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제약: 꼭 지켜야 할 조건은?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✅ Context를 덧붙이기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2966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[Context]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너는 웹 디자이너야.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이 페이지는 HTML 파일 하나로 된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나의 자기소개 페이지야.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외부 라이브러리는 쓰지 마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기존 내용은 그대로 둬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역할 + 현재 상태 + 제약 조건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말보다 예시가 정확함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페이지 전체가 통일된 느낌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이미지(스케치)도 참조 가능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예시로 보여주기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[R] Reference · 따라 할 예시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기존 부분의 스타일을 복제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원하는 모양을 예시로 제시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Few-shot의 응용!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✅ Reference를 덧붙이기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333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[Reference]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기존 '자기소개' 섹션과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같은 글꼴 · 색상 · 여백을 따라해.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카드 하나는 이런 모양으로: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🎯 목표 제목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한 줄 설명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"이것처럼" 보여주기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기준이 없으면 '대충' 완성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확인 가능한 조건으로 쓰기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 스스로 점검하게 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성공 기준 정하기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[E] Evaluate · 성공 기준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어떤 모습이면 성공인가?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눈으로 확인할 수 있게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환각을 막는 안전장치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✅ Evaluate를 덧붙이기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[Evaluate]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완성 조건: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목표 카드 3개가 한 줄로 보일 것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휴대폰 화면에서도 깨지지 않을 것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- 기존 섹션은 바뀌지 않을 것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'다 됐다'의 기준을 적어주기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- 25 -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 번에 완벽할 필요 없음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'전부 다시' 대신 '이것만'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반복은 2~3회면 충분 (토큰!)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피드백으로 다듬기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[I] Iterate · 반복해서 개선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결과를 직접 보고 확인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아쉬운 점 한 가지만 요청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에러는 그대로 복사해 전달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✅ 결과를 보고 한 번 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3337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✅ [Iterate]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끝나면 내가 확인할 점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1가지만 알려줘.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(결과를 확인한 뒤)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카드 간격이 너무 좁아.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간격만 조금 넓혀줘.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한 번에 하나씩, 조금씩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- 26 -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⏱ 약 7분 소요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목표 예: 운동 · 독서 · 여행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추가 수정은 1회까지만 (토큰!)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실습 순서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2] TCREI로 새 섹션 추가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실습 1과 같은 대화창에 이어서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목표 3개는 내 것으로 적기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결과를 보고 1번만 수정 요청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Antigravity 2.0 채팅창에 입력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401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[Task] index.html에 '올해 목표'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섹션을 추가해줘.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[Context] HTML 파일 하나로 된 자기소개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페이지야. 외부 라이브러리는 쓰지 마.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[Reference] 기존 자기소개 섹션과 같은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글꼴·색상·여백을 따라해.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[Evaluate] 목표 3개가 카드로 보이고,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휴대폰 화면에서도 깨지지 않을 것.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[Iterate] 끝나면 내가 확인할 점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1가지만 알려줘.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변경한 부분만 수정하고,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설명은 3줄 이내로.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- 27 -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TCREI 전/후 비교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1717296" y="3352813"/>
          <a:ext cx="14608955" cy="4949666"/>
        </p:xfrm>
        <a:graphic>
          <a:graphicData uri="http://schemas.openxmlformats.org/drawingml/2006/table">
            <a:tbl>
              <a:tblPr/>
              <a:tblGrid>
                <a:gridCol w="2818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8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2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946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❌ 일반 프롬프트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b="1" u="none" strike="noStrike">
                          <a:solidFill>
                            <a:srgbClr val="FEFEFE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✅ TCREI 프롬프트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17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요청 내용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"목표 섹션 추가해줘"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목표 · 환경 · 예시 · 기준 · 피드백을 다섯 줄로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AI의 추측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많음 (개수·디자인 제멋대로)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거의 없음 → 내가 원하는 모습 그대로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875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수정 횟수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여러 번 (토큰 낭비)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1~2번이면 충분 (토큰 절약)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92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333333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나의 역할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31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650" b="1" u="none" strike="noStrike">
                          <a:solidFill>
                            <a:srgbClr val="FF0000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하나하나 고치는 사람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280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000" b="1" u="none" strike="noStrike">
                          <a:solidFill>
                            <a:srgbClr val="5170FF"/>
                          </a:solidFill>
                          <a:latin typeface="프리젠테이션 Bold"/>
                          <a:ea typeface="프리젠테이션 Bold"/>
                          <a:cs typeface="프리젠테이션 Bold"/>
                          <a:sym typeface="프리젠테이션 Bold"/>
                        </a:rPr>
                        <a:t>방향을 지휘하는 사람 (오케스트레이터)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3B3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- 28 -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쉬는 시간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수고했어요! 10분 휴식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20:20에 다시 시작합니다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파트: 하네스 · 루프 엔지니어링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AI에게 규칙을 정해주고, 스스로 반복하게 만들기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1" name="Freeform 21" descr="녹차 한 잔과 노트북, 시계가 있는 휴식 일러스트"/>
          <p:cNvSpPr/>
          <p:nvPr/>
        </p:nvSpPr>
        <p:spPr>
          <a:xfrm>
            <a:off x="6191250" y="2143125"/>
            <a:ext cx="5905500" cy="3324225"/>
          </a:xfrm>
          <a:custGeom>
            <a:avLst/>
            <a:gdLst/>
            <a:ahLst/>
            <a:cxnLst/>
            <a:rect l="l" t="t" r="r" b="b"/>
            <a:pathLst>
              <a:path w="5905500" h="3324225">
                <a:moveTo>
                  <a:pt x="0" y="0"/>
                </a:moveTo>
                <a:lnTo>
                  <a:pt x="5905500" y="0"/>
                </a:lnTo>
                <a:lnTo>
                  <a:pt x="5905500" y="3324225"/>
                </a:lnTo>
                <a:lnTo>
                  <a:pt x="0" y="3324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7" r="-147"/>
            </a:stretch>
          </a:blipFill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2557664"/>
            <a:ext cx="14882105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PART 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3813005"/>
            <a:ext cx="12382500" cy="1533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193"/>
              </a:lnSpc>
              <a:spcBef>
                <a:spcPct val="0"/>
              </a:spcBef>
            </a:pPr>
            <a:r>
              <a:rPr lang="en-US" sz="9601" b="1" u="none" strike="noStrike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 · 루프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61238" y="6029828"/>
            <a:ext cx="10520872" cy="341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1"/>
              </a:lnSpc>
              <a:spcBef>
                <a:spcPct val="0"/>
              </a:spcBef>
            </a:pPr>
            <a:r>
              <a:rPr lang="en-US" sz="1799" b="1" u="none" strike="noStrike" spc="-17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⏱ 교육 시간 30분 · 20:20 ~ 20:50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43870" y="5460741"/>
            <a:ext cx="10953750" cy="4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67"/>
              </a:lnSpc>
              <a:spcBef>
                <a:spcPct val="0"/>
              </a:spcBef>
            </a:pPr>
            <a:r>
              <a:rPr lang="en-US" sz="2799" b="1" u="none" strike="noStrike" spc="-114">
                <a:solidFill>
                  <a:srgbClr val="000000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규칙으로 지키고(하네스), 스스로 반복하게(루프)</a:t>
            </a:r>
          </a:p>
        </p:txBody>
      </p:sp>
      <p:sp>
        <p:nvSpPr>
          <p:cNvPr id="22" name="AutoShape 22"/>
          <p:cNvSpPr/>
          <p:nvPr/>
        </p:nvSpPr>
        <p:spPr>
          <a:xfrm flipH="1" flipV="1">
            <a:off x="4613382" y="7266893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2443870" y="7187244"/>
            <a:ext cx="2074261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20"/>
              </a:lnSpc>
              <a:spcBef>
                <a:spcPct val="0"/>
              </a:spcBef>
            </a:pPr>
            <a:r>
              <a:rPr lang="en-US" sz="2000" b="1" u="none" strike="noStrike" spc="-80">
                <a:solidFill>
                  <a:srgbClr val="222222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2000" b="1" u="none" strike="noStrike" spc="-80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3801" y="7278683"/>
            <a:ext cx="2358365" cy="24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0"/>
              </a:lnSpc>
              <a:spcBef>
                <a:spcPct val="0"/>
              </a:spcBef>
            </a:pPr>
            <a:r>
              <a:rPr lang="en-US" sz="2000" b="1" u="none" strike="noStrike" spc="3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</a:t>
            </a:r>
          </a:p>
        </p:txBody>
      </p:sp>
      <p:sp>
        <p:nvSpPr>
          <p:cNvPr id="25" name="AutoShape 25"/>
          <p:cNvSpPr/>
          <p:nvPr/>
        </p:nvSpPr>
        <p:spPr>
          <a:xfrm>
            <a:off x="2461238" y="6934831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야생마와 마구를 찬 말을 비교하는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규칙 파일 (AGENTS.md)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자동 검사 (테스트·로그)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어기면 막는 장치 (훅)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AI의 안전장치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하네스(Harness)란?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 = 말에 채우는 마구(고삐·안장)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AI가 정해진 길로만 달리게 하는 장치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말로 부탁 ❌ → 규칙·시스템으로 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- 31 -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 구조: 3겹 방어막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0" y="9280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- 32 -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857500" y="2667000"/>
            <a:ext cx="5905500" cy="5905500"/>
            <a:chOff x="0" y="0"/>
            <a:chExt cx="7874000" cy="7874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74000" cy="7874000"/>
            </a:xfrm>
            <a:custGeom>
              <a:avLst/>
              <a:gdLst/>
              <a:ahLst/>
              <a:cxnLst/>
              <a:rect l="l" t="t" r="r" b="b"/>
              <a:pathLst>
                <a:path w="7874000" h="7874000">
                  <a:moveTo>
                    <a:pt x="3937000" y="0"/>
                  </a:moveTo>
                  <a:cubicBezTo>
                    <a:pt x="6111345" y="0"/>
                    <a:pt x="7874000" y="1762655"/>
                    <a:pt x="7874000" y="3937000"/>
                  </a:cubicBezTo>
                  <a:cubicBezTo>
                    <a:pt x="7874000" y="6111345"/>
                    <a:pt x="6111345" y="7874000"/>
                    <a:pt x="3937000" y="7874000"/>
                  </a:cubicBezTo>
                  <a:cubicBezTo>
                    <a:pt x="1762655" y="7874000"/>
                    <a:pt x="0" y="6111345"/>
                    <a:pt x="0" y="3937000"/>
                  </a:cubicBezTo>
                  <a:cubicBezTo>
                    <a:pt x="0" y="1762655"/>
                    <a:pt x="1762655" y="0"/>
                    <a:pt x="3937000" y="0"/>
                  </a:cubicBezTo>
                  <a:close/>
                </a:path>
              </a:pathLst>
            </a:custGeom>
            <a:solidFill>
              <a:srgbClr val="DFE5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874000" cy="791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14750" y="3524250"/>
            <a:ext cx="4191000" cy="4191000"/>
            <a:chOff x="0" y="0"/>
            <a:chExt cx="5588000" cy="5588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88000" cy="5588000"/>
            </a:xfrm>
            <a:custGeom>
              <a:avLst/>
              <a:gdLst/>
              <a:ahLst/>
              <a:cxnLst/>
              <a:rect l="l" t="t" r="r" b="b"/>
              <a:pathLst>
                <a:path w="5588000" h="5588000">
                  <a:moveTo>
                    <a:pt x="2794000" y="0"/>
                  </a:moveTo>
                  <a:cubicBezTo>
                    <a:pt x="4337083" y="0"/>
                    <a:pt x="5588000" y="1250916"/>
                    <a:pt x="5588000" y="2794000"/>
                  </a:cubicBezTo>
                  <a:cubicBezTo>
                    <a:pt x="5588000" y="4337083"/>
                    <a:pt x="4337083" y="5588000"/>
                    <a:pt x="2794000" y="5588000"/>
                  </a:cubicBezTo>
                  <a:cubicBezTo>
                    <a:pt x="1250916" y="5588000"/>
                    <a:pt x="0" y="4337083"/>
                    <a:pt x="0" y="2794000"/>
                  </a:cubicBezTo>
                  <a:cubicBezTo>
                    <a:pt x="0" y="1250916"/>
                    <a:pt x="1250916" y="0"/>
                    <a:pt x="2794000" y="0"/>
                  </a:cubicBezTo>
                  <a:close/>
                </a:path>
              </a:pathLst>
            </a:custGeom>
            <a:solidFill>
              <a:srgbClr val="A9B8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72000" y="4381500"/>
            <a:ext cx="2476500" cy="2476500"/>
            <a:chOff x="0" y="0"/>
            <a:chExt cx="3302000" cy="3302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302000" cy="3302000"/>
            </a:xfrm>
            <a:custGeom>
              <a:avLst/>
              <a:gdLst/>
              <a:ahLst/>
              <a:cxnLst/>
              <a:rect l="l" t="t" r="r" b="b"/>
              <a:pathLst>
                <a:path w="3302000" h="3302000">
                  <a:moveTo>
                    <a:pt x="1651000" y="0"/>
                  </a:moveTo>
                  <a:cubicBezTo>
                    <a:pt x="2562822" y="0"/>
                    <a:pt x="3302000" y="739178"/>
                    <a:pt x="3302000" y="1651000"/>
                  </a:cubicBezTo>
                  <a:cubicBezTo>
                    <a:pt x="3302000" y="2562822"/>
                    <a:pt x="2562822" y="3302000"/>
                    <a:pt x="1651000" y="3302000"/>
                  </a:cubicBezTo>
                  <a:cubicBezTo>
                    <a:pt x="739178" y="3302000"/>
                    <a:pt x="0" y="2562822"/>
                    <a:pt x="0" y="1651000"/>
                  </a:cubicBezTo>
                  <a:cubicBezTo>
                    <a:pt x="0" y="739178"/>
                    <a:pt x="739178" y="0"/>
                    <a:pt x="1651000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302000" cy="334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381500" y="2847975"/>
            <a:ext cx="28575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③ 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1500" y="3705225"/>
            <a:ext cx="28575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② 피드백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72000" y="4981575"/>
            <a:ext cx="2476500" cy="950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① 규칙</a:t>
            </a:r>
          </a:p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🤖 AI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715500" y="2857500"/>
            <a:ext cx="6858000" cy="1619250"/>
            <a:chOff x="0" y="0"/>
            <a:chExt cx="9144000" cy="2159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144000" cy="2159000"/>
            </a:xfrm>
            <a:custGeom>
              <a:avLst/>
              <a:gdLst/>
              <a:ahLst/>
              <a:cxnLst/>
              <a:rect l="l" t="t" r="r" b="b"/>
              <a:pathLst>
                <a:path w="9144000" h="2159000">
                  <a:moveTo>
                    <a:pt x="35278" y="0"/>
                  </a:moveTo>
                  <a:lnTo>
                    <a:pt x="9108722" y="0"/>
                  </a:lnTo>
                  <a:cubicBezTo>
                    <a:pt x="9128206" y="0"/>
                    <a:pt x="9144000" y="15794"/>
                    <a:pt x="9144000" y="35278"/>
                  </a:cubicBezTo>
                  <a:lnTo>
                    <a:pt x="9144000" y="2123722"/>
                  </a:lnTo>
                  <a:cubicBezTo>
                    <a:pt x="9144000" y="2143206"/>
                    <a:pt x="9128206" y="2159000"/>
                    <a:pt x="9108722" y="2159000"/>
                  </a:cubicBezTo>
                  <a:lnTo>
                    <a:pt x="35278" y="2159000"/>
                  </a:lnTo>
                  <a:cubicBezTo>
                    <a:pt x="15794" y="2159000"/>
                    <a:pt x="0" y="2143206"/>
                    <a:pt x="0" y="2123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144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5500" y="4810125"/>
            <a:ext cx="6858000" cy="1619250"/>
            <a:chOff x="0" y="0"/>
            <a:chExt cx="9144000" cy="2159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2159000"/>
            </a:xfrm>
            <a:custGeom>
              <a:avLst/>
              <a:gdLst/>
              <a:ahLst/>
              <a:cxnLst/>
              <a:rect l="l" t="t" r="r" b="b"/>
              <a:pathLst>
                <a:path w="9144000" h="2159000">
                  <a:moveTo>
                    <a:pt x="35278" y="0"/>
                  </a:moveTo>
                  <a:lnTo>
                    <a:pt x="9108722" y="0"/>
                  </a:lnTo>
                  <a:cubicBezTo>
                    <a:pt x="9128206" y="0"/>
                    <a:pt x="9144000" y="15794"/>
                    <a:pt x="9144000" y="35278"/>
                  </a:cubicBezTo>
                  <a:lnTo>
                    <a:pt x="9144000" y="2123722"/>
                  </a:lnTo>
                  <a:cubicBezTo>
                    <a:pt x="9144000" y="2143206"/>
                    <a:pt x="9128206" y="2159000"/>
                    <a:pt x="9108722" y="2159000"/>
                  </a:cubicBezTo>
                  <a:lnTo>
                    <a:pt x="35278" y="2159000"/>
                  </a:lnTo>
                  <a:cubicBezTo>
                    <a:pt x="15794" y="2159000"/>
                    <a:pt x="0" y="2143206"/>
                    <a:pt x="0" y="2123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144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15500" y="6762750"/>
            <a:ext cx="6858000" cy="1619250"/>
            <a:chOff x="0" y="0"/>
            <a:chExt cx="9144000" cy="2159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144000" cy="2159000"/>
            </a:xfrm>
            <a:custGeom>
              <a:avLst/>
              <a:gdLst/>
              <a:ahLst/>
              <a:cxnLst/>
              <a:rect l="l" t="t" r="r" b="b"/>
              <a:pathLst>
                <a:path w="9144000" h="2159000">
                  <a:moveTo>
                    <a:pt x="35278" y="0"/>
                  </a:moveTo>
                  <a:lnTo>
                    <a:pt x="9108722" y="0"/>
                  </a:lnTo>
                  <a:cubicBezTo>
                    <a:pt x="9128206" y="0"/>
                    <a:pt x="9144000" y="15794"/>
                    <a:pt x="9144000" y="35278"/>
                  </a:cubicBezTo>
                  <a:lnTo>
                    <a:pt x="9144000" y="2123722"/>
                  </a:lnTo>
                  <a:cubicBezTo>
                    <a:pt x="9144000" y="2143206"/>
                    <a:pt x="9128206" y="2159000"/>
                    <a:pt x="9108722" y="2159000"/>
                  </a:cubicBezTo>
                  <a:lnTo>
                    <a:pt x="35278" y="2159000"/>
                  </a:lnTo>
                  <a:cubicBezTo>
                    <a:pt x="15794" y="2159000"/>
                    <a:pt x="0" y="2143206"/>
                    <a:pt x="0" y="2123722"/>
                  </a:cubicBezTo>
                  <a:lnTo>
                    <a:pt x="0" y="35278"/>
                  </a:lnTo>
                  <a:cubicBezTo>
                    <a:pt x="0" y="15794"/>
                    <a:pt x="15794" y="0"/>
                    <a:pt x="35278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9144000" cy="219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096500" y="3105150"/>
            <a:ext cx="62865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① 1차 · 규칙 파일</a:t>
            </a:r>
          </a:p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📄 AGENTS.md로 필요한 규칙만 알려주기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096500" y="5057775"/>
            <a:ext cx="62865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② 2차 · 피드백 루프</a:t>
            </a:r>
          </a:p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🔁 오류·테스트 결과를 AI가 보고 스스로 수정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096500" y="7010400"/>
            <a:ext cx="628650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③ 3차 · 시스템 훅</a:t>
            </a:r>
          </a:p>
          <a:p>
            <a:pPr algn="l">
              <a:lnSpc>
                <a:spcPts val="4079"/>
              </a:lnSpc>
            </a:pPr>
            <a:r>
              <a:rPr lang="en-US" sz="24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🚫 규칙을 어기면 저장 자체를 차단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 설계 4대 원칙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717296" y="2898323"/>
            <a:ext cx="7335408" cy="2752701"/>
            <a:chOff x="0" y="0"/>
            <a:chExt cx="1931959" cy="72499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17296" y="5846679"/>
            <a:ext cx="7335408" cy="2752701"/>
            <a:chOff x="0" y="0"/>
            <a:chExt cx="1931959" cy="72499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244821" y="2898323"/>
            <a:ext cx="7335408" cy="2752701"/>
            <a:chOff x="0" y="0"/>
            <a:chExt cx="1931959" cy="7249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244821" y="5846679"/>
            <a:ext cx="7335408" cy="2752701"/>
            <a:chOff x="0" y="0"/>
            <a:chExt cx="1931959" cy="72499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31959" cy="724991"/>
            </a:xfrm>
            <a:custGeom>
              <a:avLst/>
              <a:gdLst/>
              <a:ahLst/>
              <a:cxnLst/>
              <a:rect l="l" t="t" r="r" b="b"/>
              <a:pathLst>
                <a:path w="1931959" h="724991">
                  <a:moveTo>
                    <a:pt x="15831" y="0"/>
                  </a:moveTo>
                  <a:lnTo>
                    <a:pt x="1916128" y="0"/>
                  </a:lnTo>
                  <a:cubicBezTo>
                    <a:pt x="1920327" y="0"/>
                    <a:pt x="1924353" y="1668"/>
                    <a:pt x="1927322" y="4637"/>
                  </a:cubicBezTo>
                  <a:cubicBezTo>
                    <a:pt x="1930291" y="7606"/>
                    <a:pt x="1931959" y="11633"/>
                    <a:pt x="1931959" y="15831"/>
                  </a:cubicBezTo>
                  <a:lnTo>
                    <a:pt x="1931959" y="709160"/>
                  </a:lnTo>
                  <a:cubicBezTo>
                    <a:pt x="1931959" y="713359"/>
                    <a:pt x="1930291" y="717385"/>
                    <a:pt x="1927322" y="720354"/>
                  </a:cubicBezTo>
                  <a:cubicBezTo>
                    <a:pt x="1924353" y="723323"/>
                    <a:pt x="1920327" y="724991"/>
                    <a:pt x="1916128" y="724991"/>
                  </a:cubicBezTo>
                  <a:lnTo>
                    <a:pt x="15831" y="724991"/>
                  </a:lnTo>
                  <a:cubicBezTo>
                    <a:pt x="11633" y="724991"/>
                    <a:pt x="7606" y="723323"/>
                    <a:pt x="4637" y="720354"/>
                  </a:cubicBezTo>
                  <a:cubicBezTo>
                    <a:pt x="1668" y="717385"/>
                    <a:pt x="0" y="713359"/>
                    <a:pt x="0" y="709160"/>
                  </a:cubicBezTo>
                  <a:lnTo>
                    <a:pt x="0" y="15831"/>
                  </a:lnTo>
                  <a:cubicBezTo>
                    <a:pt x="0" y="11633"/>
                    <a:pt x="1668" y="7606"/>
                    <a:pt x="4637" y="4637"/>
                  </a:cubicBezTo>
                  <a:cubicBezTo>
                    <a:pt x="7606" y="1668"/>
                    <a:pt x="11633" y="0"/>
                    <a:pt x="15831" y="0"/>
                  </a:cubicBezTo>
                  <a:close/>
                </a:path>
              </a:pathLst>
            </a:custGeom>
            <a:solidFill>
              <a:srgbClr val="EAEAEA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28575"/>
              <a:ext cx="1931959" cy="6964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12059" y="5378921"/>
            <a:ext cx="3263882" cy="851964"/>
            <a:chOff x="0" y="0"/>
            <a:chExt cx="859623" cy="2243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59623" cy="224386"/>
            </a:xfrm>
            <a:custGeom>
              <a:avLst/>
              <a:gdLst/>
              <a:ahLst/>
              <a:cxnLst/>
              <a:rect l="l" t="t" r="r" b="b"/>
              <a:pathLst>
                <a:path w="859623" h="224386">
                  <a:moveTo>
                    <a:pt x="35580" y="0"/>
                  </a:moveTo>
                  <a:lnTo>
                    <a:pt x="824043" y="0"/>
                  </a:lnTo>
                  <a:cubicBezTo>
                    <a:pt x="833480" y="0"/>
                    <a:pt x="842530" y="3749"/>
                    <a:pt x="849202" y="10421"/>
                  </a:cubicBezTo>
                  <a:cubicBezTo>
                    <a:pt x="855875" y="17094"/>
                    <a:pt x="859623" y="26144"/>
                    <a:pt x="859623" y="35580"/>
                  </a:cubicBezTo>
                  <a:lnTo>
                    <a:pt x="859623" y="188806"/>
                  </a:lnTo>
                  <a:cubicBezTo>
                    <a:pt x="859623" y="208456"/>
                    <a:pt x="843694" y="224386"/>
                    <a:pt x="824043" y="224386"/>
                  </a:cubicBezTo>
                  <a:lnTo>
                    <a:pt x="35580" y="224386"/>
                  </a:lnTo>
                  <a:cubicBezTo>
                    <a:pt x="26144" y="224386"/>
                    <a:pt x="17094" y="220637"/>
                    <a:pt x="10421" y="213964"/>
                  </a:cubicBezTo>
                  <a:cubicBezTo>
                    <a:pt x="3749" y="207292"/>
                    <a:pt x="0" y="198242"/>
                    <a:pt x="0" y="188806"/>
                  </a:cubicBezTo>
                  <a:lnTo>
                    <a:pt x="0" y="35580"/>
                  </a:lnTo>
                  <a:cubicBezTo>
                    <a:pt x="0" y="26144"/>
                    <a:pt x="3749" y="17094"/>
                    <a:pt x="10421" y="10421"/>
                  </a:cubicBezTo>
                  <a:cubicBezTo>
                    <a:pt x="17094" y="3749"/>
                    <a:pt x="26144" y="0"/>
                    <a:pt x="35580" y="0"/>
                  </a:cubicBezTo>
                  <a:close/>
                </a:path>
              </a:pathLst>
            </a:custGeom>
            <a:solidFill>
              <a:srgbClr val="5170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28575"/>
              <a:ext cx="859623" cy="195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4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512059" y="5550371"/>
            <a:ext cx="3263882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4대 원칙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20968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환경 바꾸기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20968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규칙은 조금씩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8493" y="3254392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실패에서 시작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548493" y="6202748"/>
            <a:ext cx="4728065" cy="484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6"/>
              </a:lnSpc>
              <a:spcBef>
                <a:spcPct val="0"/>
              </a:spcBef>
            </a:pPr>
            <a:r>
              <a:rPr lang="en-US" sz="3200" b="1" u="none" strike="noStrike" spc="-6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④ 시스템으로 강제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3122994" y="4303307"/>
            <a:ext cx="4785385" cy="304800"/>
            <a:chOff x="0" y="0"/>
            <a:chExt cx="6380513" cy="406400"/>
          </a:xfrm>
        </p:grpSpPr>
        <p:sp>
          <p:nvSpPr>
            <p:cNvPr id="38" name="TextBox 38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AI를 바꾸지 말고 환경을 바꾸기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3135542" y="7251663"/>
            <a:ext cx="4753926" cy="304800"/>
            <a:chOff x="0" y="0"/>
            <a:chExt cx="6338568" cy="406400"/>
          </a:xfrm>
        </p:grpSpPr>
        <p:sp>
          <p:nvSpPr>
            <p:cNvPr id="41" name="TextBox 41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필요할 때 필요한 규칙만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0592422" y="4303307"/>
            <a:ext cx="4752200" cy="304800"/>
            <a:chOff x="0" y="0"/>
            <a:chExt cx="6336266" cy="406400"/>
          </a:xfrm>
        </p:grpSpPr>
        <p:sp>
          <p:nvSpPr>
            <p:cNvPr id="44" name="TextBox 44"/>
            <p:cNvSpPr txBox="1"/>
            <p:nvPr/>
          </p:nvSpPr>
          <p:spPr>
            <a:xfrm>
              <a:off x="303953" y="-76200"/>
              <a:ext cx="6032313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AI가 틀린 곳 == 규칙 추가 지점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0503966" y="7251663"/>
            <a:ext cx="4785659" cy="304800"/>
            <a:chOff x="0" y="0"/>
            <a:chExt cx="6380879" cy="406400"/>
          </a:xfrm>
        </p:grpSpPr>
        <p:sp>
          <p:nvSpPr>
            <p:cNvPr id="47" name="TextBox 47"/>
            <p:cNvSpPr txBox="1"/>
            <p:nvPr/>
          </p:nvSpPr>
          <p:spPr>
            <a:xfrm>
              <a:off x="303953" y="-76200"/>
              <a:ext cx="6076926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"부탁해" 대신 자동 차단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3122994" y="4790276"/>
            <a:ext cx="4753926" cy="304800"/>
            <a:chOff x="0" y="0"/>
            <a:chExt cx="6338568" cy="406400"/>
          </a:xfrm>
        </p:grpSpPr>
        <p:sp>
          <p:nvSpPr>
            <p:cNvPr id="50" name="TextBox 50"/>
            <p:cNvSpPr txBox="1"/>
            <p:nvPr/>
          </p:nvSpPr>
          <p:spPr>
            <a:xfrm>
              <a:off x="303953" y="-76200"/>
              <a:ext cx="6034615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예: 폴더에 규칙 파일 두기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3135542" y="7738632"/>
            <a:ext cx="4760288" cy="304800"/>
            <a:chOff x="0" y="0"/>
            <a:chExt cx="6347050" cy="406400"/>
          </a:xfrm>
        </p:grpSpPr>
        <p:sp>
          <p:nvSpPr>
            <p:cNvPr id="53" name="TextBox 53"/>
            <p:cNvSpPr txBox="1"/>
            <p:nvPr/>
          </p:nvSpPr>
          <p:spPr>
            <a:xfrm>
              <a:off x="303953" y="-76200"/>
              <a:ext cx="6043097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한 번에 다 주면 AI도 헷갈림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592422" y="4790276"/>
            <a:ext cx="4785385" cy="304800"/>
            <a:chOff x="0" y="0"/>
            <a:chExt cx="6380513" cy="406400"/>
          </a:xfrm>
        </p:grpSpPr>
        <p:sp>
          <p:nvSpPr>
            <p:cNvPr id="56" name="TextBox 56"/>
            <p:cNvSpPr txBox="1"/>
            <p:nvPr/>
          </p:nvSpPr>
          <p:spPr>
            <a:xfrm>
              <a:off x="303953" y="-76200"/>
              <a:ext cx="607656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같은 실수를 다시 못 하게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8" name="Group 58"/>
          <p:cNvGrpSpPr/>
          <p:nvPr/>
        </p:nvGrpSpPr>
        <p:grpSpPr>
          <a:xfrm>
            <a:off x="10503966" y="7738632"/>
            <a:ext cx="4817118" cy="304800"/>
            <a:chOff x="0" y="0"/>
            <a:chExt cx="6422824" cy="406400"/>
          </a:xfrm>
        </p:grpSpPr>
        <p:sp>
          <p:nvSpPr>
            <p:cNvPr id="59" name="TextBox 59"/>
            <p:cNvSpPr txBox="1"/>
            <p:nvPr/>
          </p:nvSpPr>
          <p:spPr>
            <a:xfrm>
              <a:off x="303953" y="-76200"/>
              <a:ext cx="6118871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000000">
                      <a:alpha val="6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예: 저장 전 자동 검사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13089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AutoShape 61"/>
          <p:cNvSpPr/>
          <p:nvPr/>
        </p:nvSpPr>
        <p:spPr>
          <a:xfrm>
            <a:off x="3020968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>
            <a:off x="3020968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3" name="AutoShape 63"/>
          <p:cNvSpPr/>
          <p:nvPr/>
        </p:nvSpPr>
        <p:spPr>
          <a:xfrm flipV="1">
            <a:off x="10548493" y="3946119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10548493" y="6894476"/>
            <a:ext cx="4728065" cy="0"/>
          </a:xfrm>
          <a:prstGeom prst="line">
            <a:avLst/>
          </a:prstGeom>
          <a:ln w="9525" cap="rnd">
            <a:solidFill>
              <a:srgbClr val="747EA3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5" name="TextBox 65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- 33 -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17" name="Freeform 1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포인트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실무 사례: 어기면 저장이 막힌다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사람의 기억 대신 기계가 검사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어기면 무조건 멈춤 (예외 없음)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오류 메시지 == AI의 다음 힌트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🛡️ 저장 전 자동 검사(시스템 훅) 흐름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47875" y="3667125"/>
            <a:ext cx="7715250" cy="387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① AI: "다 됐어요, 저장할게요"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    ↓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② 훅: 규칙 검사 자동 실행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- 금지된 색상을 썼나?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- 비밀번호가 코드에 들어갔나?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    ↓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③ 통과 ✅ → 저장 완료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위반 ❌ → 저장 차단!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"빨간색은 사용 금지입니다"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    ↓</a:t>
            </a:r>
          </a:p>
          <a:p>
            <a:pPr marL="0" lvl="0" indent="0" algn="l">
              <a:lnSpc>
                <a:spcPts val="2835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④ AI가 오류를 읽고 스스로 수정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- 34 -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67975" y="6096000"/>
            <a:ext cx="7096125" cy="2495550"/>
            <a:chOff x="0" y="0"/>
            <a:chExt cx="9461500" cy="3327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461500" cy="3327400"/>
            </a:xfrm>
            <a:custGeom>
              <a:avLst/>
              <a:gdLst/>
              <a:ahLst/>
              <a:cxnLst/>
              <a:rect l="l" t="t" r="r" b="b"/>
              <a:pathLst>
                <a:path w="9461500" h="3327400">
                  <a:moveTo>
                    <a:pt x="34094" y="0"/>
                  </a:moveTo>
                  <a:lnTo>
                    <a:pt x="9427406" y="0"/>
                  </a:lnTo>
                  <a:cubicBezTo>
                    <a:pt x="9446236" y="0"/>
                    <a:pt x="9461500" y="15264"/>
                    <a:pt x="9461500" y="34094"/>
                  </a:cubicBezTo>
                  <a:lnTo>
                    <a:pt x="9461500" y="3293306"/>
                  </a:lnTo>
                  <a:cubicBezTo>
                    <a:pt x="9461500" y="3312135"/>
                    <a:pt x="9446236" y="3327400"/>
                    <a:pt x="9427406" y="3327400"/>
                  </a:cubicBezTo>
                  <a:lnTo>
                    <a:pt x="34094" y="3327400"/>
                  </a:lnTo>
                  <a:cubicBezTo>
                    <a:pt x="15264" y="3327400"/>
                    <a:pt x="0" y="3312135"/>
                    <a:pt x="0" y="3293306"/>
                  </a:cubicBezTo>
                  <a:lnTo>
                    <a:pt x="0" y="34094"/>
                  </a:lnTo>
                  <a:cubicBezTo>
                    <a:pt x="0" y="15264"/>
                    <a:pt x="15264" y="0"/>
                    <a:pt x="34094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461500" cy="336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810875" y="6562725"/>
            <a:ext cx="6477000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🏢 비유하면?</a:t>
            </a:r>
          </a:p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출입 카드 없으면 문이 안 열리는 사무실</a:t>
            </a:r>
          </a:p>
          <a:p>
            <a:pPr algn="l">
              <a:lnSpc>
                <a:spcPts val="3825"/>
              </a:lnSpc>
            </a:pPr>
            <a:r>
              <a:rPr lang="en-US" sz="225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→ "들어오지 마세요" 부탁 대신 잠금장치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17" name="Freeform 1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핵심 포인트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하네스·루프를 위한 폴더 구조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AGENTS.md는 짧게, 목차처럼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세부 규칙은 docs/rules로 나누기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실수가 나오면 규칙에 한 줄 추가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b="1" u="none" strike="noStrike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📁 my-intro 프로젝트 폴더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47875" y="3648075"/>
            <a:ext cx="7715250" cy="3799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my-intro/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├── AGENTS.md  ← 항상 읽는 핵심 규칙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├── index.html  ← 결과물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├── docs/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│   ├── rules/  ← 필요할 때만 읽는 규칙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│   │   ├── design.md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│   │   └── content.md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│   └── progress.md  ← 진행 기록 (State)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└── checks/</a:t>
            </a:r>
          </a:p>
          <a:p>
            <a:pPr marL="0" lvl="0" indent="0" algn="l">
              <a:lnSpc>
                <a:spcPts val="3037"/>
              </a:lnSpc>
              <a:spcBef>
                <a:spcPct val="0"/>
              </a:spcBef>
            </a:pPr>
            <a:r>
              <a:rPr lang="en-US" sz="2025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 └── checklist.md  ← 점검 기준 (Verify)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- 35 -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467975" y="6096000"/>
            <a:ext cx="7096125" cy="2495550"/>
            <a:chOff x="0" y="0"/>
            <a:chExt cx="9461500" cy="33274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461500" cy="3327400"/>
            </a:xfrm>
            <a:custGeom>
              <a:avLst/>
              <a:gdLst/>
              <a:ahLst/>
              <a:cxnLst/>
              <a:rect l="l" t="t" r="r" b="b"/>
              <a:pathLst>
                <a:path w="9461500" h="3327400">
                  <a:moveTo>
                    <a:pt x="34094" y="0"/>
                  </a:moveTo>
                  <a:lnTo>
                    <a:pt x="9427406" y="0"/>
                  </a:lnTo>
                  <a:cubicBezTo>
                    <a:pt x="9446236" y="0"/>
                    <a:pt x="9461500" y="15264"/>
                    <a:pt x="9461500" y="34094"/>
                  </a:cubicBezTo>
                  <a:lnTo>
                    <a:pt x="9461500" y="3293306"/>
                  </a:lnTo>
                  <a:cubicBezTo>
                    <a:pt x="9461500" y="3312135"/>
                    <a:pt x="9446236" y="3327400"/>
                    <a:pt x="9427406" y="3327400"/>
                  </a:cubicBezTo>
                  <a:lnTo>
                    <a:pt x="34094" y="3327400"/>
                  </a:lnTo>
                  <a:cubicBezTo>
                    <a:pt x="15264" y="3327400"/>
                    <a:pt x="0" y="3312135"/>
                    <a:pt x="0" y="3293306"/>
                  </a:cubicBezTo>
                  <a:lnTo>
                    <a:pt x="0" y="34094"/>
                  </a:lnTo>
                  <a:cubicBezTo>
                    <a:pt x="0" y="15264"/>
                    <a:pt x="15264" y="0"/>
                    <a:pt x="34094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9461500" cy="3365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777538" y="6423660"/>
            <a:ext cx="6477000" cy="192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25"/>
              </a:lnSpc>
              <a:spcBef>
                <a:spcPct val="0"/>
              </a:spcBef>
            </a:pPr>
            <a:r>
              <a:rPr lang="en-US" sz="2250" b="1" u="none" strike="noStrike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🛠️ 도구마다 규칙 파일 이름이 달라요</a:t>
            </a:r>
          </a:p>
          <a:p>
            <a:pPr marL="485775" lvl="1" indent="-242888" algn="l">
              <a:lnSpc>
                <a:spcPts val="3825"/>
              </a:lnSpc>
              <a:buFont typeface="Arial"/>
              <a:buChar char="•"/>
            </a:pPr>
            <a:r>
              <a:rPr lang="en-US" sz="2250" b="1" u="none" strike="noStrike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Codex → AGENTS.md</a:t>
            </a:r>
          </a:p>
          <a:p>
            <a:pPr marL="485775" lvl="1" indent="-242888" algn="l">
              <a:lnSpc>
                <a:spcPts val="3825"/>
              </a:lnSpc>
              <a:buFont typeface="Arial"/>
              <a:buChar char="•"/>
            </a:pPr>
            <a:r>
              <a:rPr lang="en-US" sz="2250" b="1" u="none" strike="noStrike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Claude → CLAUDE.md</a:t>
            </a:r>
          </a:p>
          <a:p>
            <a:pPr marL="485775" lvl="1" indent="-242888" algn="l">
              <a:lnSpc>
                <a:spcPts val="3825"/>
              </a:lnSpc>
              <a:buFont typeface="Arial"/>
              <a:buChar char="•"/>
            </a:pPr>
            <a:r>
              <a:rPr lang="en-US" sz="2250" b="1" u="none" strike="noStrike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Antigravity → .agent/rules/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⏱ 약 7분 소요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거절하거나 되물으면 성공!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그냥 바꾸면 손 들어주세요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실습 순서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3] AGENTS.md 규칙 파일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규칙 파일 만들기 요청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AGENTS.md 내용 눈으로 확인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빨간색 요청 → AI 반응 보기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Antigravity 2.0 채팅창에 입력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3709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프로젝트 폴더에 AGENTS.md를 만들고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아래 규칙을 적어줘.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1. index.html 한 파일만 수정한다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2. 색상은 파란색(#5170ff) 계열만 쓴다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3. 수정 후 변경 요약을 3줄로 남긴다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4. 모르면 추측하지 말고 질문한다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u="none" strike="noStrike">
              <a:solidFill>
                <a:srgbClr val="EEF1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👉 다음 입력(테스트):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배경을 빨간색으로 바꿔줘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- 36 -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717296" y="2898323"/>
            <a:ext cx="8207164" cy="5701057"/>
            <a:chOff x="0" y="0"/>
            <a:chExt cx="1170096" cy="812800"/>
          </a:xfrm>
        </p:grpSpPr>
        <p:sp>
          <p:nvSpPr>
            <p:cNvPr id="17" name="Freeform 17" descr="로봇이 계획·실행·검사를 원을 그리며 반복하는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4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하네스 = 규칙 / 루프 = 반복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사람은 목표·승인만 담당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무한 반복 방지 = 횟수 제한!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9" name="Freeform 29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스스로 도는 작업 순환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루프(Loop)란?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목표를 주면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AI가 계획 → 실행 → 검사를 반복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끝날 때까지 돌고 스스로 멈춤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- 37 -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768468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66675"/>
              <a:ext cx="16393653" cy="949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루프의 6가지 요소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845660" y="5336790"/>
            <a:ext cx="4104431" cy="2926074"/>
            <a:chOff x="0" y="0"/>
            <a:chExt cx="5472575" cy="3901432"/>
          </a:xfrm>
        </p:grpSpPr>
        <p:sp>
          <p:nvSpPr>
            <p:cNvPr id="22" name="TextBox 22"/>
            <p:cNvSpPr txBox="1"/>
            <p:nvPr/>
          </p:nvSpPr>
          <p:spPr>
            <a:xfrm>
              <a:off x="326998" y="2366002"/>
              <a:ext cx="4818580" cy="1535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Automation · Worktrees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정해진 때 알아서 실행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작업끼리 안 섞이게 분리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① 자동화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② 작업공간 분리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91784" y="5336790"/>
            <a:ext cx="4104431" cy="2926074"/>
            <a:chOff x="0" y="0"/>
            <a:chExt cx="5472575" cy="3901432"/>
          </a:xfrm>
        </p:grpSpPr>
        <p:sp>
          <p:nvSpPr>
            <p:cNvPr id="26" name="TextBox 26"/>
            <p:cNvSpPr txBox="1"/>
            <p:nvPr/>
          </p:nvSpPr>
          <p:spPr>
            <a:xfrm>
              <a:off x="275465" y="2366002"/>
              <a:ext cx="4921645" cy="1535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Skill · Connectors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자주 쓰는 방법 저장·재사용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메일·캘린더 등 외부 연결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③ 스킬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④ 커넥터</a:t>
              </a:r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47433" y="5336790"/>
            <a:ext cx="4104431" cy="2926074"/>
            <a:chOff x="0" y="0"/>
            <a:chExt cx="5472575" cy="3901432"/>
          </a:xfrm>
        </p:grpSpPr>
        <p:sp>
          <p:nvSpPr>
            <p:cNvPr id="30" name="TextBox 30"/>
            <p:cNvSpPr txBox="1"/>
            <p:nvPr/>
          </p:nvSpPr>
          <p:spPr>
            <a:xfrm>
              <a:off x="344175" y="2366002"/>
              <a:ext cx="4784225" cy="1535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Sub-agents · State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일을 나눠 맡는 보조 AI</a:t>
              </a:r>
            </a:p>
            <a:p>
              <a:pPr marL="0" lvl="0" indent="0"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025" b="1" u="none" strike="noStrike" spc="-40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어디까지 했는지 기록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⑤ 하위 에이전트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⑥ 상태 기록</a:t>
              </a:r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- 38 -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루프의 5단계 동작 방식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82000" y="9280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- 39 -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28750" y="3143250"/>
            <a:ext cx="2667000" cy="3143250"/>
            <a:chOff x="0" y="0"/>
            <a:chExt cx="3556000" cy="419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72000" y="3143250"/>
            <a:ext cx="2667000" cy="3143250"/>
            <a:chOff x="0" y="0"/>
            <a:chExt cx="3556000" cy="4191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715250" y="3143250"/>
            <a:ext cx="2667000" cy="3143250"/>
            <a:chOff x="0" y="0"/>
            <a:chExt cx="3556000" cy="4191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58500" y="3143250"/>
            <a:ext cx="2667000" cy="3143250"/>
            <a:chOff x="0" y="0"/>
            <a:chExt cx="3556000" cy="4191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EEF1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001750" y="3143250"/>
            <a:ext cx="2667000" cy="3143250"/>
            <a:chOff x="0" y="0"/>
            <a:chExt cx="3556000" cy="4191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556000" cy="4191000"/>
            </a:xfrm>
            <a:custGeom>
              <a:avLst/>
              <a:gdLst/>
              <a:ahLst/>
              <a:cxnLst/>
              <a:rect l="l" t="t" r="r" b="b"/>
              <a:pathLst>
                <a:path w="3556000" h="4191000">
                  <a:moveTo>
                    <a:pt x="108857" y="0"/>
                  </a:moveTo>
                  <a:lnTo>
                    <a:pt x="3447143" y="0"/>
                  </a:lnTo>
                  <a:cubicBezTo>
                    <a:pt x="3476013" y="0"/>
                    <a:pt x="3503702" y="11469"/>
                    <a:pt x="3524117" y="31884"/>
                  </a:cubicBezTo>
                  <a:cubicBezTo>
                    <a:pt x="3544531" y="52298"/>
                    <a:pt x="3556000" y="79986"/>
                    <a:pt x="3556000" y="108857"/>
                  </a:cubicBezTo>
                  <a:lnTo>
                    <a:pt x="3556000" y="4082143"/>
                  </a:lnTo>
                  <a:cubicBezTo>
                    <a:pt x="3556000" y="4111013"/>
                    <a:pt x="3544531" y="4138702"/>
                    <a:pt x="3524117" y="4159117"/>
                  </a:cubicBezTo>
                  <a:cubicBezTo>
                    <a:pt x="3503702" y="4179531"/>
                    <a:pt x="3476013" y="4191000"/>
                    <a:pt x="3447143" y="4191000"/>
                  </a:cubicBezTo>
                  <a:lnTo>
                    <a:pt x="108857" y="4191000"/>
                  </a:lnTo>
                  <a:cubicBezTo>
                    <a:pt x="79986" y="4191000"/>
                    <a:pt x="52298" y="4179531"/>
                    <a:pt x="31884" y="4159117"/>
                  </a:cubicBezTo>
                  <a:cubicBezTo>
                    <a:pt x="11469" y="4138702"/>
                    <a:pt x="0" y="4111013"/>
                    <a:pt x="0" y="4082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5560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428750" y="3267075"/>
            <a:ext cx="266700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72000" y="3267075"/>
            <a:ext cx="266700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📝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5250" y="3267075"/>
            <a:ext cx="266700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🛠️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58500" y="3267075"/>
            <a:ext cx="266700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001750" y="3267075"/>
            <a:ext cx="266700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🔁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28750" y="4324350"/>
            <a:ext cx="2667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① Discover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72000" y="4324350"/>
            <a:ext cx="2667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② Plan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15250" y="4324350"/>
            <a:ext cx="2667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③ Execute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858500" y="4324350"/>
            <a:ext cx="2667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④ Verify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001750" y="4324350"/>
            <a:ext cx="2667000" cy="44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⑤ Iterate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28750" y="4981575"/>
            <a:ext cx="266700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목표 탐색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개선점 찾기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72000" y="4981575"/>
            <a:ext cx="266700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계획 수립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순서 정하기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715250" y="4981575"/>
            <a:ext cx="266700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실행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실제로 수정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858500" y="4981575"/>
            <a:ext cx="266700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검증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2D3350"/>
                </a:solidFill>
                <a:latin typeface="Arimo Bold"/>
                <a:ea typeface="Arimo Bold"/>
                <a:cs typeface="Arimo Bold"/>
                <a:sym typeface="Arimo Bold"/>
              </a:rPr>
              <a:t>규칙·결과 점검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001750" y="4981575"/>
            <a:ext cx="2667000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반복·완료</a:t>
            </a:r>
          </a:p>
          <a:p>
            <a:pPr algn="ctr">
              <a:lnSpc>
                <a:spcPts val="315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고치거나 멈추기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14800" y="4419600"/>
            <a:ext cx="43815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A9B8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58050" y="4419600"/>
            <a:ext cx="43815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A9B8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401300" y="4419600"/>
            <a:ext cx="43815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A9B8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544550" y="4419600"/>
            <a:ext cx="43815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A9B8FF"/>
                </a:solidFill>
                <a:latin typeface="Arimo"/>
                <a:ea typeface="Arimo"/>
                <a:cs typeface="Arimo"/>
                <a:sym typeface="Arimo"/>
              </a:rPr>
              <a:t>▶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3429000" y="6762750"/>
            <a:ext cx="11430000" cy="857250"/>
            <a:chOff x="0" y="0"/>
            <a:chExt cx="15240000" cy="1143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240000" cy="1143000"/>
            </a:xfrm>
            <a:custGeom>
              <a:avLst/>
              <a:gdLst/>
              <a:ahLst/>
              <a:cxnLst/>
              <a:rect l="l" t="t" r="r" b="b"/>
              <a:pathLst>
                <a:path w="15240000" h="1143000">
                  <a:moveTo>
                    <a:pt x="47625" y="0"/>
                  </a:moveTo>
                  <a:lnTo>
                    <a:pt x="15192375" y="0"/>
                  </a:lnTo>
                  <a:cubicBezTo>
                    <a:pt x="15218677" y="0"/>
                    <a:pt x="15240000" y="21322"/>
                    <a:pt x="15240000" y="47625"/>
                  </a:cubicBezTo>
                  <a:lnTo>
                    <a:pt x="15240000" y="1095375"/>
                  </a:lnTo>
                  <a:cubicBezTo>
                    <a:pt x="15240000" y="1121678"/>
                    <a:pt x="15218677" y="1143000"/>
                    <a:pt x="15192375" y="1143000"/>
                  </a:cubicBezTo>
                  <a:lnTo>
                    <a:pt x="47625" y="1143000"/>
                  </a:lnTo>
                  <a:cubicBezTo>
                    <a:pt x="21322" y="1143000"/>
                    <a:pt x="0" y="1121678"/>
                    <a:pt x="0" y="109537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rgbClr val="DFE5FF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5240000" cy="1181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3429000" y="6924675"/>
            <a:ext cx="1143000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5170FF"/>
                </a:solidFill>
                <a:latin typeface="Arimo Bold"/>
                <a:ea typeface="Arimo Bold"/>
                <a:cs typeface="Arimo Bold"/>
                <a:sym typeface="Arimo Bold"/>
              </a:rPr>
              <a:t>↩️ ④에서 문제 발견 → ②로 돌아가 다시 (최대 2회)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429000" y="7943850"/>
            <a:ext cx="114300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1">
                <a:solidFill>
                  <a:srgbClr val="747EA3"/>
                </a:solidFill>
                <a:latin typeface="Arimo Bold"/>
                <a:ea typeface="Arimo Bold"/>
                <a:cs typeface="Arimo Bold"/>
                <a:sym typeface="Arimo Bold"/>
              </a:rPr>
              <a:t>사람은 ② Plan 승인만! 나머지는 AI가 스스로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⏱ 약 8분 소요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반복은 최대 2회까지!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계획이 이상하면 승인 거절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3903318" cy="547878"/>
            <a:chOff x="0" y="0"/>
            <a:chExt cx="5204424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4704085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실습 순서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[실습 4] 루프 프롬프트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① 프롬프트 입력 → 계획 확인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② 계획이 괜찮으면 "진행해"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③ 브라우저로 결과 확인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714500" y="2895600"/>
            <a:ext cx="8201025" cy="5695950"/>
            <a:chOff x="0" y="0"/>
            <a:chExt cx="10934700" cy="75946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934700" cy="7594600"/>
            </a:xfrm>
            <a:custGeom>
              <a:avLst/>
              <a:gdLst/>
              <a:ahLst/>
              <a:cxnLst/>
              <a:rect l="l" t="t" r="r" b="b"/>
              <a:pathLst>
                <a:path w="10934700" h="75946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559199"/>
                  </a:lnTo>
                  <a:cubicBezTo>
                    <a:pt x="10934700" y="7578751"/>
                    <a:pt x="10918851" y="7594600"/>
                    <a:pt x="10899299" y="7594600"/>
                  </a:cubicBezTo>
                  <a:lnTo>
                    <a:pt x="35401" y="7594600"/>
                  </a:lnTo>
                  <a:cubicBezTo>
                    <a:pt x="15849" y="7594600"/>
                    <a:pt x="0" y="7578751"/>
                    <a:pt x="0" y="75591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1E223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934700" cy="7632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4500" y="2895600"/>
            <a:ext cx="8201025" cy="609600"/>
            <a:chOff x="0" y="0"/>
            <a:chExt cx="109347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4700" cy="812800"/>
            </a:xfrm>
            <a:custGeom>
              <a:avLst/>
              <a:gdLst/>
              <a:ahLst/>
              <a:cxnLst/>
              <a:rect l="l" t="t" r="r" b="b"/>
              <a:pathLst>
                <a:path w="10934700" h="812800">
                  <a:moveTo>
                    <a:pt x="35401" y="0"/>
                  </a:moveTo>
                  <a:lnTo>
                    <a:pt x="10899299" y="0"/>
                  </a:lnTo>
                  <a:cubicBezTo>
                    <a:pt x="10918851" y="0"/>
                    <a:pt x="10934700" y="15849"/>
                    <a:pt x="10934700" y="35401"/>
                  </a:cubicBezTo>
                  <a:lnTo>
                    <a:pt x="10934700" y="777399"/>
                  </a:lnTo>
                  <a:cubicBezTo>
                    <a:pt x="10934700" y="796951"/>
                    <a:pt x="10918851" y="812800"/>
                    <a:pt x="10899299" y="812800"/>
                  </a:cubicBezTo>
                  <a:lnTo>
                    <a:pt x="35401" y="812800"/>
                  </a:lnTo>
                  <a:cubicBezTo>
                    <a:pt x="15849" y="812800"/>
                    <a:pt x="0" y="796951"/>
                    <a:pt x="0" y="777399"/>
                  </a:cubicBezTo>
                  <a:lnTo>
                    <a:pt x="0" y="35401"/>
                  </a:lnTo>
                  <a:cubicBezTo>
                    <a:pt x="0" y="15849"/>
                    <a:pt x="15849" y="0"/>
                    <a:pt x="35401" y="0"/>
                  </a:cubicBezTo>
                  <a:close/>
                </a:path>
              </a:pathLst>
            </a:custGeom>
            <a:solidFill>
              <a:srgbClr val="2D3350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09347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047875" y="2971800"/>
            <a:ext cx="74295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1">
                <a:solidFill>
                  <a:srgbClr val="A9B8FF"/>
                </a:solidFill>
                <a:latin typeface="Arimo Bold"/>
                <a:ea typeface="Arimo Bold"/>
                <a:cs typeface="Arimo Bold"/>
                <a:sym typeface="Arimo Bold"/>
              </a:rPr>
              <a:t>💬 Antigravity 2.0 채팅창에 입력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43125" y="3762375"/>
            <a:ext cx="7524750" cy="401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아래 순서로 작업해줘.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1. Discover: index.html을 읽고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개선할 점 2가지만 찾기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2. Plan: 계획을 3줄로 보여주고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내 승인 기다리기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3. Execute: 승인되면 수정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4. Verify: AGENTS.md 규칙을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지켰는지 스스로 점검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5. Iterate: 문제가 있으면 1번만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   다시 고치고 멈추기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변경한 부분만 수정하고,</a:t>
            </a:r>
          </a:p>
          <a:p>
            <a:pPr marL="0" lvl="0" indent="0" algn="l">
              <a:lnSpc>
                <a:spcPts val="2632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EEF1FF"/>
                </a:solidFill>
                <a:latin typeface="Arimo"/>
                <a:ea typeface="Arimo"/>
                <a:cs typeface="Arimo"/>
                <a:sym typeface="Arimo"/>
              </a:rPr>
              <a:t>설명은 3줄 이내로.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- 40 -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5" name="Group 15"/>
          <p:cNvGrpSpPr/>
          <p:nvPr/>
        </p:nvGrpSpPr>
        <p:grpSpPr>
          <a:xfrm>
            <a:off x="820604" y="768468"/>
            <a:ext cx="12829802" cy="762000"/>
            <a:chOff x="0" y="0"/>
            <a:chExt cx="17106403" cy="1016000"/>
          </a:xfrm>
        </p:grpSpPr>
        <p:sp>
          <p:nvSpPr>
            <p:cNvPr id="16" name="TextBox 16"/>
            <p:cNvSpPr txBox="1"/>
            <p:nvPr/>
          </p:nvSpPr>
          <p:spPr>
            <a:xfrm>
              <a:off x="712750" y="66675"/>
              <a:ext cx="16393653" cy="949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100"/>
                </a:lnSpc>
                <a:spcBef>
                  <a:spcPct val="0"/>
                </a:spcBef>
              </a:pPr>
              <a:r>
                <a:rPr lang="en-US" sz="5000" b="1" u="none" strike="noStrike" spc="-100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오늘 배운 것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284846"/>
              <a:ext cx="446308" cy="446308"/>
            </a:xfrm>
            <a:custGeom>
              <a:avLst/>
              <a:gdLst/>
              <a:ahLst/>
              <a:cxnLst/>
              <a:rect l="l" t="t" r="r" b="b"/>
              <a:pathLst>
                <a:path w="446308" h="446308">
                  <a:moveTo>
                    <a:pt x="0" y="0"/>
                  </a:moveTo>
                  <a:lnTo>
                    <a:pt x="446308" y="0"/>
                  </a:lnTo>
                  <a:lnTo>
                    <a:pt x="446308" y="446308"/>
                  </a:lnTo>
                  <a:lnTo>
                    <a:pt x="0" y="4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2944444" y="3048665"/>
            <a:ext cx="1906863" cy="1756697"/>
          </a:xfrm>
          <a:custGeom>
            <a:avLst/>
            <a:gdLst/>
            <a:ahLst/>
            <a:cxnLst/>
            <a:rect l="l" t="t" r="r" b="b"/>
            <a:pathLst>
              <a:path w="1906863" h="1756697">
                <a:moveTo>
                  <a:pt x="0" y="0"/>
                </a:moveTo>
                <a:lnTo>
                  <a:pt x="1906863" y="0"/>
                </a:lnTo>
                <a:lnTo>
                  <a:pt x="1906863" y="1756697"/>
                </a:lnTo>
                <a:lnTo>
                  <a:pt x="0" y="1756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176076" y="3176873"/>
            <a:ext cx="1935847" cy="1500282"/>
          </a:xfrm>
          <a:custGeom>
            <a:avLst/>
            <a:gdLst/>
            <a:ahLst/>
            <a:cxnLst/>
            <a:rect l="l" t="t" r="r" b="b"/>
            <a:pathLst>
              <a:path w="1935847" h="1500282">
                <a:moveTo>
                  <a:pt x="0" y="0"/>
                </a:moveTo>
                <a:lnTo>
                  <a:pt x="1935848" y="0"/>
                </a:lnTo>
                <a:lnTo>
                  <a:pt x="1935848" y="1500282"/>
                </a:lnTo>
                <a:lnTo>
                  <a:pt x="0" y="1500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580283" y="3112769"/>
            <a:ext cx="1638732" cy="1628490"/>
          </a:xfrm>
          <a:custGeom>
            <a:avLst/>
            <a:gdLst/>
            <a:ahLst/>
            <a:cxnLst/>
            <a:rect l="l" t="t" r="r" b="b"/>
            <a:pathLst>
              <a:path w="1638732" h="1628490">
                <a:moveTo>
                  <a:pt x="0" y="0"/>
                </a:moveTo>
                <a:lnTo>
                  <a:pt x="1638732" y="0"/>
                </a:lnTo>
                <a:lnTo>
                  <a:pt x="1638732" y="1628489"/>
                </a:lnTo>
                <a:lnTo>
                  <a:pt x="0" y="16284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845660" y="5336790"/>
            <a:ext cx="4104431" cy="3031802"/>
            <a:chOff x="0" y="0"/>
            <a:chExt cx="5472575" cy="4042402"/>
          </a:xfrm>
        </p:grpSpPr>
        <p:sp>
          <p:nvSpPr>
            <p:cNvPr id="22" name="TextBox 22"/>
            <p:cNvSpPr txBox="1"/>
            <p:nvPr/>
          </p:nvSpPr>
          <p:spPr>
            <a:xfrm>
              <a:off x="326998" y="2375527"/>
              <a:ext cx="4818580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구체적·명확하게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맥락·구조·일관성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토큰은 아껴서!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프롬프트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5대 원칙</a:t>
              </a:r>
            </a:p>
          </p:txBody>
        </p:sp>
        <p:sp>
          <p:nvSpPr>
            <p:cNvPr id="24" name="Freeform 24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7091784" y="5336790"/>
            <a:ext cx="4104431" cy="3031802"/>
            <a:chOff x="0" y="0"/>
            <a:chExt cx="5472575" cy="4042402"/>
          </a:xfrm>
        </p:grpSpPr>
        <p:sp>
          <p:nvSpPr>
            <p:cNvPr id="26" name="TextBox 26"/>
            <p:cNvSpPr txBox="1"/>
            <p:nvPr/>
          </p:nvSpPr>
          <p:spPr>
            <a:xfrm>
              <a:off x="275465" y="2375527"/>
              <a:ext cx="4921645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목표·환경·예시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기준·피드백까지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다섯 줄로 전달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컨텍스트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TCREI</a:t>
              </a:r>
            </a:p>
          </p:txBody>
        </p:sp>
        <p:sp>
          <p:nvSpPr>
            <p:cNvPr id="28" name="Freeform 28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2347433" y="5336790"/>
            <a:ext cx="4104431" cy="3031802"/>
            <a:chOff x="0" y="0"/>
            <a:chExt cx="5472575" cy="4042402"/>
          </a:xfrm>
        </p:grpSpPr>
        <p:sp>
          <p:nvSpPr>
            <p:cNvPr id="30" name="TextBox 30"/>
            <p:cNvSpPr txBox="1"/>
            <p:nvPr/>
          </p:nvSpPr>
          <p:spPr>
            <a:xfrm>
              <a:off x="344175" y="2375527"/>
              <a:ext cx="4784225" cy="1666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규칙으로 지키고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5단계로 반복하되</a:t>
              </a:r>
            </a:p>
            <a:p>
              <a:pPr marL="0" lvl="0" indent="0" algn="ctr">
                <a:lnSpc>
                  <a:spcPts val="3375"/>
                </a:lnSpc>
                <a:spcBef>
                  <a:spcPct val="0"/>
                </a:spcBef>
              </a:pPr>
              <a:r>
                <a:rPr lang="en-US" sz="2250" b="1" u="none" strike="noStrike" spc="-44">
                  <a:solidFill>
                    <a:srgbClr val="5170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횟수는 제한!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5472575" cy="1280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하네스</a:t>
              </a:r>
            </a:p>
            <a:p>
              <a:pPr marL="0" lvl="0" indent="0" algn="ctr">
                <a:lnSpc>
                  <a:spcPts val="3776"/>
                </a:lnSpc>
                <a:spcBef>
                  <a:spcPct val="0"/>
                </a:spcBef>
              </a:pPr>
              <a:r>
                <a:rPr lang="en-US" sz="3200" b="1" u="none" strike="noStrike" spc="-64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+ 루프</a:t>
              </a:r>
            </a:p>
          </p:txBody>
        </p:sp>
        <p:sp>
          <p:nvSpPr>
            <p:cNvPr id="32" name="Freeform 32"/>
            <p:cNvSpPr/>
            <p:nvPr/>
          </p:nvSpPr>
          <p:spPr>
            <a:xfrm rot="5400000">
              <a:off x="2619394" y="1804646"/>
              <a:ext cx="233786" cy="228526"/>
            </a:xfrm>
            <a:custGeom>
              <a:avLst/>
              <a:gdLst/>
              <a:ahLst/>
              <a:cxnLst/>
              <a:rect l="l" t="t" r="r" b="b"/>
              <a:pathLst>
                <a:path w="233786" h="228526">
                  <a:moveTo>
                    <a:pt x="0" y="0"/>
                  </a:moveTo>
                  <a:lnTo>
                    <a:pt x="233787" y="0"/>
                  </a:lnTo>
                  <a:lnTo>
                    <a:pt x="233787" y="228526"/>
                  </a:lnTo>
                  <a:lnTo>
                    <a:pt x="0" y="228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- 41 -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Freeform 15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0472784" y="6346709"/>
            <a:ext cx="5384961" cy="2252671"/>
            <a:chOff x="0" y="0"/>
            <a:chExt cx="7179948" cy="300356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179948" cy="3003561"/>
              <a:chOff x="0" y="0"/>
              <a:chExt cx="1418261" cy="59329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418261" cy="593296"/>
              </a:xfrm>
              <a:custGeom>
                <a:avLst/>
                <a:gdLst/>
                <a:ahLst/>
                <a:cxnLst/>
                <a:rect l="l" t="t" r="r" b="b"/>
                <a:pathLst>
                  <a:path w="1418261" h="593296">
                    <a:moveTo>
                      <a:pt x="21565" y="0"/>
                    </a:moveTo>
                    <a:lnTo>
                      <a:pt x="1396696" y="0"/>
                    </a:lnTo>
                    <a:cubicBezTo>
                      <a:pt x="1408606" y="0"/>
                      <a:pt x="1418261" y="9655"/>
                      <a:pt x="1418261" y="21565"/>
                    </a:cubicBezTo>
                    <a:lnTo>
                      <a:pt x="1418261" y="571731"/>
                    </a:lnTo>
                    <a:cubicBezTo>
                      <a:pt x="1418261" y="577450"/>
                      <a:pt x="1415989" y="582935"/>
                      <a:pt x="1411945" y="586980"/>
                    </a:cubicBezTo>
                    <a:cubicBezTo>
                      <a:pt x="1407901" y="591024"/>
                      <a:pt x="1402415" y="593296"/>
                      <a:pt x="1396696" y="593296"/>
                    </a:cubicBezTo>
                    <a:lnTo>
                      <a:pt x="21565" y="593296"/>
                    </a:lnTo>
                    <a:cubicBezTo>
                      <a:pt x="9655" y="593296"/>
                      <a:pt x="0" y="583641"/>
                      <a:pt x="0" y="571731"/>
                    </a:cubicBezTo>
                    <a:lnTo>
                      <a:pt x="0" y="21565"/>
                    </a:lnTo>
                    <a:cubicBezTo>
                      <a:pt x="0" y="9655"/>
                      <a:pt x="9655" y="0"/>
                      <a:pt x="21565" y="0"/>
                    </a:cubicBezTo>
                    <a:close/>
                  </a:path>
                </a:pathLst>
              </a:custGeom>
              <a:solidFill>
                <a:srgbClr val="EAEAE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28575"/>
                <a:ext cx="1418261" cy="56472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43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741639" y="70938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045128" y="50229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AI 속을 조금 더 깊게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41639" y="1418045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1"/>
                  </a:lnTo>
                  <a:lnTo>
                    <a:pt x="0" y="144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1045128" y="1210950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준비물: 오늘의 my-intro 폴더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41639" y="2126706"/>
              <a:ext cx="189653" cy="144610"/>
            </a:xfrm>
            <a:custGeom>
              <a:avLst/>
              <a:gdLst/>
              <a:ahLst/>
              <a:cxnLst/>
              <a:rect l="l" t="t" r="r" b="b"/>
              <a:pathLst>
                <a:path w="189653" h="144610">
                  <a:moveTo>
                    <a:pt x="0" y="0"/>
                  </a:moveTo>
                  <a:lnTo>
                    <a:pt x="189653" y="0"/>
                  </a:lnTo>
                  <a:lnTo>
                    <a:pt x="189653" y="144610"/>
                  </a:lnTo>
                  <a:lnTo>
                    <a:pt x="0" y="144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1045128" y="1919611"/>
              <a:ext cx="613482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b="1" u="none" strike="noStrike" spc="-40">
                  <a:solidFill>
                    <a:srgbClr val="333333">
                      <a:alpha val="89804"/>
                    </a:srgbClr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AGENTS.md는 지우지 마세요!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472784" y="2884234"/>
            <a:ext cx="7042754" cy="547878"/>
            <a:chOff x="0" y="0"/>
            <a:chExt cx="9390339" cy="730504"/>
          </a:xfrm>
        </p:grpSpPr>
        <p:sp>
          <p:nvSpPr>
            <p:cNvPr id="27" name="Freeform 27"/>
            <p:cNvSpPr/>
            <p:nvPr/>
          </p:nvSpPr>
          <p:spPr>
            <a:xfrm>
              <a:off x="0" y="192339"/>
              <a:ext cx="355986" cy="355986"/>
            </a:xfrm>
            <a:custGeom>
              <a:avLst/>
              <a:gdLst/>
              <a:ahLst/>
              <a:cxnLst/>
              <a:rect l="l" t="t" r="r" b="b"/>
              <a:pathLst>
                <a:path w="355986" h="355986">
                  <a:moveTo>
                    <a:pt x="0" y="0"/>
                  </a:moveTo>
                  <a:lnTo>
                    <a:pt x="355986" y="0"/>
                  </a:lnTo>
                  <a:lnTo>
                    <a:pt x="355986" y="355986"/>
                  </a:lnTo>
                  <a:lnTo>
                    <a:pt x="0" y="355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500339" y="76200"/>
              <a:ext cx="8890000" cy="654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56"/>
                </a:lnSpc>
                <a:spcBef>
                  <a:spcPct val="0"/>
                </a:spcBef>
              </a:pPr>
              <a:r>
                <a:rPr lang="en-US" sz="3600" b="1" u="none" strike="noStrike" spc="-72">
                  <a:solidFill>
                    <a:srgbClr val="333333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LLM · 보안 · 에이전트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  <a:spcBef>
                <a:spcPct val="0"/>
              </a:spcBef>
            </a:pPr>
            <a:r>
              <a:rPr lang="en-US" sz="5000" b="1" u="none" strike="noStrike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다음 수업 예고: 4차시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72784" y="3604117"/>
            <a:ext cx="7086813" cy="1365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LLM 개요 (AI는 어떻게 답할까?)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프롬프트 보안 (위험한 요청 막기)</a:t>
            </a:r>
          </a:p>
          <a:p>
            <a:pPr marL="518160" lvl="1" indent="-259080" algn="l">
              <a:lnSpc>
                <a:spcPts val="3600"/>
              </a:lnSpc>
              <a:buFont typeface="Arial"/>
              <a:buChar char="•"/>
            </a:pPr>
            <a:r>
              <a:rPr lang="en-US" sz="2400" b="1" u="none" strike="noStrike" spc="-48">
                <a:solidFill>
                  <a:srgbClr val="000000">
                    <a:alpha val="69804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LLM 에이전트 (스스로 일하는 AI)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82000" y="8899525"/>
            <a:ext cx="1524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 b="1" u="none" strike="noStrike">
                <a:solidFill>
                  <a:srgbClr val="4165C1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- 42 -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698836" y="2898323"/>
            <a:ext cx="8207164" cy="5701057"/>
            <a:chOff x="0" y="0"/>
            <a:chExt cx="1170096" cy="812800"/>
          </a:xfrm>
        </p:grpSpPr>
        <p:sp>
          <p:nvSpPr>
            <p:cNvPr id="34" name="Freeform 34" descr="4차시 예고: LLM·보안·에이전트 일러스트"/>
            <p:cNvSpPr/>
            <p:nvPr/>
          </p:nvSpPr>
          <p:spPr>
            <a:xfrm>
              <a:off x="0" y="0"/>
              <a:ext cx="1170096" cy="812800"/>
            </a:xfrm>
            <a:custGeom>
              <a:avLst/>
              <a:gdLst/>
              <a:ahLst/>
              <a:cxnLst/>
              <a:rect l="l" t="t" r="r" b="b"/>
              <a:pathLst>
                <a:path w="1170096" h="812800">
                  <a:moveTo>
                    <a:pt x="14150" y="0"/>
                  </a:moveTo>
                  <a:lnTo>
                    <a:pt x="1155946" y="0"/>
                  </a:lnTo>
                  <a:cubicBezTo>
                    <a:pt x="1163761" y="0"/>
                    <a:pt x="1170096" y="6335"/>
                    <a:pt x="1170096" y="14150"/>
                  </a:cubicBezTo>
                  <a:lnTo>
                    <a:pt x="1170096" y="798650"/>
                  </a:lnTo>
                  <a:cubicBezTo>
                    <a:pt x="1170096" y="806465"/>
                    <a:pt x="1163761" y="812800"/>
                    <a:pt x="1155946" y="812800"/>
                  </a:cubicBezTo>
                  <a:lnTo>
                    <a:pt x="14150" y="812800"/>
                  </a:lnTo>
                  <a:cubicBezTo>
                    <a:pt x="6335" y="812800"/>
                    <a:pt x="0" y="806465"/>
                    <a:pt x="0" y="798650"/>
                  </a:cubicBezTo>
                  <a:lnTo>
                    <a:pt x="0" y="14150"/>
                  </a:lnTo>
                  <a:cubicBezTo>
                    <a:pt x="0" y="6335"/>
                    <a:pt x="6335" y="0"/>
                    <a:pt x="14150" y="0"/>
                  </a:cubicBezTo>
                  <a:close/>
                </a:path>
              </a:pathLst>
            </a:custGeom>
            <a:blipFill>
              <a:blip r:embed="rId6"/>
              <a:stretch>
                <a:fillRect l="-2130" r="-213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457200"/>
            <a:ext cx="17218292" cy="9294946"/>
            <a:chOff x="0" y="0"/>
            <a:chExt cx="22957723" cy="123932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727243"/>
              <a:ext cx="22957723" cy="10666019"/>
              <a:chOff x="0" y="0"/>
              <a:chExt cx="4777465" cy="221958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219581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219581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196650"/>
                    </a:lnTo>
                    <a:cubicBezTo>
                      <a:pt x="4777465" y="2202732"/>
                      <a:pt x="4775049" y="2208564"/>
                      <a:pt x="4770749" y="2212865"/>
                    </a:cubicBezTo>
                    <a:cubicBezTo>
                      <a:pt x="4766449" y="2217165"/>
                      <a:pt x="4760616" y="2219581"/>
                      <a:pt x="4754534" y="2219581"/>
                    </a:cubicBezTo>
                    <a:lnTo>
                      <a:pt x="22931" y="2219581"/>
                    </a:lnTo>
                    <a:cubicBezTo>
                      <a:pt x="10267" y="2219581"/>
                      <a:pt x="0" y="2209315"/>
                      <a:pt x="0" y="2196650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25768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8499830" y="891712"/>
              <a:ext cx="4457893" cy="3397582"/>
              <a:chOff x="0" y="0"/>
              <a:chExt cx="927680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27680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927680" h="707031">
                    <a:moveTo>
                      <a:pt x="118094" y="0"/>
                    </a:moveTo>
                    <a:lnTo>
                      <a:pt x="809586" y="0"/>
                    </a:lnTo>
                    <a:cubicBezTo>
                      <a:pt x="874808" y="0"/>
                      <a:pt x="927680" y="52872"/>
                      <a:pt x="927680" y="118094"/>
                    </a:cubicBezTo>
                    <a:lnTo>
                      <a:pt x="927680" y="588937"/>
                    </a:lnTo>
                    <a:cubicBezTo>
                      <a:pt x="927680" y="654159"/>
                      <a:pt x="874808" y="707031"/>
                      <a:pt x="809586" y="707031"/>
                    </a:cubicBezTo>
                    <a:lnTo>
                      <a:pt x="118094" y="707031"/>
                    </a:lnTo>
                    <a:cubicBezTo>
                      <a:pt x="52872" y="707031"/>
                      <a:pt x="0" y="654159"/>
                      <a:pt x="0" y="588937"/>
                    </a:cubicBezTo>
                    <a:lnTo>
                      <a:pt x="0" y="118094"/>
                    </a:lnTo>
                    <a:cubicBezTo>
                      <a:pt x="0" y="52872"/>
                      <a:pt x="52872" y="0"/>
                      <a:pt x="1180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927680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8064463" y="1334482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16059231" y="0"/>
              <a:ext cx="2504831" cy="1727243"/>
              <a:chOff x="0" y="0"/>
              <a:chExt cx="521251" cy="35943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21251" cy="359436"/>
              </a:xfrm>
              <a:custGeom>
                <a:avLst/>
                <a:gdLst/>
                <a:ahLst/>
                <a:cxnLst/>
                <a:rect l="l" t="t" r="r" b="b"/>
                <a:pathLst>
                  <a:path w="521251" h="359436">
                    <a:moveTo>
                      <a:pt x="179718" y="0"/>
                    </a:moveTo>
                    <a:lnTo>
                      <a:pt x="341533" y="0"/>
                    </a:lnTo>
                    <a:cubicBezTo>
                      <a:pt x="440789" y="0"/>
                      <a:pt x="521251" y="80463"/>
                      <a:pt x="521251" y="179718"/>
                    </a:cubicBezTo>
                    <a:lnTo>
                      <a:pt x="521251" y="179718"/>
                    </a:lnTo>
                    <a:cubicBezTo>
                      <a:pt x="521251" y="227382"/>
                      <a:pt x="502317" y="273094"/>
                      <a:pt x="468613" y="306798"/>
                    </a:cubicBezTo>
                    <a:cubicBezTo>
                      <a:pt x="434909" y="340502"/>
                      <a:pt x="389197" y="359436"/>
                      <a:pt x="341533" y="359436"/>
                    </a:cubicBezTo>
                    <a:lnTo>
                      <a:pt x="179718" y="359436"/>
                    </a:lnTo>
                    <a:cubicBezTo>
                      <a:pt x="132054" y="359436"/>
                      <a:pt x="86342" y="340502"/>
                      <a:pt x="52638" y="306798"/>
                    </a:cubicBezTo>
                    <a:cubicBezTo>
                      <a:pt x="18935" y="273094"/>
                      <a:pt x="0" y="227382"/>
                      <a:pt x="0" y="179718"/>
                    </a:cubicBezTo>
                    <a:lnTo>
                      <a:pt x="0" y="179718"/>
                    </a:lnTo>
                    <a:cubicBezTo>
                      <a:pt x="0" y="132054"/>
                      <a:pt x="18935" y="86342"/>
                      <a:pt x="52638" y="52638"/>
                    </a:cubicBezTo>
                    <a:cubicBezTo>
                      <a:pt x="86342" y="18935"/>
                      <a:pt x="132054" y="0"/>
                      <a:pt x="179718" y="0"/>
                    </a:cubicBezTo>
                    <a:close/>
                  </a:path>
                </a:pathLst>
              </a:custGeom>
              <a:solidFill>
                <a:srgbClr val="5170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521251" cy="397536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5" name="TextBox 15"/>
          <p:cNvSpPr txBox="1"/>
          <p:nvPr/>
        </p:nvSpPr>
        <p:spPr>
          <a:xfrm>
            <a:off x="1355167" y="686871"/>
            <a:ext cx="12295240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00"/>
              </a:lnSpc>
            </a:pPr>
            <a:r>
              <a:rPr lang="en-US" sz="5000" b="1" spc="-100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질문과 답변</a:t>
            </a:r>
          </a:p>
        </p:txBody>
      </p:sp>
      <p:sp>
        <p:nvSpPr>
          <p:cNvPr id="16" name="Freeform 16"/>
          <p:cNvSpPr/>
          <p:nvPr/>
        </p:nvSpPr>
        <p:spPr>
          <a:xfrm>
            <a:off x="820604" y="843344"/>
            <a:ext cx="334731" cy="334731"/>
          </a:xfrm>
          <a:custGeom>
            <a:avLst/>
            <a:gdLst/>
            <a:ahLst/>
            <a:cxnLst/>
            <a:rect l="l" t="t" r="r" b="b"/>
            <a:pathLst>
              <a:path w="334731" h="334731">
                <a:moveTo>
                  <a:pt x="0" y="0"/>
                </a:moveTo>
                <a:lnTo>
                  <a:pt x="334731" y="0"/>
                </a:lnTo>
                <a:lnTo>
                  <a:pt x="334731" y="334731"/>
                </a:lnTo>
                <a:lnTo>
                  <a:pt x="0" y="334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32477" y="5801544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궁금한 점, 무엇이든 물어보세요!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32477" y="6600042"/>
            <a:ext cx="11423046" cy="709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23"/>
              </a:lnSpc>
              <a:spcBef>
                <a:spcPct val="0"/>
              </a:spcBef>
            </a:pPr>
            <a:r>
              <a:rPr lang="en-US" sz="4800" b="1" u="none" strike="noStrike" spc="-144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수업 후에는 단톡방에서도 OK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7153634" y="3343132"/>
            <a:ext cx="2003592" cy="1570315"/>
          </a:xfrm>
          <a:custGeom>
            <a:avLst/>
            <a:gdLst/>
            <a:ahLst/>
            <a:cxnLst/>
            <a:rect l="l" t="t" r="r" b="b"/>
            <a:pathLst>
              <a:path w="2003592" h="1570315">
                <a:moveTo>
                  <a:pt x="2003593" y="0"/>
                </a:moveTo>
                <a:lnTo>
                  <a:pt x="0" y="0"/>
                </a:lnTo>
                <a:lnTo>
                  <a:pt x="0" y="1570316"/>
                </a:lnTo>
                <a:lnTo>
                  <a:pt x="2003593" y="1570316"/>
                </a:lnTo>
                <a:lnTo>
                  <a:pt x="20035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133758" y="3914364"/>
            <a:ext cx="2003592" cy="1570315"/>
          </a:xfrm>
          <a:custGeom>
            <a:avLst/>
            <a:gdLst/>
            <a:ahLst/>
            <a:cxnLst/>
            <a:rect l="l" t="t" r="r" b="b"/>
            <a:pathLst>
              <a:path w="2003592" h="1570315">
                <a:moveTo>
                  <a:pt x="0" y="0"/>
                </a:moveTo>
                <a:lnTo>
                  <a:pt x="2003592" y="0"/>
                </a:lnTo>
                <a:lnTo>
                  <a:pt x="2003592" y="1570315"/>
                </a:lnTo>
                <a:lnTo>
                  <a:pt x="0" y="1570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291556" y="3386575"/>
            <a:ext cx="1727750" cy="114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sz="6701" b="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Q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71679" y="3957807"/>
            <a:ext cx="1727750" cy="114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41"/>
              </a:lnSpc>
            </a:pPr>
            <a:r>
              <a:rPr lang="en-US" sz="6701" b="1" spc="-341">
                <a:solidFill>
                  <a:srgbClr val="FDFDFB"/>
                </a:solidFill>
                <a:latin typeface="DIN Next Bold"/>
                <a:ea typeface="DIN Next Bold"/>
                <a:cs typeface="DIN Next Bold"/>
                <a:sym typeface="DIN Next Bold"/>
              </a:rPr>
              <a:t>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08845" y="7574259"/>
            <a:ext cx="7496762" cy="59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실습이 덜 끝났다면 실습 2(TCREI)까지만 먼저 완성해 주세요.</a:t>
            </a:r>
          </a:p>
          <a:p>
            <a:pPr marL="0" lvl="0" indent="0" algn="ctr">
              <a:lnSpc>
                <a:spcPts val="2285"/>
              </a:lnSpc>
              <a:spcBef>
                <a:spcPct val="0"/>
              </a:spcBef>
            </a:pPr>
            <a:r>
              <a:rPr lang="en-US" sz="1799" b="1" u="none" strike="noStrike" spc="30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에러 화면은 캡처해서 단톡방에 올려 주면 함께 해결합니다!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94520" y="1353621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7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4854" y="566049"/>
            <a:ext cx="17218292" cy="9186097"/>
            <a:chOff x="0" y="0"/>
            <a:chExt cx="22957723" cy="1224812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835531"/>
              <a:ext cx="22957723" cy="11412598"/>
              <a:chOff x="0" y="0"/>
              <a:chExt cx="4777465" cy="237494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777465" cy="2374943"/>
              </a:xfrm>
              <a:custGeom>
                <a:avLst/>
                <a:gdLst/>
                <a:ahLst/>
                <a:cxnLst/>
                <a:rect l="l" t="t" r="r" b="b"/>
                <a:pathLst>
                  <a:path w="4777465" h="2374943">
                    <a:moveTo>
                      <a:pt x="22931" y="0"/>
                    </a:moveTo>
                    <a:lnTo>
                      <a:pt x="4754534" y="0"/>
                    </a:lnTo>
                    <a:cubicBezTo>
                      <a:pt x="4767199" y="0"/>
                      <a:pt x="4777465" y="10267"/>
                      <a:pt x="4777465" y="22931"/>
                    </a:cubicBezTo>
                    <a:lnTo>
                      <a:pt x="4777465" y="2352012"/>
                    </a:lnTo>
                    <a:cubicBezTo>
                      <a:pt x="4777465" y="2358094"/>
                      <a:pt x="4775049" y="2363926"/>
                      <a:pt x="4770749" y="2368227"/>
                    </a:cubicBezTo>
                    <a:cubicBezTo>
                      <a:pt x="4766449" y="2372527"/>
                      <a:pt x="4760616" y="2374943"/>
                      <a:pt x="4754534" y="2374943"/>
                    </a:cubicBezTo>
                    <a:lnTo>
                      <a:pt x="22931" y="2374943"/>
                    </a:lnTo>
                    <a:cubicBezTo>
                      <a:pt x="10267" y="2374943"/>
                      <a:pt x="0" y="2364677"/>
                      <a:pt x="0" y="2352012"/>
                    </a:cubicBezTo>
                    <a:lnTo>
                      <a:pt x="0" y="22931"/>
                    </a:lnTo>
                    <a:cubicBezTo>
                      <a:pt x="0" y="10267"/>
                      <a:pt x="10267" y="0"/>
                      <a:pt x="229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4777465" cy="2413043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17287" y="0"/>
              <a:ext cx="18440436" cy="3397582"/>
              <a:chOff x="0" y="0"/>
              <a:chExt cx="3837425" cy="70703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37425" cy="707031"/>
              </a:xfrm>
              <a:custGeom>
                <a:avLst/>
                <a:gdLst/>
                <a:ahLst/>
                <a:cxnLst/>
                <a:rect l="l" t="t" r="r" b="b"/>
                <a:pathLst>
                  <a:path w="3837425" h="707031">
                    <a:moveTo>
                      <a:pt x="28549" y="0"/>
                    </a:moveTo>
                    <a:lnTo>
                      <a:pt x="3808877" y="0"/>
                    </a:lnTo>
                    <a:cubicBezTo>
                      <a:pt x="3824644" y="0"/>
                      <a:pt x="3837425" y="12782"/>
                      <a:pt x="3837425" y="28549"/>
                    </a:cubicBezTo>
                    <a:lnTo>
                      <a:pt x="3837425" y="678483"/>
                    </a:lnTo>
                    <a:cubicBezTo>
                      <a:pt x="3837425" y="686054"/>
                      <a:pt x="3834418" y="693316"/>
                      <a:pt x="3829064" y="698670"/>
                    </a:cubicBezTo>
                    <a:cubicBezTo>
                      <a:pt x="3823710" y="704024"/>
                      <a:pt x="3816448" y="707031"/>
                      <a:pt x="3808877" y="707031"/>
                    </a:cubicBezTo>
                    <a:lnTo>
                      <a:pt x="28549" y="707031"/>
                    </a:lnTo>
                    <a:cubicBezTo>
                      <a:pt x="12782" y="707031"/>
                      <a:pt x="0" y="694250"/>
                      <a:pt x="0" y="678483"/>
                    </a:cubicBezTo>
                    <a:lnTo>
                      <a:pt x="0" y="28549"/>
                    </a:lnTo>
                    <a:cubicBezTo>
                      <a:pt x="0" y="20977"/>
                      <a:pt x="3008" y="13716"/>
                      <a:pt x="8362" y="8362"/>
                    </a:cubicBezTo>
                    <a:cubicBezTo>
                      <a:pt x="13716" y="3008"/>
                      <a:pt x="20977" y="0"/>
                      <a:pt x="285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837425" cy="745131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4081187" y="442770"/>
              <a:ext cx="2392010" cy="1865053"/>
              <a:chOff x="0" y="0"/>
              <a:chExt cx="497773" cy="38811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7773" cy="388115"/>
              </a:xfrm>
              <a:custGeom>
                <a:avLst/>
                <a:gdLst/>
                <a:ahLst/>
                <a:cxnLst/>
                <a:rect l="l" t="t" r="r" b="b"/>
                <a:pathLst>
                  <a:path w="497773" h="388115">
                    <a:moveTo>
                      <a:pt x="0" y="0"/>
                    </a:moveTo>
                    <a:lnTo>
                      <a:pt x="497773" y="0"/>
                    </a:lnTo>
                    <a:lnTo>
                      <a:pt x="497773" y="388115"/>
                    </a:lnTo>
                    <a:lnTo>
                      <a:pt x="0" y="388115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7773" cy="426215"/>
              </a:xfrm>
              <a:prstGeom prst="rect">
                <a:avLst/>
              </a:prstGeom>
            </p:spPr>
            <p:txBody>
              <a:bodyPr lIns="48220" tIns="48220" rIns="48220" bIns="48220" rtlCol="0" anchor="ctr"/>
              <a:lstStyle/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  <a:p>
                <a:pPr marL="0" lvl="0" indent="0" algn="ctr">
                  <a:lnSpc>
                    <a:spcPts val="1853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091821" y="-102735"/>
            <a:ext cx="1878623" cy="1295432"/>
            <a:chOff x="0" y="0"/>
            <a:chExt cx="521251" cy="3594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21251" cy="359436"/>
            </a:xfrm>
            <a:custGeom>
              <a:avLst/>
              <a:gdLst/>
              <a:ahLst/>
              <a:cxnLst/>
              <a:rect l="l" t="t" r="r" b="b"/>
              <a:pathLst>
                <a:path w="521251" h="359436">
                  <a:moveTo>
                    <a:pt x="179718" y="0"/>
                  </a:moveTo>
                  <a:lnTo>
                    <a:pt x="341533" y="0"/>
                  </a:lnTo>
                  <a:cubicBezTo>
                    <a:pt x="440789" y="0"/>
                    <a:pt x="521251" y="80463"/>
                    <a:pt x="521251" y="179718"/>
                  </a:cubicBezTo>
                  <a:lnTo>
                    <a:pt x="521251" y="179718"/>
                  </a:lnTo>
                  <a:cubicBezTo>
                    <a:pt x="521251" y="227382"/>
                    <a:pt x="502317" y="273094"/>
                    <a:pt x="468613" y="306798"/>
                  </a:cubicBezTo>
                  <a:cubicBezTo>
                    <a:pt x="434909" y="340502"/>
                    <a:pt x="389197" y="359436"/>
                    <a:pt x="341533" y="359436"/>
                  </a:cubicBezTo>
                  <a:lnTo>
                    <a:pt x="179718" y="359436"/>
                  </a:lnTo>
                  <a:cubicBezTo>
                    <a:pt x="132054" y="359436"/>
                    <a:pt x="86342" y="340502"/>
                    <a:pt x="52638" y="306798"/>
                  </a:cubicBezTo>
                  <a:cubicBezTo>
                    <a:pt x="18935" y="273094"/>
                    <a:pt x="0" y="227382"/>
                    <a:pt x="0" y="179718"/>
                  </a:cubicBezTo>
                  <a:lnTo>
                    <a:pt x="0" y="179718"/>
                  </a:lnTo>
                  <a:cubicBezTo>
                    <a:pt x="0" y="132054"/>
                    <a:pt x="18935" y="86342"/>
                    <a:pt x="52638" y="52638"/>
                  </a:cubicBezTo>
                  <a:cubicBezTo>
                    <a:pt x="86342" y="18935"/>
                    <a:pt x="132054" y="0"/>
                    <a:pt x="179718" y="0"/>
                  </a:cubicBezTo>
                  <a:close/>
                </a:path>
              </a:pathLst>
            </a:custGeom>
            <a:solidFill>
              <a:srgbClr val="5170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21251" cy="397536"/>
            </a:xfrm>
            <a:prstGeom prst="rect">
              <a:avLst/>
            </a:prstGeom>
          </p:spPr>
          <p:txBody>
            <a:bodyPr lIns="48220" tIns="48220" rIns="48220" bIns="48220" rtlCol="0" anchor="ctr"/>
            <a:lstStyle/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  <a:p>
              <a:pPr marL="0" lvl="0" indent="0" algn="ctr">
                <a:lnSpc>
                  <a:spcPts val="1853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-5400000">
            <a:off x="16995628" y="862350"/>
            <a:ext cx="82863" cy="368281"/>
          </a:xfrm>
          <a:custGeom>
            <a:avLst/>
            <a:gdLst/>
            <a:ahLst/>
            <a:cxnLst/>
            <a:rect l="l" t="t" r="r" b="b"/>
            <a:pathLst>
              <a:path w="82863" h="368281">
                <a:moveTo>
                  <a:pt x="0" y="0"/>
                </a:moveTo>
                <a:lnTo>
                  <a:pt x="82863" y="0"/>
                </a:lnTo>
                <a:lnTo>
                  <a:pt x="82863" y="368281"/>
                </a:lnTo>
                <a:lnTo>
                  <a:pt x="0" y="3682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3540110" y="6593084"/>
            <a:ext cx="3312808" cy="2401786"/>
          </a:xfrm>
          <a:custGeom>
            <a:avLst/>
            <a:gdLst/>
            <a:ahLst/>
            <a:cxnLst/>
            <a:rect l="l" t="t" r="r" b="b"/>
            <a:pathLst>
              <a:path w="3312808" h="2401786">
                <a:moveTo>
                  <a:pt x="0" y="0"/>
                </a:moveTo>
                <a:lnTo>
                  <a:pt x="3312809" y="0"/>
                </a:lnTo>
                <a:lnTo>
                  <a:pt x="3312809" y="2401786"/>
                </a:lnTo>
                <a:lnTo>
                  <a:pt x="0" y="24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377195" y="3075893"/>
            <a:ext cx="14882105" cy="1543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93"/>
              </a:lnSpc>
            </a:pPr>
            <a:r>
              <a:rPr lang="en-US" sz="9601" b="1">
                <a:solidFill>
                  <a:srgbClr val="000000"/>
                </a:solidFill>
                <a:latin typeface="프리젠테이션 Ultra-Bold"/>
                <a:ea typeface="프리젠테이션 Ultra-Bold"/>
                <a:cs typeface="프리젠테이션 Ultra-Bold"/>
                <a:sym typeface="프리젠테이션 Ultra-Bold"/>
              </a:rPr>
              <a:t>THANK YOU!!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77195" y="5160276"/>
            <a:ext cx="10520872" cy="38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1999" b="1" u="none" strike="noStrike" spc="-19">
                <a:solidFill>
                  <a:srgbClr val="747EA3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오늘 고친 자기소개 페이지, 단톡방에 공유해 주세요!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195" y="4572020"/>
            <a:ext cx="7287980" cy="587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15"/>
              </a:lnSpc>
              <a:spcBef>
                <a:spcPct val="0"/>
              </a:spcBef>
            </a:pPr>
            <a:r>
              <a:rPr lang="en-US" sz="3599" b="1" u="none" strike="noStrike" spc="-147">
                <a:solidFill>
                  <a:srgbClr val="5170FF">
                    <a:alpha val="93725"/>
                  </a:srgbClr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4차시에 만나요~!</a:t>
            </a:r>
          </a:p>
        </p:txBody>
      </p:sp>
      <p:sp>
        <p:nvSpPr>
          <p:cNvPr id="20" name="AutoShape 20"/>
          <p:cNvSpPr/>
          <p:nvPr/>
        </p:nvSpPr>
        <p:spPr>
          <a:xfrm flipH="1" flipV="1">
            <a:off x="4803882" y="6372794"/>
            <a:ext cx="0" cy="212812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2377195" y="6327216"/>
            <a:ext cx="2421924" cy="3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2619"/>
              </a:lnSpc>
              <a:spcBef>
                <a:spcPct val="0"/>
              </a:spcBef>
            </a:pPr>
            <a:r>
              <a:rPr lang="en-US" sz="1999" b="1" u="none" strike="noStrike" spc="-79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교육운영진 </a:t>
            </a:r>
            <a:r>
              <a:rPr lang="en-US" sz="1999" b="1" u="none" strike="noStrike" spc="-79">
                <a:solidFill>
                  <a:srgbClr val="5170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허진수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75369" y="6427467"/>
            <a:ext cx="5819862" cy="24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59"/>
              </a:lnSpc>
              <a:spcBef>
                <a:spcPct val="0"/>
              </a:spcBef>
            </a:pPr>
            <a:r>
              <a:rPr lang="en-US" sz="1999" b="1" spc="33">
                <a:solidFill>
                  <a:srgbClr val="000000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문의: 단톡방 / zintn11@gmail.com</a:t>
            </a:r>
          </a:p>
        </p:txBody>
      </p:sp>
      <p:sp>
        <p:nvSpPr>
          <p:cNvPr id="23" name="AutoShape 23"/>
          <p:cNvSpPr/>
          <p:nvPr/>
        </p:nvSpPr>
        <p:spPr>
          <a:xfrm flipV="1">
            <a:off x="2377195" y="5933484"/>
            <a:ext cx="8718036" cy="0"/>
          </a:xfrm>
          <a:prstGeom prst="line">
            <a:avLst/>
          </a:prstGeom>
          <a:ln w="9525" cap="flat">
            <a:solidFill>
              <a:srgbClr val="222222">
                <a:alpha val="22745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659283" y="679939"/>
            <a:ext cx="2865076" cy="32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40"/>
              </a:lnSpc>
              <a:spcBef>
                <a:spcPct val="0"/>
              </a:spcBef>
            </a:pPr>
            <a:r>
              <a:rPr lang="en-US" sz="2000" b="1" u="none" strike="noStrike" spc="122">
                <a:solidFill>
                  <a:srgbClr val="FFFFFF"/>
                </a:solidFill>
                <a:latin typeface="프리젠테이션 Bold"/>
                <a:ea typeface="프리젠테이션 Bold"/>
                <a:cs typeface="프리젠테이션 Bold"/>
                <a:sym typeface="프리젠테이션 Bold"/>
              </a:rPr>
              <a:t>해달 바이브코딩 기초반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5040</Words>
  <Application>Microsoft Office PowerPoint</Application>
  <PresentationFormat>사용자 지정</PresentationFormat>
  <Paragraphs>1169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4" baseType="lpstr">
      <vt:lpstr>프리젠테이션 Ultra-Bold</vt:lpstr>
      <vt:lpstr>프리젠테이션 Bold</vt:lpstr>
      <vt:lpstr>Arial</vt:lpstr>
      <vt:lpstr>프리젠테이션 Semi-Bold</vt:lpstr>
      <vt:lpstr>DIN Next Bold</vt:lpstr>
      <vt:lpstr>Arimo</vt:lpstr>
      <vt:lpstr>프리젠테이션</vt:lpstr>
      <vt:lpstr>Calibri</vt:lpstr>
      <vt:lpstr>Arimo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[VibeCoding] 3차시 강의 자료</dc:title>
  <cp:lastModifiedBy>JTN H</cp:lastModifiedBy>
  <cp:revision>3</cp:revision>
  <dcterms:created xsi:type="dcterms:W3CDTF">2006-08-16T00:00:00Z</dcterms:created>
  <dcterms:modified xsi:type="dcterms:W3CDTF">2026-10-08T04:59:06Z</dcterms:modified>
  <dc:identifier>DAHWdxml9Us</dc:identifier>
</cp:coreProperties>
</file>