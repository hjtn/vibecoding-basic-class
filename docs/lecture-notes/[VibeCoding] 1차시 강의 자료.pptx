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8288000" cy="10287000"/>
  <p:notesSz cx="6858000" cy="9144000"/>
  <p:embeddedFontLst>
    <p:embeddedFont>
      <p:font typeface="프리젠테이션" panose="020B0600000101010101" charset="-127"/>
      <p:regular r:id="rId48"/>
    </p:embeddedFont>
    <p:embeddedFont>
      <p:font typeface="프리젠테이션 Bold" panose="020B0600000101010101" charset="-127"/>
      <p:regular r:id="rId49"/>
    </p:embeddedFont>
    <p:embeddedFont>
      <p:font typeface="프리젠테이션 Semi-Bold" panose="020B0600000101010101" charset="-127"/>
      <p:regular r:id="rId50"/>
    </p:embeddedFont>
    <p:embeddedFont>
      <p:font typeface="프리젠테이션 Ultra-Bold" panose="020B0600000101010101" charset="-127"/>
      <p:regular r:id="rId51"/>
    </p:embeddedFont>
    <p:embeddedFont>
      <p:font typeface="Arimo" panose="020B0600000101010101" charset="0"/>
      <p:regular r:id="rId52"/>
    </p:embeddedFont>
    <p:embeddedFont>
      <p:font typeface="Arimo Bold" panose="020B0600000101010101" charset="0"/>
      <p:regular r:id="rId53"/>
    </p:embeddedFont>
    <p:embeddedFont>
      <p:font typeface="DIN Next Bold" panose="020B0600000101010101" charset="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3333" autoAdjust="0"/>
  </p:normalViewPr>
  <p:slideViewPr>
    <p:cSldViewPr>
      <p:cViewPr varScale="1">
        <p:scale>
          <a:sx n="54" d="100"/>
          <a:sy n="54" d="100"/>
        </p:scale>
        <p:origin x="173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dirty="0" err="1"/>
              <a:t>안녕하세요</a:t>
            </a:r>
            <a:r>
              <a:rPr dirty="0"/>
              <a:t>, </a:t>
            </a:r>
            <a:r>
              <a:rPr dirty="0" err="1"/>
              <a:t>여러분</a:t>
            </a:r>
            <a:r>
              <a:rPr dirty="0"/>
              <a:t>! </a:t>
            </a:r>
            <a:r>
              <a:rPr dirty="0" err="1"/>
              <a:t>바이브코딩</a:t>
            </a:r>
            <a:r>
              <a:rPr dirty="0"/>
              <a:t> </a:t>
            </a:r>
            <a:r>
              <a:rPr dirty="0" err="1"/>
              <a:t>기초반에</a:t>
            </a:r>
            <a:r>
              <a:rPr dirty="0"/>
              <a:t> </a:t>
            </a:r>
            <a:r>
              <a:rPr dirty="0" err="1"/>
              <a:t>오신</a:t>
            </a:r>
            <a:r>
              <a:rPr dirty="0"/>
              <a:t> 걸 </a:t>
            </a:r>
            <a:r>
              <a:rPr dirty="0" err="1"/>
              <a:t>환영합니다</a:t>
            </a:r>
            <a:r>
              <a:rPr dirty="0"/>
              <a:t>.</a:t>
            </a:r>
          </a:p>
          <a:p>
            <a:r>
              <a:rPr dirty="0" err="1"/>
              <a:t>저는</a:t>
            </a:r>
            <a:r>
              <a:rPr dirty="0"/>
              <a:t>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학기</a:t>
            </a:r>
            <a:r>
              <a:rPr dirty="0"/>
              <a:t> </a:t>
            </a:r>
            <a:r>
              <a:rPr dirty="0" err="1"/>
              <a:t>기초반을</a:t>
            </a:r>
            <a:r>
              <a:rPr dirty="0"/>
              <a:t> </a:t>
            </a:r>
            <a:r>
              <a:rPr dirty="0" err="1"/>
              <a:t>맡은</a:t>
            </a:r>
            <a:r>
              <a:rPr dirty="0"/>
              <a:t> </a:t>
            </a:r>
            <a:r>
              <a:rPr dirty="0" err="1"/>
              <a:t>해달</a:t>
            </a:r>
            <a:r>
              <a:rPr dirty="0"/>
              <a:t> </a:t>
            </a:r>
            <a:r>
              <a:rPr dirty="0" err="1"/>
              <a:t>교육운영진</a:t>
            </a:r>
            <a:r>
              <a:rPr dirty="0"/>
              <a:t> </a:t>
            </a:r>
            <a:r>
              <a:rPr dirty="0" err="1"/>
              <a:t>허진수입니다</a:t>
            </a:r>
            <a:r>
              <a:rPr dirty="0"/>
              <a:t>.</a:t>
            </a:r>
          </a:p>
          <a:p>
            <a:r>
              <a:rPr dirty="0" err="1"/>
              <a:t>오늘은</a:t>
            </a:r>
            <a:r>
              <a:rPr dirty="0"/>
              <a:t> 1차시로, 100분 </a:t>
            </a:r>
            <a:r>
              <a:rPr dirty="0" err="1"/>
              <a:t>동안</a:t>
            </a:r>
            <a:r>
              <a:rPr dirty="0"/>
              <a:t> 세 </a:t>
            </a:r>
            <a:r>
              <a:rPr dirty="0" err="1"/>
              <a:t>가지를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해 볼 </a:t>
            </a:r>
            <a:r>
              <a:rPr dirty="0" err="1"/>
              <a:t>거예요</a:t>
            </a:r>
            <a:r>
              <a:rPr dirty="0"/>
              <a:t>.</a:t>
            </a:r>
          </a:p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분반</a:t>
            </a:r>
            <a:r>
              <a:rPr dirty="0"/>
              <a:t> </a:t>
            </a:r>
            <a:r>
              <a:rPr dirty="0" err="1"/>
              <a:t>소개를</a:t>
            </a:r>
            <a:r>
              <a:rPr dirty="0"/>
              <a:t> </a:t>
            </a:r>
            <a:r>
              <a:rPr dirty="0" err="1"/>
              <a:t>하고</a:t>
            </a:r>
            <a:r>
              <a:rPr dirty="0"/>
              <a:t>, </a:t>
            </a:r>
            <a:r>
              <a:rPr dirty="0" err="1"/>
              <a:t>Antigravity로</a:t>
            </a:r>
            <a:r>
              <a:rPr dirty="0"/>
              <a:t> </a:t>
            </a:r>
            <a:r>
              <a:rPr dirty="0" err="1"/>
              <a:t>간단한</a:t>
            </a:r>
            <a:r>
              <a:rPr dirty="0"/>
              <a:t> </a:t>
            </a:r>
            <a:r>
              <a:rPr dirty="0" err="1"/>
              <a:t>실습을</a:t>
            </a:r>
            <a:r>
              <a:rPr dirty="0"/>
              <a:t> 한 뒤, </a:t>
            </a:r>
            <a:r>
              <a:rPr dirty="0" err="1"/>
              <a:t>각자</a:t>
            </a:r>
            <a:r>
              <a:rPr dirty="0"/>
              <a:t> </a:t>
            </a:r>
            <a:r>
              <a:rPr dirty="0" err="1"/>
              <a:t>노트북에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환경을</a:t>
            </a:r>
            <a:r>
              <a:rPr dirty="0"/>
              <a:t> </a:t>
            </a:r>
            <a:r>
              <a:rPr dirty="0" err="1"/>
              <a:t>셋팅합니다</a:t>
            </a:r>
            <a:r>
              <a:rPr dirty="0"/>
              <a:t>.</a:t>
            </a:r>
          </a:p>
          <a:p>
            <a:r>
              <a:rPr dirty="0" err="1"/>
              <a:t>셋팅이</a:t>
            </a:r>
            <a:r>
              <a:rPr dirty="0"/>
              <a:t> </a:t>
            </a:r>
            <a:r>
              <a:rPr dirty="0" err="1"/>
              <a:t>빨리</a:t>
            </a:r>
            <a:r>
              <a:rPr dirty="0"/>
              <a:t> </a:t>
            </a:r>
            <a:r>
              <a:rPr dirty="0" err="1"/>
              <a:t>끝나면</a:t>
            </a:r>
            <a:r>
              <a:rPr dirty="0"/>
              <a:t> </a:t>
            </a:r>
            <a:r>
              <a:rPr dirty="0" err="1"/>
              <a:t>수업도</a:t>
            </a:r>
            <a:r>
              <a:rPr dirty="0"/>
              <a:t> </a:t>
            </a:r>
            <a:r>
              <a:rPr dirty="0" err="1"/>
              <a:t>일찍</a:t>
            </a:r>
            <a:r>
              <a:rPr dirty="0"/>
              <a:t> </a:t>
            </a:r>
            <a:r>
              <a:rPr dirty="0" err="1"/>
              <a:t>마칠</a:t>
            </a:r>
            <a:r>
              <a:rPr dirty="0"/>
              <a:t> 수 </a:t>
            </a:r>
            <a:r>
              <a:rPr dirty="0" err="1"/>
              <a:t>있어요</a:t>
            </a:r>
            <a:r>
              <a:rPr dirty="0"/>
              <a:t>.</a:t>
            </a:r>
          </a:p>
          <a:p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하루는</a:t>
            </a:r>
            <a:r>
              <a:rPr dirty="0"/>
              <a:t> </a:t>
            </a:r>
            <a:r>
              <a:rPr dirty="0" err="1"/>
              <a:t>부담</a:t>
            </a:r>
            <a:r>
              <a:rPr dirty="0"/>
              <a:t> </a:t>
            </a:r>
            <a:r>
              <a:rPr dirty="0" err="1"/>
              <a:t>갖지</a:t>
            </a:r>
            <a:r>
              <a:rPr dirty="0"/>
              <a:t> </a:t>
            </a:r>
            <a:r>
              <a:rPr dirty="0" err="1"/>
              <a:t>말고</a:t>
            </a:r>
            <a:r>
              <a:rPr dirty="0"/>
              <a:t>, </a:t>
            </a:r>
            <a:r>
              <a:rPr dirty="0" err="1"/>
              <a:t>모르는</a:t>
            </a:r>
            <a:r>
              <a:rPr dirty="0"/>
              <a:t> 건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물어보면서</a:t>
            </a:r>
            <a:r>
              <a:rPr dirty="0"/>
              <a:t> </a:t>
            </a:r>
            <a:r>
              <a:rPr dirty="0" err="1"/>
              <a:t>즐겁게</a:t>
            </a:r>
            <a:r>
              <a:rPr dirty="0"/>
              <a:t> </a:t>
            </a:r>
            <a:r>
              <a:rPr dirty="0" err="1"/>
              <a:t>따라와</a:t>
            </a:r>
            <a:r>
              <a:rPr dirty="0"/>
              <a:t> </a:t>
            </a:r>
            <a:r>
              <a:rPr dirty="0" err="1"/>
              <a:t>주세요</a:t>
            </a:r>
            <a:r>
              <a:rPr dirty="0"/>
              <a:t>.</a:t>
            </a:r>
          </a:p>
          <a:p>
            <a:r>
              <a:rPr dirty="0" err="1"/>
              <a:t>궁금한</a:t>
            </a:r>
            <a:r>
              <a:rPr dirty="0"/>
              <a:t> </a:t>
            </a:r>
            <a:r>
              <a:rPr dirty="0" err="1"/>
              <a:t>점은</a:t>
            </a:r>
            <a:r>
              <a:rPr dirty="0"/>
              <a:t> </a:t>
            </a:r>
            <a:r>
              <a:rPr dirty="0" err="1"/>
              <a:t>언제든</a:t>
            </a:r>
            <a:r>
              <a:rPr dirty="0"/>
              <a:t> </a:t>
            </a:r>
            <a:r>
              <a:rPr dirty="0" err="1"/>
              <a:t>단톡방에</a:t>
            </a:r>
            <a:r>
              <a:rPr dirty="0"/>
              <a:t> </a:t>
            </a:r>
            <a:r>
              <a:rPr dirty="0" err="1"/>
              <a:t>남겨</a:t>
            </a:r>
            <a:r>
              <a:rPr dirty="0"/>
              <a:t> </a:t>
            </a:r>
            <a:r>
              <a:rPr dirty="0" err="1"/>
              <a:t>주세요</a:t>
            </a:r>
            <a:r>
              <a:rPr dirty="0"/>
              <a:t>. </a:t>
            </a:r>
            <a:r>
              <a:rPr dirty="0" err="1"/>
              <a:t>그럼</a:t>
            </a:r>
            <a:r>
              <a:rPr dirty="0"/>
              <a:t> </a:t>
            </a:r>
            <a:r>
              <a:rPr dirty="0" err="1"/>
              <a:t>시작해</a:t>
            </a:r>
            <a:r>
              <a:rPr dirty="0"/>
              <a:t> </a:t>
            </a:r>
            <a:r>
              <a:rPr dirty="0" err="1"/>
              <a:t>볼까요</a:t>
            </a:r>
            <a:r>
              <a:rPr dirty="0"/>
              <a:t>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오늘 수업은 이렇게 네 파트로 진행됩니다.</a:t>
            </a:r>
          </a:p>
          <a:p>
            <a:r>
              <a:t>첫 번째는 바이브코딩 분반 소개로, 한 학기 동안 무엇을 배우는지 이야기해요.</a:t>
            </a:r>
          </a:p>
          <a:p>
            <a:r>
              <a:t>두 번째는 Antigravity 소개와 실습이에요. 직접 자기소개 페이지를 만들어 봅니다.</a:t>
            </a:r>
          </a:p>
          <a:p>
            <a:r>
              <a:t>세 번째는 개발 환경 셋팅으로, 필요한 프로그램을 설치하고 점검해요.</a:t>
            </a:r>
          </a:p>
          <a:p>
            <a:r>
              <a:t>마지막 네 번째는 마무리와 질의응답입니다.</a:t>
            </a:r>
          </a:p>
          <a:p>
            <a:r>
              <a:t>파트 사이사이에 쉬는 시간이 있으니 부담 갖지 않으셔도 돼요.</a:t>
            </a:r>
          </a:p>
          <a:p>
            <a:r>
              <a:t>순서대로 하나씩 진행할 테니, 지금은 흐름만 가볍게 봐 두시면 충분해요. 그럼 첫 번째 파트로 가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그럼 첫 번째 파트, 분반 소개부터 시작하겠습니다.</a:t>
            </a:r>
          </a:p>
          <a:p>
            <a:r>
              <a:t>이 파트는 약 20분 정도 진행돼요.</a:t>
            </a:r>
          </a:p>
          <a:p>
            <a:r>
              <a:t>바이브코딩이 무엇인지, 앞으로 8차시 동안 어떤 내용을 배우는지 먼저 살펴볼 거예요.</a:t>
            </a:r>
          </a:p>
          <a:p>
            <a:r>
              <a:t>그리고 이번 학기에 우리가 함께 이루고 싶은 목표와, 수업을 어떻게 따라오면 좋은지도 알려 드릴게요.</a:t>
            </a:r>
          </a:p>
          <a:p>
            <a:r>
              <a:t>처음 듣는 용어가 나와도 괜찮아요. 오늘은 전체 그림만 가볍게 잡는다고 생각해 주세요.</a:t>
            </a:r>
          </a:p>
          <a:p>
            <a:r>
              <a:t>코딩을 전혀 몰라도 따라올 수 있도록 천천히 진행하겠습니다.</a:t>
            </a:r>
          </a:p>
          <a:p>
            <a:r>
              <a:t>그럼 먼저 오늘 하루의 시간표부터 확인해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먼저 오늘의 시간표를 보여 드릴게요.</a:t>
            </a:r>
          </a:p>
          <a:p>
            <a:r>
              <a:t>19시부터 20분 동안 분반 소개를 하고, 10분 쉬어 갑니다.</a:t>
            </a:r>
          </a:p>
          <a:p>
            <a:r>
              <a:t>19시 30분부터는 Antigravity를 소개하고 자기소개 페이지를 만드는 실습을 해요.</a:t>
            </a:r>
          </a:p>
          <a:p>
            <a:r>
              <a:t>다시 10분 쉬고, 20시부터 30분 동안 개발 환경을 셋팅합니다.</a:t>
            </a:r>
          </a:p>
          <a:p>
            <a:r>
              <a:t>마지막 10분은 질의응답과 다음 수업 안내예요.</a:t>
            </a:r>
          </a:p>
          <a:p>
            <a:r>
              <a:t>20~30분 수업하고 10분 쉬는 방식이라 집중하기 좋을 거예요. 셋팅이 다 끝나면 일찍 마칩니다!</a:t>
            </a:r>
          </a:p>
          <a:p>
            <a:r>
              <a:t>지금은 시간 흐름만 기억해 두시면 돼요. 그럼 바이브코딩이 무엇인지부터 알아볼게요.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dirty="0" err="1"/>
              <a:t>그럼</a:t>
            </a:r>
            <a:r>
              <a:rPr dirty="0"/>
              <a:t> </a:t>
            </a:r>
            <a:r>
              <a:rPr dirty="0" err="1"/>
              <a:t>바이브코딩이</a:t>
            </a:r>
            <a:r>
              <a:rPr dirty="0"/>
              <a:t> </a:t>
            </a:r>
            <a:r>
              <a:rPr dirty="0" err="1"/>
              <a:t>무엇인지부터</a:t>
            </a:r>
            <a:r>
              <a:rPr dirty="0"/>
              <a:t> </a:t>
            </a:r>
            <a:r>
              <a:rPr dirty="0" err="1"/>
              <a:t>알아볼게요</a:t>
            </a:r>
            <a:r>
              <a:rPr dirty="0"/>
              <a:t>.</a:t>
            </a:r>
          </a:p>
          <a:p>
            <a:r>
              <a:rPr dirty="0" err="1"/>
              <a:t>바이브코딩은</a:t>
            </a:r>
            <a:r>
              <a:rPr dirty="0"/>
              <a:t> </a:t>
            </a:r>
            <a:r>
              <a:rPr dirty="0" err="1"/>
              <a:t>한마디로</a:t>
            </a:r>
            <a:r>
              <a:rPr dirty="0"/>
              <a:t> '</a:t>
            </a:r>
            <a:r>
              <a:rPr dirty="0" err="1"/>
              <a:t>말로</a:t>
            </a:r>
            <a:r>
              <a:rPr dirty="0"/>
              <a:t>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코딩'입니다</a:t>
            </a:r>
            <a:r>
              <a:rPr dirty="0"/>
              <a:t>.</a:t>
            </a:r>
          </a:p>
          <a:p>
            <a:r>
              <a:rPr dirty="0"/>
              <a:t>2025년에 OpenAI </a:t>
            </a:r>
            <a:r>
              <a:rPr dirty="0" err="1"/>
              <a:t>공동창업자였던</a:t>
            </a:r>
            <a:r>
              <a:rPr dirty="0"/>
              <a:t> </a:t>
            </a:r>
            <a:r>
              <a:rPr dirty="0" err="1"/>
              <a:t>안드레이</a:t>
            </a:r>
            <a:r>
              <a:rPr dirty="0"/>
              <a:t> </a:t>
            </a:r>
            <a:r>
              <a:rPr dirty="0" err="1"/>
              <a:t>카르파시가</a:t>
            </a:r>
            <a:r>
              <a:rPr dirty="0"/>
              <a:t> </a:t>
            </a:r>
            <a:r>
              <a:rPr dirty="0" err="1"/>
              <a:t>처음</a:t>
            </a:r>
            <a:r>
              <a:rPr dirty="0"/>
              <a:t> 쓴 </a:t>
            </a:r>
            <a:r>
              <a:rPr dirty="0" err="1"/>
              <a:t>용어예요</a:t>
            </a:r>
            <a:r>
              <a:rPr dirty="0"/>
              <a:t>.</a:t>
            </a:r>
          </a:p>
          <a:p>
            <a:r>
              <a:rPr dirty="0" err="1"/>
              <a:t>과정은</a:t>
            </a:r>
            <a:r>
              <a:rPr dirty="0"/>
              <a:t> 세 </a:t>
            </a:r>
            <a:r>
              <a:rPr dirty="0" err="1"/>
              <a:t>단계예요</a:t>
            </a:r>
            <a:r>
              <a:rPr dirty="0"/>
              <a:t>. </a:t>
            </a:r>
            <a:r>
              <a:rPr dirty="0" err="1"/>
              <a:t>만들고</a:t>
            </a:r>
            <a:r>
              <a:rPr dirty="0"/>
              <a:t> </a:t>
            </a:r>
            <a:r>
              <a:rPr dirty="0" err="1"/>
              <a:t>싶은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</a:t>
            </a:r>
            <a:r>
              <a:rPr dirty="0" err="1"/>
              <a:t>말로</a:t>
            </a:r>
            <a:r>
              <a:rPr dirty="0"/>
              <a:t> </a:t>
            </a:r>
            <a:r>
              <a:rPr dirty="0" err="1"/>
              <a:t>설명하면</a:t>
            </a:r>
            <a:r>
              <a:rPr dirty="0"/>
              <a:t>,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작성하고</a:t>
            </a:r>
            <a:r>
              <a:rPr dirty="0"/>
              <a:t>, </a:t>
            </a:r>
            <a:r>
              <a:rPr dirty="0" err="1"/>
              <a:t>우리는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말로</a:t>
            </a:r>
            <a:r>
              <a:rPr dirty="0"/>
              <a:t> </a:t>
            </a:r>
            <a:r>
              <a:rPr dirty="0" err="1"/>
              <a:t>고칩니다</a:t>
            </a:r>
            <a:r>
              <a:rPr dirty="0"/>
              <a:t>.</a:t>
            </a:r>
          </a:p>
          <a:p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코딩</a:t>
            </a:r>
            <a:r>
              <a:rPr dirty="0"/>
              <a:t> </a:t>
            </a:r>
            <a:r>
              <a:rPr dirty="0" err="1"/>
              <a:t>문법을</a:t>
            </a:r>
            <a:r>
              <a:rPr dirty="0"/>
              <a:t> </a:t>
            </a:r>
            <a:r>
              <a:rPr dirty="0" err="1"/>
              <a:t>몰라도</a:t>
            </a:r>
            <a:r>
              <a:rPr dirty="0"/>
              <a:t> </a:t>
            </a:r>
            <a:r>
              <a:rPr dirty="0" err="1"/>
              <a:t>시작할</a:t>
            </a:r>
            <a:r>
              <a:rPr dirty="0"/>
              <a:t> 수 </a:t>
            </a:r>
            <a:r>
              <a:rPr dirty="0" err="1"/>
              <a:t>있어요</a:t>
            </a:r>
            <a:r>
              <a:rPr dirty="0"/>
              <a:t>.</a:t>
            </a:r>
          </a:p>
          <a:p>
            <a:r>
              <a:rPr dirty="0" err="1"/>
              <a:t>핵심은</a:t>
            </a:r>
            <a:r>
              <a:rPr dirty="0"/>
              <a:t> '</a:t>
            </a:r>
            <a:r>
              <a:rPr dirty="0" err="1"/>
              <a:t>내가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원하는지</a:t>
            </a:r>
            <a:r>
              <a:rPr dirty="0"/>
              <a:t>' </a:t>
            </a:r>
            <a:r>
              <a:rPr dirty="0" err="1"/>
              <a:t>정확히</a:t>
            </a:r>
            <a:r>
              <a:rPr dirty="0"/>
              <a:t> </a:t>
            </a:r>
            <a:r>
              <a:rPr dirty="0" err="1"/>
              <a:t>설명하는</a:t>
            </a:r>
            <a:r>
              <a:rPr dirty="0"/>
              <a:t> </a:t>
            </a:r>
            <a:r>
              <a:rPr dirty="0" err="1"/>
              <a:t>힘입니다</a:t>
            </a:r>
            <a:r>
              <a:rPr dirty="0"/>
              <a:t>.</a:t>
            </a:r>
          </a:p>
          <a:p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실습에서도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이 </a:t>
            </a:r>
            <a:r>
              <a:rPr dirty="0" err="1"/>
              <a:t>방식으로</a:t>
            </a:r>
            <a:r>
              <a:rPr dirty="0"/>
              <a:t> </a:t>
            </a:r>
            <a:r>
              <a:rPr dirty="0" err="1"/>
              <a:t>자기소개</a:t>
            </a:r>
            <a:r>
              <a:rPr dirty="0"/>
              <a:t> </a:t>
            </a:r>
            <a:r>
              <a:rPr dirty="0" err="1"/>
              <a:t>페이지를</a:t>
            </a:r>
            <a:r>
              <a:rPr dirty="0"/>
              <a:t> </a:t>
            </a:r>
            <a:r>
              <a:rPr dirty="0" err="1"/>
              <a:t>만들어</a:t>
            </a:r>
            <a:r>
              <a:rPr dirty="0"/>
              <a:t> 볼 </a:t>
            </a:r>
            <a:r>
              <a:rPr dirty="0" err="1"/>
              <a:t>거예요</a:t>
            </a:r>
            <a:r>
              <a:rPr dirty="0"/>
              <a:t>.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장에서</a:t>
            </a:r>
            <a:r>
              <a:rPr dirty="0"/>
              <a:t> </a:t>
            </a:r>
            <a:r>
              <a:rPr dirty="0" err="1"/>
              <a:t>예전</a:t>
            </a:r>
            <a:r>
              <a:rPr dirty="0"/>
              <a:t> </a:t>
            </a:r>
            <a:r>
              <a:rPr dirty="0" err="1"/>
              <a:t>코딩과</a:t>
            </a:r>
            <a:r>
              <a:rPr dirty="0"/>
              <a:t> </a:t>
            </a:r>
            <a:r>
              <a:rPr dirty="0" err="1"/>
              <a:t>비교해</a:t>
            </a:r>
            <a:r>
              <a:rPr dirty="0"/>
              <a:t> </a:t>
            </a:r>
            <a:r>
              <a:rPr dirty="0" err="1"/>
              <a:t>볼게요</a:t>
            </a:r>
            <a:r>
              <a:rPr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예전 코딩과 바이브코딩을 비교해 볼게요.</a:t>
            </a:r>
          </a:p>
          <a:p>
            <a:r>
              <a:t>예전에는 사람이 문법을 외워서 코드를 직접 썼고, 막히면 검색하거나 책을 찾아봤어요.</a:t>
            </a:r>
          </a:p>
          <a:p>
            <a:r>
              <a:t>바이브코딩에서는 AI가 코드를 대신 쓰고, 막히면 "이 에러 왜 나?" 하고 AI에게 바로 물어봅니다.</a:t>
            </a:r>
          </a:p>
          <a:p>
            <a:r>
              <a:t>그래서 우리의 역할도 '작성자'에서 '기획자 겸 검토자'로 바뀌어요.</a:t>
            </a:r>
          </a:p>
          <a:p>
            <a:r>
              <a:t>다만 AI도 틀릴 수 있으니, 결과를 꼭 직접 눈으로 확인하는 습관이 중요합니다.</a:t>
            </a:r>
          </a:p>
          <a:p>
            <a:r>
              <a:t>이 '확인하는 습관'이 이번 학기 내내 가장 중요한 기본기예요. 다음은 8차시 동안 무엇을 배우는지 로드맵을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8차시 로드맵을 살펴볼게요. 먼저 1~4차시입니다.</a:t>
            </a:r>
          </a:p>
          <a:p>
            <a:r>
              <a:t>오늘 1차시는 오리엔테이션과 개발 환경 구축이에요.</a:t>
            </a:r>
          </a:p>
          <a:p>
            <a:r>
              <a:t>2차시에는 AI와 소통할 때 가장 많이 쓰는 문서 형식인 Markdown을 배우고, HTML과 비교해 봐요.</a:t>
            </a:r>
          </a:p>
          <a:p>
            <a:r>
              <a:t>3차시는 AI에게 잘 부탁하는 법, 즉 프롬프트와 컨텍스트, 하네스 엔지니어링을 다룹니다.</a:t>
            </a:r>
          </a:p>
          <a:p>
            <a:r>
              <a:t>4차시에는 LLM이 무엇인지, 그리고 LLM 에이전트가 어떻게 동작하는지 이해해 봐요.</a:t>
            </a:r>
          </a:p>
          <a:p>
            <a:r>
              <a:t>전반부는 도구와 기초 개념을 다지는 시간이에요.</a:t>
            </a:r>
          </a:p>
          <a:p>
            <a:r>
              <a:t>그럼 이어서 후반부인 5~8차시를 살펴볼게요.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다음은 5~8차시, 후반부입니다.</a:t>
            </a:r>
          </a:p>
          <a:p>
            <a:r>
              <a:t>5차시에는 내 자료를 찾아서 답하는 AI인 RAG를 배우고, LangChain으로 간단히 실습해요.</a:t>
            </a:r>
          </a:p>
          <a:p>
            <a:r>
              <a:t>6차시는 AI에게 도구를 연결하는 Skill과 MCP를 배우고, 나만의 Skill을 만들어 봅니다.</a:t>
            </a:r>
          </a:p>
          <a:p>
            <a:r>
              <a:t>7차시에는 만든 서비스를 인터넷에 올리는 배포를 다뤄요. Vercel이나 Railway를 사용합니다.</a:t>
            </a:r>
          </a:p>
          <a:p>
            <a:r>
              <a:t>마지막 8차시는 내 아이디어를 직접 구현하는 미니 프로젝트로, 해커톤 준비까지 이어져요.</a:t>
            </a:r>
          </a:p>
          <a:p>
            <a:r>
              <a:t>후반부는 실제로 동작하는 AI 서비스를 만들어 보는 시간이에요.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그럼 이번 학기 목표를 정리해 볼게요. 목표는 세 단계입니다.</a:t>
            </a:r>
          </a:p>
          <a:p>
            <a:r>
              <a:t>STEP 1은 환경 구축이에요. Antigravity로 나만의 AI 개발 환경을 완성합니다.</a:t>
            </a:r>
          </a:p>
          <a:p>
            <a:r>
              <a:t>STEP 2는 AI 이해하기예요. LLM, RAG, MCP 같은 핵심 개념을 내 말로 설명할 수 있게 되는 거죠.</a:t>
            </a:r>
          </a:p>
          <a:p>
            <a:r>
              <a:t>STEP 3은 직접 만들기입니다. 미니 프로젝트로 해커톤 아이디어를 구현해 봐요.</a:t>
            </a:r>
          </a:p>
          <a:p>
            <a:r>
              <a:t>코딩 실력 자체보다 'AI와 함께 무언가를 만들어 본 경험'을 얻는 게 가장 큰 목표예요.</a:t>
            </a:r>
          </a:p>
          <a:p>
            <a:r>
              <a:t>이 목표를 위해 어떻게 공부하면 좋을지 알려 드릴게요.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그렇다면 어떻게 공부하면 좋을까요? 핵심 원칙은 코드를 외울 필요는 없다는 거예요.</a:t>
            </a:r>
          </a:p>
          <a:p>
            <a:r>
              <a:t>첫 번째 팁, 직접 따라 하기. 보기만 하면 실력이 늘지 않으니 수업 중에 꼭 같이 입력해 보세요.</a:t>
            </a:r>
          </a:p>
          <a:p>
            <a:r>
              <a:t>두 번째 팁, AI에게 묻기. 모르면 "이 코드 쉽게 설명해줘" 하고 바로 질문하면 돼요.</a:t>
            </a:r>
          </a:p>
          <a:p>
            <a:r>
              <a:t>세 번째 팁, 결과 공유하기. 만든 걸 단톡방에 올리면 서로 보고 배울 수 있어요.</a:t>
            </a:r>
          </a:p>
          <a:p>
            <a:r>
              <a:t>AI에게 잘 설명하고, 결과를 확인하는 연습이 전부예요. 부담 갖지 말고 하나씩 따라와 주세요.</a:t>
            </a:r>
          </a:p>
          <a:p>
            <a:r>
              <a:t>이 세 가지만 지켜도 충분합니다.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자, 첫 번째 파트가 끝났습니다. 10분 쉬어 갈게요.</a:t>
            </a:r>
          </a:p>
          <a:p>
            <a:r>
              <a:t>19시 30분에 다시 시작합니다.</a:t>
            </a:r>
          </a:p>
          <a:p>
            <a:r>
              <a:t>다음 파트에서는 Antigravity 2.0으로 바로 실습을 진행해요.</a:t>
            </a:r>
          </a:p>
          <a:p>
            <a:r>
              <a:t>그래서 아직 Antigravity 2.0을 설치하지 못한 분은 이 쉬는 시간에 설치해 주시면 좋겠어요.</a:t>
            </a:r>
          </a:p>
          <a:p>
            <a:r>
              <a:t>설치하다 막히면 편하게 손을 들어 주세요. 운영진이 돌아다니면서 도와드릴게요.</a:t>
            </a:r>
          </a:p>
          <a:p>
            <a:r>
              <a:t>물도 한 잔 드시고, 편하게 쉬다 오세요!</a:t>
            </a:r>
          </a:p>
          <a:p>
            <a:r>
              <a:t>쉬는 동안 옆자리 분과 인사를 나눠 보셔도 좋아요. 19시 30분에 Antigravity 파트로 다시 만나요.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다시 시작하겠습니다. 두 번째 파트는 Antigravity예요.</a:t>
            </a:r>
          </a:p>
          <a:p>
            <a:r>
              <a:t>이 파트도 약 20분 동안 진행합니다.</a:t>
            </a:r>
          </a:p>
          <a:p>
            <a:r>
              <a:t>Antigravity는 앞으로 8차시 내내 우리가 사용할 메인 도구예요.</a:t>
            </a:r>
          </a:p>
          <a:p>
            <a:r>
              <a:t>먼저 Antigravity가 어떤 도구인지 소개하고, Antigravity 2.0과 IDE가 어떻게 다른지 비교해 볼게요.</a:t>
            </a:r>
          </a:p>
          <a:p>
            <a:r>
              <a:t>그다음에는 직접 나만의 자기소개 페이지를 만들어 보는 실습을 합니다.</a:t>
            </a:r>
          </a:p>
          <a:p>
            <a:r>
              <a:t>오늘의 첫 번째 바이브코딩이에요. 기대해 주세요!</a:t>
            </a:r>
          </a:p>
          <a:p>
            <a:r>
              <a:t>그럼 먼저 Antigravity가 어떤 도구인지부터 알아볼게요.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Antigravity는 구글이 만든 AI 에이전트 도구입니다.</a:t>
            </a:r>
          </a:p>
          <a:p>
            <a:r>
              <a:t>여기서 에이전트는 '스스로 일하는 AI 비서'라고 생각하면 돼요.</a:t>
            </a:r>
          </a:p>
          <a:p>
            <a:r>
              <a:t>ChatGPT처럼 대화만 하는 게 아니라, 할 일을 말로 맡기면 에이전트가 계획을 세우고, 코드를 쓰고, 실행해서 결과까지 스스로 확인해요.</a:t>
            </a:r>
          </a:p>
          <a:p>
            <a:r>
              <a:t>예를 들어 "index.html 만들어줘" 하면 실제로 내 폴더에 파일이 생깁니다.</a:t>
            </a:r>
          </a:p>
          <a:p>
            <a:r>
              <a:t>Google 계정만 있으면 무료로 시작할 수 있어요.</a:t>
            </a:r>
          </a:p>
          <a:p>
            <a:r>
              <a:t>다음 장에서는 Antigravity가 제공하는 네 가지 도구를 살펴볼게요.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Antigravity는 네 가지 형태로 제공돼요. 이걸 Surface라고 부릅니다.</a:t>
            </a:r>
          </a:p>
          <a:p>
            <a:r>
              <a:t>첫째, Antigravity 2.0은 에이전트와 대화하는 데스크톱 앱으로, 여러 작업을 동시에 맡길 수 있어요.</a:t>
            </a:r>
          </a:p>
          <a:p>
            <a:r>
              <a:t>둘째, Antigravity IDE는 VS Code 기반의 코드 편집기로, 수정 내용을 한 줄씩 확인할 수 있어요.</a:t>
            </a:r>
          </a:p>
          <a:p>
            <a:r>
              <a:t>이 두 개가 우리 수업의 필수 도구입니다.</a:t>
            </a:r>
          </a:p>
          <a:p>
            <a:r>
              <a:t>나머지 CLI는 터미널에서 agy 명령어로 실행하고, SDK는 에이전트를 만드는 Python 라이브러리예요. 이 둘은 선택입니다.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도구인</a:t>
            </a:r>
            <a:r>
              <a:rPr dirty="0"/>
              <a:t> 2.0과 </a:t>
            </a:r>
            <a:r>
              <a:rPr dirty="0" err="1"/>
              <a:t>IDE의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좀 더 </a:t>
            </a:r>
            <a:r>
              <a:rPr dirty="0" err="1"/>
              <a:t>살펴볼게요</a:t>
            </a:r>
            <a:r>
              <a:rPr dirty="0"/>
              <a:t>.</a:t>
            </a:r>
          </a:p>
          <a:p>
            <a:r>
              <a:rPr dirty="0"/>
              <a:t>2.0은 </a:t>
            </a:r>
            <a:r>
              <a:rPr dirty="0" err="1"/>
              <a:t>대화</a:t>
            </a:r>
            <a:r>
              <a:rPr dirty="0"/>
              <a:t> </a:t>
            </a:r>
            <a:r>
              <a:rPr dirty="0" err="1"/>
              <a:t>화면이</a:t>
            </a:r>
            <a:r>
              <a:rPr dirty="0"/>
              <a:t> </a:t>
            </a:r>
            <a:r>
              <a:rPr dirty="0" err="1"/>
              <a:t>중심이고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에디터가</a:t>
            </a:r>
            <a:r>
              <a:rPr dirty="0"/>
              <a:t> </a:t>
            </a:r>
            <a:r>
              <a:rPr dirty="0" err="1"/>
              <a:t>없어요</a:t>
            </a:r>
            <a:r>
              <a:rPr dirty="0"/>
              <a:t>. </a:t>
            </a:r>
            <a:r>
              <a:rPr dirty="0" err="1"/>
              <a:t>대신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작업을</a:t>
            </a:r>
            <a:r>
              <a:rPr dirty="0"/>
              <a:t> </a:t>
            </a:r>
            <a:r>
              <a:rPr dirty="0" err="1"/>
              <a:t>병렬로</a:t>
            </a:r>
            <a:r>
              <a:rPr dirty="0"/>
              <a:t> </a:t>
            </a:r>
            <a:r>
              <a:rPr dirty="0" err="1"/>
              <a:t>맡기기</a:t>
            </a:r>
            <a:r>
              <a:rPr dirty="0"/>
              <a:t> </a:t>
            </a:r>
            <a:r>
              <a:rPr dirty="0" err="1"/>
              <a:t>좋습니다</a:t>
            </a:r>
            <a:r>
              <a:rPr dirty="0"/>
              <a:t>.</a:t>
            </a:r>
          </a:p>
          <a:p>
            <a:r>
              <a:rPr dirty="0" err="1"/>
              <a:t>IDE는</a:t>
            </a:r>
            <a:r>
              <a:rPr dirty="0"/>
              <a:t> VS Code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편집기가</a:t>
            </a:r>
            <a:r>
              <a:rPr dirty="0"/>
              <a:t> </a:t>
            </a:r>
            <a:r>
              <a:rPr dirty="0" err="1"/>
              <a:t>중심이라</a:t>
            </a:r>
            <a:r>
              <a:rPr dirty="0"/>
              <a:t>, </a:t>
            </a:r>
            <a:r>
              <a:rPr dirty="0" err="1"/>
              <a:t>에이전트가</a:t>
            </a:r>
            <a:r>
              <a:rPr dirty="0"/>
              <a:t> </a:t>
            </a:r>
            <a:r>
              <a:rPr dirty="0" err="1"/>
              <a:t>고친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한 </a:t>
            </a:r>
            <a:r>
              <a:rPr dirty="0" err="1"/>
              <a:t>줄씩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수 </a:t>
            </a:r>
            <a:r>
              <a:rPr dirty="0" err="1"/>
              <a:t>있어요</a:t>
            </a:r>
            <a:r>
              <a:rPr dirty="0"/>
              <a:t>.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배우고</a:t>
            </a:r>
            <a:r>
              <a:rPr dirty="0"/>
              <a:t> </a:t>
            </a:r>
            <a:r>
              <a:rPr dirty="0" err="1"/>
              <a:t>꼼꼼히</a:t>
            </a:r>
            <a:r>
              <a:rPr dirty="0"/>
              <a:t> </a:t>
            </a:r>
            <a:r>
              <a:rPr dirty="0" err="1"/>
              <a:t>검토할</a:t>
            </a:r>
            <a:r>
              <a:rPr dirty="0"/>
              <a:t> 때 </a:t>
            </a:r>
            <a:r>
              <a:rPr dirty="0" err="1"/>
              <a:t>적합하죠</a:t>
            </a:r>
            <a:r>
              <a:rPr dirty="0"/>
              <a:t>.</a:t>
            </a:r>
          </a:p>
          <a:p>
            <a:r>
              <a:rPr dirty="0" err="1"/>
              <a:t>아이콘도</a:t>
            </a:r>
            <a:r>
              <a:rPr dirty="0"/>
              <a:t> </a:t>
            </a:r>
            <a:r>
              <a:rPr dirty="0" err="1"/>
              <a:t>달라요</a:t>
            </a:r>
            <a:r>
              <a:rPr dirty="0"/>
              <a:t>. 2.0은 </a:t>
            </a:r>
            <a:r>
              <a:rPr dirty="0" err="1"/>
              <a:t>흰색</a:t>
            </a:r>
            <a:r>
              <a:rPr dirty="0"/>
              <a:t> </a:t>
            </a:r>
            <a:r>
              <a:rPr dirty="0" err="1"/>
              <a:t>배경</a:t>
            </a:r>
            <a:r>
              <a:rPr dirty="0"/>
              <a:t>, </a:t>
            </a:r>
            <a:r>
              <a:rPr dirty="0" err="1"/>
              <a:t>IDE는</a:t>
            </a:r>
            <a:r>
              <a:rPr dirty="0"/>
              <a:t> </a:t>
            </a:r>
            <a:r>
              <a:rPr dirty="0" err="1"/>
              <a:t>검은색</a:t>
            </a:r>
            <a:r>
              <a:rPr dirty="0"/>
              <a:t> </a:t>
            </a:r>
            <a:r>
              <a:rPr dirty="0" err="1"/>
              <a:t>격자예요</a:t>
            </a:r>
            <a:r>
              <a:rPr dirty="0"/>
              <a:t>.</a:t>
            </a:r>
          </a:p>
          <a:p>
            <a:r>
              <a:rPr dirty="0"/>
              <a:t>두 </a:t>
            </a:r>
            <a:r>
              <a:rPr dirty="0" err="1"/>
              <a:t>앱은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설치해도</a:t>
            </a:r>
            <a:r>
              <a:rPr dirty="0"/>
              <a:t> </a:t>
            </a:r>
            <a:r>
              <a:rPr dirty="0" err="1"/>
              <a:t>충돌하지</a:t>
            </a:r>
            <a:r>
              <a:rPr dirty="0"/>
              <a:t> </a:t>
            </a:r>
            <a:r>
              <a:rPr dirty="0" err="1"/>
              <a:t>않으니</a:t>
            </a:r>
            <a:r>
              <a:rPr dirty="0"/>
              <a:t> </a:t>
            </a:r>
            <a:r>
              <a:rPr dirty="0" err="1"/>
              <a:t>안심하세요</a:t>
            </a:r>
            <a:r>
              <a:rPr dirty="0"/>
              <a:t>.</a:t>
            </a:r>
          </a:p>
          <a:p>
            <a:r>
              <a:rPr dirty="0" err="1"/>
              <a:t>그럼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장에서</a:t>
            </a:r>
            <a:r>
              <a:rPr dirty="0"/>
              <a:t> 두 </a:t>
            </a:r>
            <a:r>
              <a:rPr dirty="0" err="1"/>
              <a:t>앱의</a:t>
            </a:r>
            <a:r>
              <a:rPr dirty="0"/>
              <a:t> </a:t>
            </a:r>
            <a:r>
              <a:rPr dirty="0" err="1"/>
              <a:t>아이콘을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비교해</a:t>
            </a:r>
            <a:r>
              <a:rPr dirty="0"/>
              <a:t> </a:t>
            </a:r>
            <a:r>
              <a:rPr dirty="0" err="1"/>
              <a:t>볼게요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화면에 보이는 두 아이콘을 비교해 볼게요.</a:t>
            </a:r>
          </a:p>
          <a:p>
            <a:r>
              <a:t>흰색 배경 아이콘이 Antigravity 2.0이고, 검은색 격자 아이콘이 Antigravity IDE입니다.</a:t>
            </a:r>
          </a:p>
          <a:p>
            <a:r>
              <a:t>이름이 비슷해서 처음에는 헷갈리기 쉬워요.</a:t>
            </a:r>
          </a:p>
          <a:p>
            <a:r>
              <a:t>실제로 IDE를 켜려다 2.0을 실행하는 경우가 자주 있습니다.</a:t>
            </a:r>
          </a:p>
          <a:p>
            <a:r>
              <a:t>그러니 앱을 실행할 때 아이콘 색을 꼭 한 번 확인하는 습관을 들여 주세요.</a:t>
            </a:r>
          </a:p>
          <a:p>
            <a:r>
              <a:t>'흰색은 대화, 검은색은 코드'라고 기억하면 쉬워요.</a:t>
            </a:r>
          </a:p>
          <a:p>
            <a:r>
              <a:t>설치 방법은 3파트에서 함께 진행합니다.</a:t>
            </a:r>
          </a:p>
          <a:p>
            <a:r>
              <a:t>다음은 두 앱을 함께 쓰는 방법이에요.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그럼 두 앱을 어떻게 함께 쓰면 좋을까요?</a:t>
            </a:r>
          </a:p>
          <a:p>
            <a:r>
              <a:t>원리는 간단해요. 두 앱은 디스크에 있는 같은 파일을 읽고 씁니다.</a:t>
            </a:r>
          </a:p>
          <a:p>
            <a:r>
              <a:t>그래서 2.0에서 에이전트가 코드를 고치면 IDE 화면에도 바로 반영돼요.</a:t>
            </a:r>
          </a:p>
          <a:p>
            <a:r>
              <a:t>사용 요령은 세 가지예요. 먼저 두 앱에서 같은 프로젝트 폴더를 열어 주세요.</a:t>
            </a:r>
          </a:p>
          <a:p>
            <a:r>
              <a:t>그리고 작업은 2.0에 맡기고, 검토는 IDE에서 하도록 역할을 나눕니다.</a:t>
            </a:r>
          </a:p>
          <a:p>
            <a:r>
              <a:t>이렇게 하면 에이전트가 무엇을 바꿨는지 한눈에 확인할 수 있어요.</a:t>
            </a:r>
          </a:p>
          <a:p>
            <a:r>
              <a:t>필요한 확장이 OpenVSX에 없다면 .vsix 파일로 직접 설치하면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Antigravity를 잘 쓰는 법, 프롬프트 3원칙을 알려 드릴게요.</a:t>
            </a:r>
          </a:p>
          <a:p>
            <a:r>
              <a:t>프롬프트는 AI에게 보내는 '작업 지시서'예요. 지시가 명확할수록 결과가 좋아집니다.</a:t>
            </a:r>
          </a:p>
          <a:p>
            <a:r>
              <a:t>원칙 1, 구체적으로. '예쁘게' 대신 색, 내용, 파일명까지 말해 주세요.</a:t>
            </a:r>
          </a:p>
          <a:p>
            <a:r>
              <a:t>원칙 2, 한 번에 하나씩. 큰 일은 작게 나눠서 단계별로 요청해요.</a:t>
            </a:r>
          </a:p>
          <a:p>
            <a:r>
              <a:t>원칙 3, 확인하고 고치기. 결과를 직접 열어 보고, 마음에 안 들면 다시 요청하면 됩니다.</a:t>
            </a:r>
          </a:p>
          <a:p>
            <a:r>
              <a:t>프롬프트는 3차시에서 더 깊게 배워요.</a:t>
            </a:r>
          </a:p>
          <a:p>
            <a:r>
              <a:t>다음 장에서 예시로 비교해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같은 요청이라도 어떻게 말하느냐에 따라 결과가 확 달라져요.</a:t>
            </a:r>
          </a:p>
          <a:p>
            <a:r>
              <a:t>"홈페이지 만들어줘"보다 "이름·전공·관심사가 들어간 자기소개 페이지를 index.html 하나로 만들어줘"가 훨씬 좋아요.</a:t>
            </a:r>
          </a:p>
          <a:p>
            <a:r>
              <a:t>"예쁘게 해줘" 대신 배경색과 정렬을 구체적으로 말하고요.</a:t>
            </a:r>
          </a:p>
          <a:p>
            <a:r>
              <a:t>오류가 나면 "안돼"가 아니라, 무엇을 했는데 어떤 결과가 나왔는지 설명하고 에러 메시지를 그대로 붙여 넣어 주세요.</a:t>
            </a:r>
          </a:p>
          <a:p>
            <a:r>
              <a:t>좋은 프롬프트는 결국 '다른 사람이 읽어도 바로 이해되는 설명'이라고 생각하면 쉬워요.</a:t>
            </a:r>
          </a:p>
          <a:p>
            <a:r>
              <a:t>다음 실습에서 좋은 예시를 직접 써 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실습 0, 첫 프로젝트를 만들어 볼게요.</a:t>
            </a:r>
          </a:p>
          <a:p>
            <a:r>
              <a:t>먼저 바탕화면에 my-intro라는 폴더를 만들어 주세요.</a:t>
            </a:r>
          </a:p>
          <a:p>
            <a:r>
              <a:t>Antigravity 2.0에서 Select Project, New Project를 선택하고, Add Folder로 방금 만든 폴더를 지정합니다.</a:t>
            </a:r>
          </a:p>
          <a:p>
            <a:r>
              <a:t>보안 프리셋은 기본값을 그대로 두면 돼요.</a:t>
            </a:r>
          </a:p>
          <a:p>
            <a:r>
              <a:t>채팅창에 "이 프로젝트 설명해줘"라고 입력해서 답변이 나오면 성공이에요.</a:t>
            </a:r>
          </a:p>
          <a:p>
            <a:r>
              <a:t>폴더 경로에 한글이나 공백이 있으면 오류가 날 수 있으니 꼭 영문으로 만들어 주세요.</a:t>
            </a:r>
          </a:p>
          <a:p>
            <a:r>
              <a:t>다들 답변이 나왔나요?</a:t>
            </a:r>
          </a:p>
          <a:p>
            <a:r>
              <a:t>※ 강사용: 아직 설치가 안 된 분은 옆 사람 화면을 함께 보게 하고, 3파트에서 설치를 도와주세요.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실습 1, 자기소개 페이지를 만들어 봅시다. 약 5분 정도 걸려요.</a:t>
            </a:r>
          </a:p>
          <a:p>
            <a:r>
              <a:t>my-intro 폴더를 2.0에서 연 상태로, 왼쪽 프롬프트를 복사해 채팅창에 붙여 넣어 주세요.</a:t>
            </a:r>
          </a:p>
          <a:p>
            <a:r>
              <a:t>이름, 전공, 관심사는 꼭 내 정보로 바꿔 주시고요.</a:t>
            </a:r>
          </a:p>
          <a:p>
            <a:r>
              <a:t>이 프롬프트에는 무엇을, 어떻게, 어떤 모습으로가 모두 들어 있어요. 좋은 프롬프트의 예시죠.</a:t>
            </a:r>
          </a:p>
          <a:p>
            <a:r>
              <a:t>에이전트가 파일을 만들 때까지 기다려 주세요. 실행 허락을 물으면 내용을 확인하고 허용하면 됩니다.</a:t>
            </a:r>
          </a:p>
          <a:p>
            <a:r>
              <a:t>기다리는 동안 에이전트가 어떤 순서로 일하는지 화면을 지켜보는 것도 좋은 공부예요.</a:t>
            </a:r>
          </a:p>
          <a:p>
            <a:r>
              <a:t>※ 강사용: 프롬프트 원문을 노션/GitHub 교재에 올려 두면 복사하기 편합니다.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실습 2, 결과를 확인해 볼게요.</a:t>
            </a:r>
          </a:p>
          <a:p>
            <a:r>
              <a:t>my-intro 폴더에서 index.html 파일을 찾아 더블클릭하면 브라우저로 열립니다. 내 자기소개 페이지가 보이나요?</a:t>
            </a:r>
          </a:p>
          <a:p>
            <a:r>
              <a:t>그다음 IDE에서 코드를 살펴보세요.</a:t>
            </a:r>
          </a:p>
          <a:p>
            <a:r>
              <a:t>코드를 다 이해하지 못해도 괜찮아요. h1은 제목, p는 문단, li는 목록이라는 것 정도만 눈에 익히면 충분합니다.</a:t>
            </a:r>
          </a:p>
          <a:p>
            <a:r>
              <a:t>AI마다 결과물이 조금씩 다를 수 있으니, 화면의 예시와 달라도 걱정하지 마세요.</a:t>
            </a:r>
          </a:p>
          <a:p>
            <a:r>
              <a:t>마음에 드는 부분과 바꾸고 싶은 부분을 떠올려 보세요. 다음 실습에서 말로 고쳐 볼 거예요.</a:t>
            </a:r>
          </a:p>
          <a:p>
            <a:r>
              <a:t>※ 강사용: 오른쪽 회색 박스는 미리 만들어 둔 완성 화면 캡처로 교체하세요.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실습 3은 말로 고쳐 보기입니다. 바이브코딩의 핵심인 '만들고, 확인하고, 말로 고치기'를 경험해 봐요.</a:t>
            </a:r>
          </a:p>
          <a:p>
            <a:r>
              <a:t>화면의 후속 요청 세 가지를 한 번에 하나씩 입력해 주세요.</a:t>
            </a:r>
          </a:p>
          <a:p>
            <a:r>
              <a:t>요청할 때마다 브라우저에서 F5로 새로고침해 확인하고, IDE에서 어떤 줄이 바뀌었는지도 봐 주세요.</a:t>
            </a:r>
          </a:p>
          <a:p>
            <a:r>
              <a:t>세 번째 요청은 버튼 동작, 즉 JavaScript가 추가되는 예시예요.</a:t>
            </a:r>
          </a:p>
          <a:p>
            <a:r>
              <a:t>하나씩 고칠 때마다 페이지가 바뀌는 걸 보는 재미를 느껴 보세요.</a:t>
            </a:r>
          </a:p>
          <a:p>
            <a:r>
              <a:t>에러가 나면 그대로 복사해서 질문하고, 막히면 손 들어 주세요. 완성하면 단톡방에 캡처 공유!</a:t>
            </a:r>
          </a:p>
          <a:p>
            <a:r>
              <a:t>※ 강사용: 시간이 남으면 자유롭게 나만의 요청을 추가해 보게 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모두 수고하셨어요! 여기서 10분 쉬어 가겠습니다.</a:t>
            </a:r>
          </a:p>
          <a:p>
            <a:r>
              <a:t>20시에 다시 시작할게요.</a:t>
            </a:r>
          </a:p>
          <a:p>
            <a:r>
              <a:t>다음 파트는 각자 노트북에 개발 환경을 셋팅하는 시간이에요.</a:t>
            </a:r>
          </a:p>
          <a:p>
            <a:r>
              <a:t>설치 파일을 여러 개 내려받아야 해서 시간이 좀 걸릴 수 있어요.</a:t>
            </a:r>
          </a:p>
          <a:p>
            <a:r>
              <a:t>그러니 쉬는 동안 노트북 충전기를 꼭 연결해 주시고, 인터넷에도 잘 연결되어 있는지 확인해 주세요.</a:t>
            </a:r>
          </a:p>
          <a:p>
            <a:r>
              <a:t>방금 만든 자기소개 페이지를 단톡방에 공유해 주셔도 좋아요!</a:t>
            </a:r>
          </a:p>
          <a:p>
            <a:r>
              <a:t>쉬는 동안 막혔던 부분이 있다면 운영진에게 편하게 물어봐 주세요. 20시에 개발 환경 셋팅 파트로 다시 만나요.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다시 시작하겠습니다. 세 번째 파트는 개발 환경 셋팅이에요.</a:t>
            </a:r>
          </a:p>
          <a:p>
            <a:r>
              <a:t>약 30분 동안 진행하고, 셋팅이 끝나면 일찍 마칠 수 있어요.</a:t>
            </a:r>
          </a:p>
          <a:p>
            <a:r>
              <a:t>필수로 설치할 것은 Antigravity 2.0과 IDE이고, Claude와 Codex CLI는 선택이에요.</a:t>
            </a:r>
          </a:p>
          <a:p>
            <a:r>
              <a:t>사전에 공지한 설치 가이드를 함께 훑어보면서 각자 설치 상태를 점검할게요.</a:t>
            </a:r>
          </a:p>
          <a:p>
            <a:r>
              <a:t>이미 설치를 마친 분은 체크리스트로 바로 넘어가셔도 돼요.</a:t>
            </a:r>
          </a:p>
          <a:p>
            <a:r>
              <a:t>도움이 필요하면 손을 들어 주세요. 운영진이 돌아다니며 도와드릴게요.</a:t>
            </a:r>
          </a:p>
          <a:p>
            <a:r>
              <a:t>그럼 먼저 무엇을 설치하는지부터 정리해 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먼저 무엇을 설치하는지 정리해 볼게요.</a:t>
            </a:r>
          </a:p>
          <a:p>
            <a:r>
              <a:t>필수 설치는 Antigravity 2.0과 IDE예요. 8차시 전 과정에서 사용하고, Google 계정만 있으면 무료로 시작할 수 있어요.</a:t>
            </a:r>
          </a:p>
          <a:p>
            <a:r>
              <a:t>선택 설치는 두 가지입니다. Claude 앱과 CLI는 6차시 Skill·MCP 실습에 유용하지만, Claude Pro 구독이 필요해요.</a:t>
            </a:r>
          </a:p>
          <a:p>
            <a:r>
              <a:t>ChatGPT 앱과 Codex는 도구별 결과를 비교할 때 쓸 수 있고, ChatGPT Plus 구독이 필요합니다.</a:t>
            </a:r>
          </a:p>
          <a:p>
            <a:r>
              <a:t>선택 도구는 꼭 설치하지 않아도 괜찮아요.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도구별로 필요한 계정과 요금제를 확인해 볼게요.</a:t>
            </a:r>
          </a:p>
          <a:p>
            <a:r>
              <a:t>Antigravity는 무료로 시작할 수 있고 Google 계정이 필요해요. 단, 하루 사용량 제한이 있습니다.</a:t>
            </a:r>
          </a:p>
          <a:p>
            <a:r>
              <a:t>Claude는 Anthropic 계정이 필요하고, Pro 이상 요금제여야 해요. 무료 요금제로는 사용할 수 없어요.</a:t>
            </a:r>
          </a:p>
          <a:p>
            <a:r>
              <a:t>ChatGPT는 OpenAI 계정과 Plus 이상 요금제가 필요하고, API Key 방식도 가능합니다.</a:t>
            </a:r>
          </a:p>
          <a:p>
            <a:r>
              <a:t>구독이 부담된다면 Antigravity만 설치해도 수업에 충분히 참여할 수 있어요!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본격적인 설치 전에 기본 도구 두 가지를 먼저 설치할게요.</a:t>
            </a:r>
          </a:p>
          <a:p>
            <a:r>
              <a:t>Git과 Node.js는 다른 도구들이 내부적으로 사용하는 기본 프로그램이에요.</a:t>
            </a:r>
          </a:p>
          <a:p>
            <a:r>
              <a:t>첫 번째는 Git이에요. git-scm.com에 접속해서 설치 파일을 받고, 옵션은 기본값 그대로 두고 설치하면 됩니다.</a:t>
            </a:r>
          </a:p>
          <a:p>
            <a:r>
              <a:t>두 번째는 Node.js예요. nodejs.org에 접속해서 LTS 22 이상 버전을 선택해 설치합니다.</a:t>
            </a:r>
          </a:p>
          <a:p>
            <a:r>
              <a:t>설치가 끝나면 터미널을 새로 열고 git --version, node --version을 입력해 보세요.</a:t>
            </a:r>
          </a:p>
          <a:p>
            <a:r>
              <a:t>버전 번호가 나오면 설치에 성공한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이제 Antigravity 2.0을 내려받아 볼게요.</a:t>
            </a:r>
          </a:p>
          <a:p>
            <a:r>
              <a:t>먼저 antigravity.google/download 페이지에 접속합니다.</a:t>
            </a:r>
          </a:p>
          <a:p>
            <a:r>
              <a:t>페이지에서 Antigravity 2.0 항목을 찾아 주세요.</a:t>
            </a:r>
          </a:p>
          <a:p>
            <a:r>
              <a:t>그리고 내 운영체제가 Windows인지 macOS인지 선택합니다.</a:t>
            </a:r>
          </a:p>
          <a:p>
            <a:r>
              <a:t>마지막으로 아키텍처를 확인해야 해요. 대부분의 Windows 노트북은 x64이고, 애플 실리콘 맥이나 일부 최신 노트북은 ARM64예요.</a:t>
            </a:r>
          </a:p>
          <a:p>
            <a:r>
              <a:t>잘 모르겠으면 손 들어 주세요. 같이 확인해 드릴게요.</a:t>
            </a:r>
          </a:p>
          <a:p>
            <a:r>
              <a:t>다운로드가 끝나면 설치를 진행할게요.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내려받은 설치 파일을 실행해 볼게요.</a:t>
            </a:r>
          </a:p>
          <a:p>
            <a:r>
              <a:t>먼저 설치 파일을 더블클릭합니다. 관리자 권한은 필요하지 않아요.</a:t>
            </a:r>
          </a:p>
          <a:p>
            <a:r>
              <a:t>설치 경로는 따로 바꾸지 말고 기본값 그대로 두세요.</a:t>
            </a:r>
          </a:p>
          <a:p>
            <a:r>
              <a:t>설치가 끝나면 앱을 실행해 봅니다.</a:t>
            </a:r>
          </a:p>
          <a:p>
            <a:r>
              <a:t>바탕화면에 아이콘이 생겼는지도 확인해 주세요.</a:t>
            </a:r>
          </a:p>
          <a:p>
            <a:r>
              <a:t>이때 흰색 배경 로고가 Antigravity 2.0이에요. 앞에서 말씀드린 것처럼 IDE와 헷갈리지 않게 아이콘 색을 기억해 두세요.</a:t>
            </a:r>
          </a:p>
          <a:p>
            <a:r>
              <a:t>막히는 부분이 있으면 바로 손을 들어 주세요. 옆에서 함께 봐 드릴게요. 다음은 Antigravity IDE를 설치할게요.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다음은 Antigravity IDE 설치입니다.</a:t>
            </a:r>
          </a:p>
          <a:p>
            <a:r>
              <a:t>방법은 2.0과 거의 같아요.</a:t>
            </a:r>
          </a:p>
          <a:p>
            <a:r>
              <a:t>아까 접속했던 같은 다운로드 페이지에서 이번에는 Antigravity IDE 항목을 선택합니다.</a:t>
            </a:r>
          </a:p>
          <a:p>
            <a:r>
              <a:t>운영체제와 아키텍처를 확인해서 설치 파일을 받고, 실행해서 설치하면 돼요.</a:t>
            </a:r>
          </a:p>
          <a:p>
            <a:r>
              <a:t>설치가 끝나면 검은색 격자 아이콘이 생겼는지 확인해 주세요.</a:t>
            </a:r>
          </a:p>
          <a:p>
            <a:r>
              <a:t>2.0과 IDE는 따로 설치하는 앱이라서, 둘 다 설치해도 서로 충돌하지 않아요. 안심하고 함께 설치하세요.</a:t>
            </a:r>
          </a:p>
          <a:p>
            <a:r>
              <a:t>두 앱 설치가 모두 끝나면, 다음 단계로 Google 계정 로그인을 진행할게요.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설치를 마쳤으면 Google 계정으로 로그인할게요.</a:t>
            </a:r>
          </a:p>
          <a:p>
            <a:r>
              <a:t>앱을 실행하면 나오는 Sign in with Google 버튼을 클릭합니다.</a:t>
            </a:r>
          </a:p>
          <a:p>
            <a:r>
              <a:t>그러면 브라우저가 열리는데, 여기서 사용할 Gmail 계정을 선택해 주세요.</a:t>
            </a:r>
          </a:p>
          <a:p>
            <a:r>
              <a:t>인증이 끝나면 자동으로 앱 화면으로 돌아옵니다.</a:t>
            </a:r>
          </a:p>
          <a:p>
            <a:r>
              <a:t>2.0과 IDE 모두 같은 방식으로 로그인하면 돼요.</a:t>
            </a:r>
          </a:p>
          <a:p>
            <a:r>
              <a:t>혹시 브라우저에서 앱으로 넘어오지 않으면 앱을 다시 실행해서 한 번 더 시도해 보세요.</a:t>
            </a:r>
          </a:p>
          <a:p>
            <a:r>
              <a:t>로그인이 끝나면 앞의 실습처럼 채팅창에 간단히 말을 걸어서 답변이 오는지 확인해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IDE를 처음 실행하면 설정 마법사가 나와요.</a:t>
            </a:r>
          </a:p>
          <a:p>
            <a:r>
              <a:t>평소 VS Code를 썼던 분이라면 Import from VS Code를 선택해 주세요.</a:t>
            </a:r>
          </a:p>
          <a:p>
            <a:r>
              <a:t>settings.json, 확장 프로그램, 단축키를 한 번에 가져올 수 있어요.</a:t>
            </a:r>
          </a:p>
          <a:p>
            <a:r>
              <a:t>Cursor를 썼던 분도 같은 방식으로 설정을 옮길 수 있습니다.</a:t>
            </a:r>
          </a:p>
          <a:p>
            <a:r>
              <a:t>새로 시작하고 싶거나 VS Code를 안 써 봤다면 Start fresh를 선택하고 넘어가면 돼요.</a:t>
            </a:r>
          </a:p>
          <a:p>
            <a:r>
              <a:t>가져오기에 실패해도 괜찮아요. 나중에 설정 화면에서 다시 시도할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여기까지 하면 Antigravity IDE 셋팅이 마무리됩니다.</a:t>
            </a:r>
          </a:p>
          <a:p>
            <a:r>
              <a:t>IDE 초기 화면이 뜨면 성공이에요.</a:t>
            </a:r>
          </a:p>
          <a:p>
            <a:r>
              <a:t>이제 아까 실습에서 만든 my-intro 폴더를 IDE에서 열어 보세요.</a:t>
            </a:r>
          </a:p>
          <a:p>
            <a:r>
              <a:t>2.0에서 에이전트가 만든 index.html이 IDE에서도 똑같이 보일 거예요.</a:t>
            </a:r>
          </a:p>
          <a:p>
            <a:r>
              <a:t>두 앱이 같은 폴더를 공유하고 있다는 뜻이죠.</a:t>
            </a:r>
          </a:p>
          <a:p>
            <a:r>
              <a:t>여기까지 막힌 분이 있다면 손을 들어 주세요.</a:t>
            </a:r>
          </a:p>
          <a:p>
            <a:r>
              <a:t>만약 파일이 보이지 않으면 두 앱에서 연 폴더가 같은지 다시 확인해 보세요.</a:t>
            </a:r>
          </a:p>
          <a:p>
            <a:r>
              <a:t>필수 설치는 여기서 끝나고, 다음은 선택 도구 안내예요.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지금부터는 선택 도구를 안내할게요.</a:t>
            </a:r>
          </a:p>
          <a:p>
            <a:r>
              <a:t>먼저 꼭 기억해 주세요. 선택 도구는 필수가 아닙니다. Antigravity만 설치해도 8차시 수업을 모두 들을 수 있어요.</a:t>
            </a:r>
          </a:p>
          <a:p>
            <a:r>
              <a:t>다만 Claude나 Codex CLI를 쓰려면 유료 구독이 필요해요. Claude Pro나 ChatGPT Plus가 있어야 CLI에 로그인할 수 있습니다.</a:t>
            </a:r>
          </a:p>
          <a:p>
            <a:r>
              <a:t>그럼 언제 쓰냐고요? 같은 요청을 여러 도구에 맡겨서 결과를 비교해 볼 때 유용해요.</a:t>
            </a:r>
          </a:p>
          <a:p>
            <a:r>
              <a:t>구독 중인 분만 따라와 주세요.</a:t>
            </a:r>
          </a:p>
          <a:p>
            <a:r>
              <a:t>구독이 없는 분은 이 시간 동안 필수 설치를 한 번 더 점검해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먼저 Claude 앱 설치입니다.</a:t>
            </a:r>
          </a:p>
          <a:p>
            <a:r>
              <a:t>claude.ai/download에 접속해서 내 운영체제를 선택하고 설치 파일을 받아 설치해요.</a:t>
            </a:r>
          </a:p>
          <a:p>
            <a:r>
              <a:t>설치가 끝나면 앱을 실행하고 Anthropic 계정으로 로그인합니다.</a:t>
            </a:r>
          </a:p>
          <a:p>
            <a:r>
              <a:t>여기서 주의할 점이 있어요. 무료 계정으로는 다음에 설치할 Claude Code CLI를 사용할 수 없어요.</a:t>
            </a:r>
          </a:p>
          <a:p>
            <a:r>
              <a:t>Pro 이상 구독이 되어 있는지 먼저 확인해 주세요.</a:t>
            </a:r>
          </a:p>
          <a:p>
            <a:r>
              <a:t>구독이 없다면 이 단계는 건너뛰어도 괜찮습니다.</a:t>
            </a:r>
          </a:p>
          <a:p>
            <a:r>
              <a:t>로그인까지 끝났다면 다음 장에서 Claude Code CLI를 설치해 볼게요.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다음은 Claude Code CLI 설치예요.</a:t>
            </a:r>
          </a:p>
          <a:p>
            <a:r>
              <a:t>Windows에서는 PowerShell을 열어 주세요. Windows 키를 누르고 PowerShell을 검색하면 돼요.</a:t>
            </a:r>
          </a:p>
          <a:p>
            <a:r>
              <a:t>화면의 설치 명령어를 그대로 복사해서 붙여 넣고 실행합니다. 자세한 방법은 공식 문서 링크에서 확인할 수 있어요.</a:t>
            </a:r>
          </a:p>
          <a:p>
            <a:r>
              <a:t>설치가 끝나면 명령창에 claude를 입력하세요. 브라우저가 열리면 로그인하면 됩니다.</a:t>
            </a:r>
          </a:p>
          <a:p>
            <a:r>
              <a:t>마지막으로 claude doctor를 입력해서 상태를 점검해 주세요.</a:t>
            </a:r>
          </a:p>
          <a:p>
            <a:r>
              <a:t>doctor 결과에 문제가 없다고 나오면 설치 완료예요.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이번에는 ChatGPT 앱을 설치해 볼게요.</a:t>
            </a:r>
          </a:p>
          <a:p>
            <a:r>
              <a:t>chatgpt.com/download에 접속해서 운영체제를 선택하고 설치합니다.</a:t>
            </a:r>
          </a:p>
          <a:p>
            <a:r>
              <a:t>설치가 끝나면 앱을 실행하고 ChatGPT 계정으로 로그인해 주세요.</a:t>
            </a:r>
          </a:p>
          <a:p>
            <a:r>
              <a:t>그리고 Plus 구독 상태인지 꼭 확인합니다.</a:t>
            </a:r>
          </a:p>
          <a:p>
            <a:r>
              <a:t>Codex CLI에 ChatGPT 계정으로 로그인하려면 Plus 이상 구독이 필요하기 때문이에요.</a:t>
            </a:r>
          </a:p>
          <a:p>
            <a:r>
              <a:t>로그인과 구독 확인이 끝났다면 다음 장에서 Codex CLI를 설치할게요.</a:t>
            </a:r>
          </a:p>
          <a:p>
            <a:r>
              <a:t>구독이 없다면 이 단계와 다음 Codex 설치는 건너뛰셔도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다음은 Codex CLI 설치예요.</a:t>
            </a:r>
          </a:p>
          <a:p>
            <a:r>
              <a:t>터미널에서 npm install -g @openai/codex 명령어를 입력합니다. 앞에서 설치한 Node.js가 있어야 npm을 쓸 수 있어요.</a:t>
            </a:r>
          </a:p>
          <a:p>
            <a:r>
              <a:t>여기서 패키지명을 꼭 주의해 주세요. @openai/를 빼고 codex만 쓰면 전혀 다른 프로젝트가 설치돼요.</a:t>
            </a:r>
          </a:p>
          <a:p>
            <a:r>
              <a:t>설치 후 codex를 입력하고 Sign in with ChatGPT로 로그인합니다.</a:t>
            </a:r>
          </a:p>
          <a:p>
            <a:r>
              <a:t>마지막으로 codex --version을 입력해서 버전이 나오는지 확인해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설치가 잘 됐는지 체크리스트로 함께 확인해 볼게요.</a:t>
            </a:r>
          </a:p>
          <a:p>
            <a:r>
              <a:t>먼저 필수 항목입니다. git --version과 node --version을 실행해서 버전이 나오는지 확인해 주세요.</a:t>
            </a:r>
          </a:p>
          <a:p>
            <a:r>
              <a:t>Antigravity 2.0은 프로젝트를 열고 채팅창에서 답변이 나오면 성공이에요.</a:t>
            </a:r>
          </a:p>
          <a:p>
            <a:r>
              <a:t>Antigravity IDE는 검은색 격자 아이콘 앱을 실행해서 프로젝트 폴더가 열리는지 봐 주세요.</a:t>
            </a:r>
          </a:p>
          <a:p>
            <a:r>
              <a:t>선택 항목인 Claude와 Codex는 claude doctor, codex --version으로 점검합니다.</a:t>
            </a:r>
          </a:p>
          <a:p>
            <a:r>
              <a:t>모두 체크됐다면 셋팅 완료예요!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설치하다 보면 자주 겪는 문제가 있어요.</a:t>
            </a:r>
          </a:p>
          <a:p>
            <a:r>
              <a:t>대부분은 설치는 끝났는데 터미널이 실행 파일 위치를 아직 모르거나, 다른 셸에서 명령을 실행한 경우예요.</a:t>
            </a:r>
          </a:p>
          <a:p>
            <a:r>
              <a:t>첫째, command not found가 뜨면 터미널을 모두 닫고 새로 여세요. 그래도 안 되면 재부팅합니다.</a:t>
            </a:r>
          </a:p>
          <a:p>
            <a:r>
              <a:t>둘째, 명령어를 인식하지 못하면 PowerShell인지 확인하세요. 앞에 PS가 보이면 맞아요.</a:t>
            </a:r>
          </a:p>
          <a:p>
            <a:r>
              <a:t>셋째, 두 앱이 헷갈리면 아이콘 색을 보세요. 흰색은 2.0, 검은색은 IDE예요.</a:t>
            </a:r>
          </a:p>
          <a:p>
            <a:r>
              <a:t>그래도 해결되지 않으면 에러 화면을 캡처해서 보여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오늘 배운 것을 정리해 볼게요.</a:t>
            </a:r>
          </a:p>
          <a:p>
            <a:r>
              <a:t>첫째, 바이브코딩은 '말로 하는 코딩'이에요. 원하는 것을 설명하고, AI가 만든 결과를 확인하는 것이 핵심이죠.</a:t>
            </a:r>
          </a:p>
          <a:p>
            <a:r>
              <a:t>둘째, Antigravity는 2.0과 IDE를 함께 씁니다. 작업은 2.0에 맡기고, 검토는 IDE에서 하고, 두 앱에서 같은 폴더를 열어요.</a:t>
            </a:r>
          </a:p>
          <a:p>
            <a:r>
              <a:t>셋째, 프롬프트 3원칙은 구체적으로, 한 번에 하나씩, 확인하고 고치기입니다.</a:t>
            </a:r>
          </a:p>
          <a:p>
            <a:r>
              <a:t>이 세 가지만 기억해도 오늘 수업은 성공이에요.</a:t>
            </a:r>
          </a:p>
          <a:p>
            <a:r>
              <a:t>다음 장에서 2차시 내용을 미리 살펴볼게요.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다음 수업인 2차시 예고입니다. 주제는 Markdown이에요.</a:t>
            </a:r>
          </a:p>
          <a:p>
            <a:r>
              <a:t>Markdown은 AI에게 지시문을 쓰거나 문서를 정리할 때 가장 많이 쓰는 형식이에요.</a:t>
            </a:r>
          </a:p>
          <a:p>
            <a:r>
              <a:t>먼저 Markdown이 어떤 언어인지 알아보고, 제목, 목록, 굵게 같은 기본 문법을 직접 실습해요.</a:t>
            </a:r>
          </a:p>
          <a:p>
            <a:r>
              <a:t>그리고 Markdown과 HTML 중 어떤 게 더 나은지도 비교해 봅니다.</a:t>
            </a:r>
          </a:p>
          <a:p>
            <a:r>
              <a:t>AI와 대화할 때 바로 쓸 수 있는 내용이라 굉장히 실용적인 수업이 될 거예요.</a:t>
            </a:r>
          </a:p>
          <a:p>
            <a:r>
              <a:t>준비물은 오늘 셋팅한 노트북 하나면 충분해요.</a:t>
            </a:r>
          </a:p>
          <a:p>
            <a:r>
              <a:t>수업이 끝난 뒤에는 해크닉도 있으니 많이 참여해 주세요!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이제 질의응답 시간입니다. 궁금한 점이 있으면 무엇이든 물어봐 주세요.</a:t>
            </a:r>
          </a:p>
          <a:p>
            <a:r>
              <a:t>지금 바로 묻기 어렵다면 수업이 끝난 뒤 단톡방에 남겨 주셔도 괜찮아요.</a:t>
            </a:r>
          </a:p>
          <a:p>
            <a:r>
              <a:t>사소한 질문이라도 괜찮아요. 내가 궁금한 건 옆 사람도 궁금한 경우가 많거든요.</a:t>
            </a:r>
          </a:p>
          <a:p>
            <a:r>
              <a:t>혹시 셋팅이 아직 안 끝났다면 Antigravity 2.0과 IDE만이라도 먼저 끝내 주세요. 선택 도구는 나중에 해도 됩니다.</a:t>
            </a:r>
          </a:p>
          <a:p>
            <a:r>
              <a:t>에러 화면은 캡처해서 단톡방에 올려 주시면 함께 해결해 볼게요.</a:t>
            </a:r>
          </a:p>
          <a:p>
            <a:r>
              <a:t>질문이 없고 셋팅도 끝난 분은 먼저 퇴실하셔도 괜찮습니다.</a:t>
            </a:r>
          </a:p>
          <a:p>
            <a:r>
              <a:t>※ 강사용: 셋팅이 끝난 사람은 퇴실해도 좋다고 안내하고, 남은 사람들의 설치를 도와줍니다.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수업은 여기까지입니다. 100분 동안 정말 수고 많으셨어요!</a:t>
            </a:r>
          </a:p>
          <a:p>
            <a:r>
              <a:t>오늘 처음으로 말로 코딩해서 자기소개 페이지를 만들어 봤는데요, 어떠셨나요?</a:t>
            </a:r>
          </a:p>
          <a:p>
            <a:r>
              <a:t>처음이라 낯설었을 수도 있지만, 오늘 해 본 '말로 설명하고 확인하고 고치기'가 바이브코딩의 전부예요.</a:t>
            </a:r>
          </a:p>
          <a:p>
            <a:r>
              <a:t>오늘 만든 자기소개 페이지는 꼭 단톡방에 공유해 주세요. 서로의 결과물을 보는 것도 큰 공부가 돼요.</a:t>
            </a:r>
          </a:p>
          <a:p>
            <a:r>
              <a:t>궁금한 점은 단톡방이나 이메일로 언제든 편하게 물어봐 주세요.</a:t>
            </a:r>
          </a:p>
          <a:p>
            <a:r>
              <a:t>다음 시간에는 Markdown으로 AI와 더 잘 소통하는 법을 배워 볼게요.</a:t>
            </a:r>
          </a:p>
          <a:p>
            <a:r>
              <a:t>그럼 2차시에 만나요. 감사합니다!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sv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5.sv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10" Type="http://schemas.openxmlformats.org/officeDocument/2006/relationships/image" Target="../media/image41.sv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de.claude.com/docs/ko/quickstart" TargetMode="Externa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2557664"/>
            <a:ext cx="1488210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VIBE CODING 기초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3813005"/>
            <a:ext cx="716107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1차시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38" y="6029828"/>
            <a:ext cx="10520872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17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분반 소개 · Antigravity 실습 · 개발 환경 셋팅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3870" y="5460741"/>
            <a:ext cx="7287980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799" b="1" u="none" strike="noStrike" spc="-114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오리엔테이션 &amp; AI 개발 환경 구축</a:t>
            </a:r>
          </a:p>
        </p:txBody>
      </p:sp>
      <p:sp>
        <p:nvSpPr>
          <p:cNvPr id="22" name="AutoShape 22"/>
          <p:cNvSpPr/>
          <p:nvPr/>
        </p:nvSpPr>
        <p:spPr>
          <a:xfrm flipH="1" flipV="1">
            <a:off x="4613382" y="7266893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443870" y="7187244"/>
            <a:ext cx="2074261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20"/>
              </a:lnSpc>
              <a:spcBef>
                <a:spcPct val="0"/>
              </a:spcBef>
            </a:pPr>
            <a:r>
              <a:rPr lang="en-US" sz="2000" b="1" u="none" strike="noStrike" spc="-80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2000" b="1" u="none" strike="noStrike" spc="-8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3801" y="7278683"/>
            <a:ext cx="2358365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0"/>
              </a:lnSpc>
              <a:spcBef>
                <a:spcPct val="0"/>
              </a:spcBef>
            </a:pPr>
            <a:r>
              <a:rPr lang="en-US" sz="2000" b="1" u="none" strike="noStrike" spc="3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2091821" y="3201454"/>
            <a:ext cx="4351624" cy="153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2"/>
              </a:lnSpc>
            </a:pPr>
            <a:r>
              <a:rPr lang="en-US" sz="9600" b="1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INDEX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09189" y="4672145"/>
            <a:ext cx="4753408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3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1차시 수업 순서 (100분)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00950" y="3238500"/>
            <a:ext cx="8750967" cy="3351235"/>
            <a:chOff x="0" y="0"/>
            <a:chExt cx="11667955" cy="4468314"/>
          </a:xfrm>
        </p:grpSpPr>
        <p:sp>
          <p:nvSpPr>
            <p:cNvPr id="19" name="AutoShape 19"/>
            <p:cNvSpPr/>
            <p:nvPr/>
          </p:nvSpPr>
          <p:spPr>
            <a:xfrm>
              <a:off x="36676" y="934034"/>
              <a:ext cx="11631279" cy="0"/>
            </a:xfrm>
            <a:prstGeom prst="line">
              <a:avLst/>
            </a:prstGeom>
            <a:ln w="12700" cap="flat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36676" y="2234157"/>
              <a:ext cx="11631279" cy="0"/>
            </a:xfrm>
            <a:prstGeom prst="line">
              <a:avLst/>
            </a:prstGeom>
            <a:ln w="12700" cap="flat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36676" y="3534280"/>
              <a:ext cx="11631279" cy="0"/>
            </a:xfrm>
            <a:prstGeom prst="line">
              <a:avLst/>
            </a:prstGeom>
            <a:ln w="12700" cap="flat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8941" y="1338223"/>
              <a:ext cx="6928367" cy="529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6"/>
                </a:lnSpc>
                <a:spcBef>
                  <a:spcPct val="0"/>
                </a:spcBef>
              </a:pPr>
              <a:r>
                <a:rPr lang="en-US" sz="2800" b="1" u="none" strike="noStrike" spc="-56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Antigravity 소개 &amp; 실습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391606"/>
              <a:ext cx="624642" cy="470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sz="2799" b="1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8941" y="3938470"/>
              <a:ext cx="6595062" cy="529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6"/>
                </a:lnSpc>
                <a:spcBef>
                  <a:spcPct val="0"/>
                </a:spcBef>
              </a:pPr>
              <a:r>
                <a:rPr lang="en-US" sz="2800" b="1" u="none" strike="noStrike" spc="-56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마무리 &amp; 질의응답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3991852"/>
              <a:ext cx="624642" cy="470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sz="2799" b="1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8941" y="38100"/>
              <a:ext cx="6595062" cy="529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6"/>
                </a:lnSpc>
                <a:spcBef>
                  <a:spcPct val="0"/>
                </a:spcBef>
              </a:pPr>
              <a:r>
                <a:rPr lang="en-US" sz="2800" b="1" u="none" strike="noStrike" spc="-56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Vibe Coding 분반 소개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1483"/>
              <a:ext cx="624642" cy="470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sz="2799" b="1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8941" y="2638346"/>
              <a:ext cx="6595062" cy="529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6"/>
                </a:lnSpc>
                <a:spcBef>
                  <a:spcPct val="0"/>
                </a:spcBef>
              </a:pPr>
              <a:r>
                <a:rPr lang="en-US" sz="2800" b="1" u="none" strike="noStrike" spc="-56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개발 환경 셋팅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691729"/>
              <a:ext cx="624642" cy="470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sz="2799" b="1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3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2137764" y="2174998"/>
            <a:ext cx="1092574" cy="1021557"/>
          </a:xfrm>
          <a:custGeom>
            <a:avLst/>
            <a:gdLst/>
            <a:ahLst/>
            <a:cxnLst/>
            <a:rect l="l" t="t" r="r" b="b"/>
            <a:pathLst>
              <a:path w="1092574" h="1021557">
                <a:moveTo>
                  <a:pt x="0" y="0"/>
                </a:moveTo>
                <a:lnTo>
                  <a:pt x="1092574" y="0"/>
                </a:lnTo>
                <a:lnTo>
                  <a:pt x="1092574" y="1021556"/>
                </a:lnTo>
                <a:lnTo>
                  <a:pt x="0" y="1021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2557664"/>
            <a:ext cx="1488210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3813005"/>
            <a:ext cx="12382500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분반 소개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38" y="6029828"/>
            <a:ext cx="10520872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17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20분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3870" y="5460741"/>
            <a:ext cx="10477500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799" b="1" u="none" strike="noStrike" spc="-114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오리엔테이션 · 8차시 커리큘럼 · 학기 목표</a:t>
            </a:r>
          </a:p>
        </p:txBody>
      </p:sp>
      <p:sp>
        <p:nvSpPr>
          <p:cNvPr id="22" name="AutoShape 22"/>
          <p:cNvSpPr/>
          <p:nvPr/>
        </p:nvSpPr>
        <p:spPr>
          <a:xfrm flipH="1" flipV="1">
            <a:off x="4613382" y="7266893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443870" y="7187244"/>
            <a:ext cx="2074261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20"/>
              </a:lnSpc>
              <a:spcBef>
                <a:spcPct val="0"/>
              </a:spcBef>
            </a:pPr>
            <a:r>
              <a:rPr lang="en-US" sz="2000" b="1" u="none" strike="noStrike" spc="-80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2000" b="1" u="none" strike="noStrike" spc="-8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3801" y="7278683"/>
            <a:ext cx="2358365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0"/>
              </a:lnSpc>
              <a:spcBef>
                <a:spcPct val="0"/>
              </a:spcBef>
            </a:pPr>
            <a:r>
              <a:rPr lang="en-US" sz="2000" b="1" u="none" strike="noStrike" spc="3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4379" y="534854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820604" y="696061"/>
            <a:ext cx="12829802" cy="762000"/>
            <a:chOff x="0" y="0"/>
            <a:chExt cx="17106403" cy="1016000"/>
          </a:xfrm>
        </p:grpSpPr>
        <p:sp>
          <p:nvSpPr>
            <p:cNvPr id="16" name="TextBox 16"/>
            <p:cNvSpPr txBox="1"/>
            <p:nvPr/>
          </p:nvSpPr>
          <p:spPr>
            <a:xfrm>
              <a:off x="712750" y="76200"/>
              <a:ext cx="16393653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00"/>
                </a:lnSpc>
                <a:spcBef>
                  <a:spcPct val="0"/>
                </a:spcBef>
              </a:pPr>
              <a:r>
                <a:rPr lang="en-US" sz="5000" b="1" u="none" strike="noStrike" spc="-100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오늘의 시간표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284846"/>
              <a:ext cx="446308" cy="446308"/>
            </a:xfrm>
            <a:custGeom>
              <a:avLst/>
              <a:gdLst/>
              <a:ahLst/>
              <a:cxnLst/>
              <a:rect l="l" t="t" r="r" b="b"/>
              <a:pathLst>
                <a:path w="446308" h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1717296" y="3187045"/>
          <a:ext cx="14853407" cy="4261328"/>
        </p:xfrm>
        <a:graphic>
          <a:graphicData uri="http://schemas.openxmlformats.org/drawingml/2006/table">
            <a:tbl>
              <a:tblPr/>
              <a:tblGrid>
                <a:gridCol w="349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6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74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파트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시간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내용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91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① 분반 소개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19:00 ~19:20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오리엔테이션, 8차시 커리큘럼, 학기 목표  →  🍵 10분 휴식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16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② Antigravity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19:30 ~19:50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도구 소개, 자기소개 페이지 만들기 실습  →  🍵 10분 휴식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16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③ 환경 셋팅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20:00 ~20:30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Antigravity 2.0 · IDE 설치 확인, Claude · Codex CLI (선택)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16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④ 마무리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20:30 ~20:40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질의응답, 다음 수업 안내 (셋팅이 끝나면 일찍 끝!)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9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 descr="사람이 말로 설명하면 AI 로봇이 코드와 웹사이트를 만드는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t="-3714" b="-371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코딩 문법을 몰라도 시작 가능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핵심은 '무엇을 원하는지' 설명하는 힘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2025년 A. Karpathy가 만든 용어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말로 만드는 코딩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바이브코딩이란?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만들고 싶은 것을 말로 설명하는 과정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AI가 코드를 대신 작성하는 과정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결과를 보고 다시 말로 고치는 과정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예전 코딩 vs 바이브 코딩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717296" y="3731994"/>
          <a:ext cx="14853407" cy="3917156"/>
        </p:xfrm>
        <a:graphic>
          <a:graphicData uri="http://schemas.openxmlformats.org/drawingml/2006/table">
            <a:tbl>
              <a:tblPr/>
              <a:tblGrid>
                <a:gridCol w="349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9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예전 코딩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바이브 코딩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코드는 누가?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사람이 직접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AI가 대신 작성! 사람은 말로 설명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필요한 것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문법 암기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원하는 결과를 정확히 설명하는 능력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막혔을 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검색 · 책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AI에게 바로 질문! "이 에러 왜 나?"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나의 역할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작성자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기획자 + 검토자! 결과를 확인하고 방향을 잡기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8차시 로드맵 ①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17296" y="2898323"/>
            <a:ext cx="7335408" cy="2752701"/>
            <a:chOff x="0" y="0"/>
            <a:chExt cx="1931959" cy="7249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17296" y="5846679"/>
            <a:ext cx="7335408" cy="2752701"/>
            <a:chOff x="0" y="0"/>
            <a:chExt cx="1931959" cy="724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44821" y="2898323"/>
            <a:ext cx="7335408" cy="2752701"/>
            <a:chOff x="0" y="0"/>
            <a:chExt cx="1931959" cy="7249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44821" y="5846679"/>
            <a:ext cx="7335408" cy="2752701"/>
            <a:chOff x="0" y="0"/>
            <a:chExt cx="1931959" cy="7249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12059" y="5378921"/>
            <a:ext cx="3263882" cy="851964"/>
            <a:chOff x="0" y="0"/>
            <a:chExt cx="859623" cy="2243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9623" cy="224386"/>
            </a:xfrm>
            <a:custGeom>
              <a:avLst/>
              <a:gdLst/>
              <a:ahLst/>
              <a:cxnLst/>
              <a:rect l="l" t="t" r="r" b="b"/>
              <a:pathLst>
                <a:path w="859623" h="224386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859623" cy="205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12059" y="5550371"/>
            <a:ext cx="326388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1~4차시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20968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1차시 · 오늘!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20968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3차시 · 엔지니어링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8493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2차시 · Markdown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8493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4차시 · LLM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3130859" y="4303307"/>
            <a:ext cx="4769655" cy="304800"/>
            <a:chOff x="0" y="0"/>
            <a:chExt cx="6359540" cy="406400"/>
          </a:xfrm>
        </p:grpSpPr>
        <p:sp>
          <p:nvSpPr>
            <p:cNvPr id="38" name="TextBox 38"/>
            <p:cNvSpPr txBox="1"/>
            <p:nvPr/>
          </p:nvSpPr>
          <p:spPr>
            <a:xfrm>
              <a:off x="303953" y="-76200"/>
              <a:ext cx="605558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오리엔테이션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004856" y="7251663"/>
            <a:ext cx="4753926" cy="304800"/>
            <a:chOff x="0" y="0"/>
            <a:chExt cx="6338568" cy="406400"/>
          </a:xfrm>
        </p:grpSpPr>
        <p:sp>
          <p:nvSpPr>
            <p:cNvPr id="41" name="TextBox 41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프롬프트 · 컨텍스트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600287" y="4303307"/>
            <a:ext cx="4752200" cy="304800"/>
            <a:chOff x="0" y="0"/>
            <a:chExt cx="6336266" cy="406400"/>
          </a:xfrm>
        </p:grpSpPr>
        <p:sp>
          <p:nvSpPr>
            <p:cNvPr id="44" name="TextBox 44"/>
            <p:cNvSpPr txBox="1"/>
            <p:nvPr/>
          </p:nvSpPr>
          <p:spPr>
            <a:xfrm>
              <a:off x="303953" y="-76200"/>
              <a:ext cx="60323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문서 작성 문법 실습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0591422" y="7251663"/>
            <a:ext cx="4769930" cy="304800"/>
            <a:chOff x="0" y="0"/>
            <a:chExt cx="6359906" cy="406400"/>
          </a:xfrm>
        </p:grpSpPr>
        <p:sp>
          <p:nvSpPr>
            <p:cNvPr id="47" name="TextBox 47"/>
            <p:cNvSpPr txBox="1"/>
            <p:nvPr/>
          </p:nvSpPr>
          <p:spPr>
            <a:xfrm>
              <a:off x="303953" y="-76200"/>
              <a:ext cx="605595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LLM 개요 · 프롬프트 보안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3130859" y="4790276"/>
            <a:ext cx="4753926" cy="304800"/>
            <a:chOff x="0" y="0"/>
            <a:chExt cx="6338568" cy="406400"/>
          </a:xfrm>
        </p:grpSpPr>
        <p:sp>
          <p:nvSpPr>
            <p:cNvPr id="50" name="TextBox 50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개발 환경 구축 · Antigravity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3004856" y="7738632"/>
            <a:ext cx="4760288" cy="304800"/>
            <a:chOff x="0" y="0"/>
            <a:chExt cx="6347050" cy="406400"/>
          </a:xfrm>
        </p:grpSpPr>
        <p:sp>
          <p:nvSpPr>
            <p:cNvPr id="53" name="TextBox 53"/>
            <p:cNvSpPr txBox="1"/>
            <p:nvPr/>
          </p:nvSpPr>
          <p:spPr>
            <a:xfrm>
              <a:off x="303953" y="-76200"/>
              <a:ext cx="604309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하네스 · 루프 엔지니어링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0600287" y="4790276"/>
            <a:ext cx="4769655" cy="304800"/>
            <a:chOff x="0" y="0"/>
            <a:chExt cx="6359540" cy="406400"/>
          </a:xfrm>
        </p:grpSpPr>
        <p:sp>
          <p:nvSpPr>
            <p:cNvPr id="56" name="TextBox 56"/>
            <p:cNvSpPr txBox="1"/>
            <p:nvPr/>
          </p:nvSpPr>
          <p:spPr>
            <a:xfrm>
              <a:off x="303953" y="-76200"/>
              <a:ext cx="605558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Markdown vs HTML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0591422" y="7738632"/>
            <a:ext cx="4754200" cy="304800"/>
            <a:chOff x="0" y="0"/>
            <a:chExt cx="6338934" cy="406400"/>
          </a:xfrm>
        </p:grpSpPr>
        <p:sp>
          <p:nvSpPr>
            <p:cNvPr id="59" name="TextBox 59"/>
            <p:cNvSpPr txBox="1"/>
            <p:nvPr/>
          </p:nvSpPr>
          <p:spPr>
            <a:xfrm>
              <a:off x="303953" y="-76200"/>
              <a:ext cx="6034981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LLM 에이전트의 이해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1" name="AutoShape 61"/>
          <p:cNvSpPr/>
          <p:nvPr/>
        </p:nvSpPr>
        <p:spPr>
          <a:xfrm>
            <a:off x="3020968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3020968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AutoShape 63"/>
          <p:cNvSpPr/>
          <p:nvPr/>
        </p:nvSpPr>
        <p:spPr>
          <a:xfrm>
            <a:off x="10548493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>
            <a:off x="10548493" y="687874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TextBox 6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8차시 로드맵 ②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17296" y="2898323"/>
            <a:ext cx="7335408" cy="2752701"/>
            <a:chOff x="0" y="0"/>
            <a:chExt cx="1931959" cy="7249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17296" y="5846679"/>
            <a:ext cx="7335408" cy="2752701"/>
            <a:chOff x="0" y="0"/>
            <a:chExt cx="1931959" cy="724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44821" y="2898323"/>
            <a:ext cx="7335408" cy="2752701"/>
            <a:chOff x="0" y="0"/>
            <a:chExt cx="1931959" cy="7249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44821" y="5846679"/>
            <a:ext cx="7335408" cy="2752701"/>
            <a:chOff x="0" y="0"/>
            <a:chExt cx="1931959" cy="7249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12059" y="5378921"/>
            <a:ext cx="3263882" cy="851964"/>
            <a:chOff x="0" y="0"/>
            <a:chExt cx="859623" cy="2243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9623" cy="224386"/>
            </a:xfrm>
            <a:custGeom>
              <a:avLst/>
              <a:gdLst/>
              <a:ahLst/>
              <a:cxnLst/>
              <a:rect l="l" t="t" r="r" b="b"/>
              <a:pathLst>
                <a:path w="859623" h="224386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859623" cy="205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12059" y="5550371"/>
            <a:ext cx="326388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5~8차시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20968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5차시 · RAG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20968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7차시 · 배포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8493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6차시 · Skill &amp; MCP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8493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8차시 · 미니 프로젝트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3138723" y="4303307"/>
            <a:ext cx="4753926" cy="304800"/>
            <a:chOff x="0" y="0"/>
            <a:chExt cx="6338568" cy="406400"/>
          </a:xfrm>
        </p:grpSpPr>
        <p:sp>
          <p:nvSpPr>
            <p:cNvPr id="38" name="TextBox 38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RAG 개념 (검색 + 생성)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119813" y="7251663"/>
            <a:ext cx="4753926" cy="304800"/>
            <a:chOff x="0" y="0"/>
            <a:chExt cx="6338568" cy="406400"/>
          </a:xfrm>
        </p:grpSpPr>
        <p:sp>
          <p:nvSpPr>
            <p:cNvPr id="41" name="TextBox 41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클라우드 (GCP · AWS)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593285" y="4303307"/>
            <a:ext cx="4783659" cy="304800"/>
            <a:chOff x="0" y="0"/>
            <a:chExt cx="6378212" cy="406400"/>
          </a:xfrm>
        </p:grpSpPr>
        <p:sp>
          <p:nvSpPr>
            <p:cNvPr id="44" name="TextBox 44"/>
            <p:cNvSpPr txBox="1"/>
            <p:nvPr/>
          </p:nvSpPr>
          <p:spPr>
            <a:xfrm>
              <a:off x="303953" y="-76200"/>
              <a:ext cx="6074259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Skill · MCP의 이해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0527560" y="7251663"/>
            <a:ext cx="4769930" cy="304800"/>
            <a:chOff x="0" y="0"/>
            <a:chExt cx="6359906" cy="406400"/>
          </a:xfrm>
        </p:grpSpPr>
        <p:sp>
          <p:nvSpPr>
            <p:cNvPr id="47" name="TextBox 47"/>
            <p:cNvSpPr txBox="1"/>
            <p:nvPr/>
          </p:nvSpPr>
          <p:spPr>
            <a:xfrm>
              <a:off x="303953" y="-76200"/>
              <a:ext cx="605595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아이디어를 직접 구현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3138723" y="4790276"/>
            <a:ext cx="4722467" cy="304800"/>
            <a:chOff x="0" y="0"/>
            <a:chExt cx="6296622" cy="406400"/>
          </a:xfrm>
        </p:grpSpPr>
        <p:sp>
          <p:nvSpPr>
            <p:cNvPr id="50" name="TextBox 50"/>
            <p:cNvSpPr txBox="1"/>
            <p:nvPr/>
          </p:nvSpPr>
          <p:spPr>
            <a:xfrm>
              <a:off x="303953" y="-76200"/>
              <a:ext cx="5992669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LangChain 기초 실습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3119813" y="7738632"/>
            <a:ext cx="4791747" cy="304800"/>
            <a:chOff x="0" y="0"/>
            <a:chExt cx="6388995" cy="406400"/>
          </a:xfrm>
        </p:grpSpPr>
        <p:sp>
          <p:nvSpPr>
            <p:cNvPr id="53" name="TextBox 53"/>
            <p:cNvSpPr txBox="1"/>
            <p:nvPr/>
          </p:nvSpPr>
          <p:spPr>
            <a:xfrm>
              <a:off x="303953" y="-76200"/>
              <a:ext cx="6085042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Vercel · Railway로 배포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0593285" y="4790276"/>
            <a:ext cx="4769655" cy="304800"/>
            <a:chOff x="0" y="0"/>
            <a:chExt cx="6359540" cy="406400"/>
          </a:xfrm>
        </p:grpSpPr>
        <p:sp>
          <p:nvSpPr>
            <p:cNvPr id="56" name="TextBox 56"/>
            <p:cNvSpPr txBox="1"/>
            <p:nvPr/>
          </p:nvSpPr>
          <p:spPr>
            <a:xfrm>
              <a:off x="303953" y="-76200"/>
              <a:ext cx="605558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나만의 Skill 만들기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0527560" y="7738632"/>
            <a:ext cx="4769930" cy="304800"/>
            <a:chOff x="0" y="0"/>
            <a:chExt cx="6359906" cy="406400"/>
          </a:xfrm>
        </p:grpSpPr>
        <p:sp>
          <p:nvSpPr>
            <p:cNvPr id="59" name="TextBox 59"/>
            <p:cNvSpPr txBox="1"/>
            <p:nvPr/>
          </p:nvSpPr>
          <p:spPr>
            <a:xfrm>
              <a:off x="303953" y="-76200"/>
              <a:ext cx="605595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결과 공유 → 해커톤 준비!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1" name="AutoShape 61"/>
          <p:cNvSpPr/>
          <p:nvPr/>
        </p:nvSpPr>
        <p:spPr>
          <a:xfrm flipV="1">
            <a:off x="3020968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3020968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AutoShape 63"/>
          <p:cNvSpPr/>
          <p:nvPr/>
        </p:nvSpPr>
        <p:spPr>
          <a:xfrm>
            <a:off x="10548493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>
            <a:off x="10548493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TextBox 6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820604" y="768468"/>
            <a:ext cx="12829802" cy="762000"/>
            <a:chOff x="0" y="0"/>
            <a:chExt cx="17106403" cy="1016000"/>
          </a:xfrm>
        </p:grpSpPr>
        <p:sp>
          <p:nvSpPr>
            <p:cNvPr id="16" name="TextBox 16"/>
            <p:cNvSpPr txBox="1"/>
            <p:nvPr/>
          </p:nvSpPr>
          <p:spPr>
            <a:xfrm>
              <a:off x="712750" y="76200"/>
              <a:ext cx="16393653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00"/>
                </a:lnSpc>
                <a:spcBef>
                  <a:spcPct val="0"/>
                </a:spcBef>
              </a:pPr>
              <a:r>
                <a:rPr lang="en-US" sz="5000" b="1" u="none" strike="noStrike" spc="-100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이번 학기 목표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284846"/>
              <a:ext cx="446308" cy="446308"/>
            </a:xfrm>
            <a:custGeom>
              <a:avLst/>
              <a:gdLst/>
              <a:ahLst/>
              <a:cxnLst/>
              <a:rect l="l" t="t" r="r" b="b"/>
              <a:pathLst>
                <a:path w="446308" h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2944444" y="3048665"/>
            <a:ext cx="1906863" cy="1756697"/>
          </a:xfrm>
          <a:custGeom>
            <a:avLst/>
            <a:gdLst/>
            <a:ahLst/>
            <a:cxnLst/>
            <a:rect l="l" t="t" r="r" b="b"/>
            <a:pathLst>
              <a:path w="1906863" h="1756697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176076" y="3176873"/>
            <a:ext cx="1935847" cy="1500282"/>
          </a:xfrm>
          <a:custGeom>
            <a:avLst/>
            <a:gdLst/>
            <a:ahLst/>
            <a:cxnLst/>
            <a:rect l="l" t="t" r="r" b="b"/>
            <a:pathLst>
              <a:path w="1935847" h="1500282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580283" y="3112769"/>
            <a:ext cx="1638732" cy="1628490"/>
          </a:xfrm>
          <a:custGeom>
            <a:avLst/>
            <a:gdLst/>
            <a:ahLst/>
            <a:cxnLst/>
            <a:rect l="l" t="t" r="r" b="b"/>
            <a:pathLst>
              <a:path w="1638732" h="1628490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845660" y="5336790"/>
            <a:ext cx="4104431" cy="3111812"/>
            <a:chOff x="0" y="0"/>
            <a:chExt cx="5472575" cy="4149082"/>
          </a:xfrm>
        </p:grpSpPr>
        <p:sp>
          <p:nvSpPr>
            <p:cNvPr id="22" name="TextBox 22"/>
            <p:cNvSpPr txBox="1"/>
            <p:nvPr/>
          </p:nvSpPr>
          <p:spPr>
            <a:xfrm>
              <a:off x="326998" y="2356477"/>
              <a:ext cx="4818580" cy="1792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Antigravity로</a:t>
              </a:r>
            </a:p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나만의 AI 개발 환경</a:t>
              </a:r>
            </a:p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완성하기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STEP 1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환경 구축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091784" y="5336790"/>
            <a:ext cx="4104431" cy="3111812"/>
            <a:chOff x="0" y="0"/>
            <a:chExt cx="5472575" cy="4149082"/>
          </a:xfrm>
        </p:grpSpPr>
        <p:sp>
          <p:nvSpPr>
            <p:cNvPr id="26" name="TextBox 26"/>
            <p:cNvSpPr txBox="1"/>
            <p:nvPr/>
          </p:nvSpPr>
          <p:spPr>
            <a:xfrm>
              <a:off x="275465" y="2356477"/>
              <a:ext cx="4921645" cy="1792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LLM · RAG · MCP</a:t>
              </a:r>
            </a:p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핵심 개념을</a:t>
              </a:r>
            </a:p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말로 설명하기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STEP 2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 이해하기</a:t>
              </a:r>
            </a:p>
          </p:txBody>
        </p:sp>
        <p:sp>
          <p:nvSpPr>
            <p:cNvPr id="28" name="Freeform 28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347433" y="5336790"/>
            <a:ext cx="4104431" cy="3111812"/>
            <a:chOff x="0" y="0"/>
            <a:chExt cx="5472575" cy="4149082"/>
          </a:xfrm>
        </p:grpSpPr>
        <p:sp>
          <p:nvSpPr>
            <p:cNvPr id="30" name="TextBox 30"/>
            <p:cNvSpPr txBox="1"/>
            <p:nvPr/>
          </p:nvSpPr>
          <p:spPr>
            <a:xfrm>
              <a:off x="344175" y="2356477"/>
              <a:ext cx="4784225" cy="1792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미니 프로젝트로</a:t>
              </a:r>
            </a:p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해커톤 아이디어</a:t>
              </a:r>
            </a:p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구현해 보기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STEP 3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직접 만들기</a:t>
              </a:r>
            </a:p>
          </p:txBody>
        </p:sp>
        <p:sp>
          <p:nvSpPr>
            <p:cNvPr id="32" name="Freeform 32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- 9 -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어떻게 공부할까?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>
            <a:off x="6024486" y="2898323"/>
            <a:ext cx="0" cy="1053640"/>
          </a:xfrm>
          <a:prstGeom prst="line">
            <a:avLst/>
          </a:prstGeom>
          <a:ln w="9525" cap="flat">
            <a:solidFill>
              <a:srgbClr val="5053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3048547" y="3118668"/>
            <a:ext cx="263252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핵심 원칙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83625" y="3078692"/>
            <a:ext cx="840475" cy="714403"/>
          </a:xfrm>
          <a:custGeom>
            <a:avLst/>
            <a:gdLst/>
            <a:ahLst/>
            <a:cxnLst/>
            <a:rect l="l" t="t" r="r" b="b"/>
            <a:pathLst>
              <a:path w="840475" h="714403">
                <a:moveTo>
                  <a:pt x="0" y="0"/>
                </a:moveTo>
                <a:lnTo>
                  <a:pt x="840474" y="0"/>
                </a:lnTo>
                <a:lnTo>
                  <a:pt x="840474" y="714404"/>
                </a:lnTo>
                <a:lnTo>
                  <a:pt x="0" y="714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06746" y="2933210"/>
            <a:ext cx="9816540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코드를 외울 필요는 없어요!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AI에게 잘 설명하고, 결과를 확인하는 연습이 전부입니다.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05928" y="4639191"/>
            <a:ext cx="4832311" cy="3960188"/>
            <a:chOff x="0" y="0"/>
            <a:chExt cx="1272707" cy="10430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26923" y="4639191"/>
            <a:ext cx="4832311" cy="3960188"/>
            <a:chOff x="0" y="0"/>
            <a:chExt cx="1272707" cy="10430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747917" y="4639191"/>
            <a:ext cx="4832311" cy="3960188"/>
            <a:chOff x="0" y="0"/>
            <a:chExt cx="1272707" cy="10430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212939" y="6825195"/>
            <a:ext cx="381154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보기만 하면 안 늘어요.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수업 중 꼭 같이 입력!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3350" y="6825195"/>
            <a:ext cx="381945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모르면 바로 질문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"이 코드 쉽게 설명해줘"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50849" y="6825195"/>
            <a:ext cx="376792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만든 걸 단톡방에 공유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서로 보고 배우기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5302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직접 따라 하기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9668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AI에게 묻기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864034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결과 공유하기</a:t>
            </a:r>
          </a:p>
        </p:txBody>
      </p:sp>
      <p:sp>
        <p:nvSpPr>
          <p:cNvPr id="36" name="AutoShape 36"/>
          <p:cNvSpPr/>
          <p:nvPr/>
        </p:nvSpPr>
        <p:spPr>
          <a:xfrm>
            <a:off x="2037627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7061993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12086359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TextBox 39"/>
          <p:cNvSpPr txBox="1"/>
          <p:nvPr/>
        </p:nvSpPr>
        <p:spPr>
          <a:xfrm>
            <a:off x="2893526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TIP 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534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TIP 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39267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TIP 03</a:t>
            </a:r>
          </a:p>
        </p:txBody>
      </p:sp>
      <p:sp>
        <p:nvSpPr>
          <p:cNvPr id="42" name="Freeform 42"/>
          <p:cNvSpPr/>
          <p:nvPr/>
        </p:nvSpPr>
        <p:spPr>
          <a:xfrm>
            <a:off x="3173163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233976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3207771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2" y="0"/>
                </a:lnTo>
                <a:lnTo>
                  <a:pt x="180072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- 10 -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쉬는 시간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32477" y="5801544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10분 쉬어 갈게요!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32477" y="6600042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19:30에 다시 시작합니다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08845" y="7574259"/>
            <a:ext cx="7496762" cy="59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2.0이 아직 설치 안 된 분은 이 시간에 설치해 주세요!</a:t>
            </a:r>
          </a:p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파트에서 바로 실습합니다.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1" name="Freeform 21" descr="녹차 한 잔과 노트북, 시계가 있는 휴식 일러스트"/>
          <p:cNvSpPr/>
          <p:nvPr/>
        </p:nvSpPr>
        <p:spPr>
          <a:xfrm>
            <a:off x="6191250" y="2143125"/>
            <a:ext cx="5905500" cy="3324225"/>
          </a:xfrm>
          <a:custGeom>
            <a:avLst/>
            <a:gdLst/>
            <a:ahLst/>
            <a:cxnLst/>
            <a:rect l="l" t="t" r="r" b="b"/>
            <a:pathLst>
              <a:path w="5905500" h="3324225">
                <a:moveTo>
                  <a:pt x="0" y="0"/>
                </a:moveTo>
                <a:lnTo>
                  <a:pt x="5905500" y="0"/>
                </a:lnTo>
                <a:lnTo>
                  <a:pt x="5905500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7" r="-147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2557664"/>
            <a:ext cx="1488210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3813005"/>
            <a:ext cx="12382500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38" y="6029828"/>
            <a:ext cx="10520872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17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20분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3870" y="5460741"/>
            <a:ext cx="10477500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799" b="1" u="none" strike="noStrike" spc="-114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도구 소개 · 2.0 vs IDE · 자기소개 페이지 실습</a:t>
            </a:r>
          </a:p>
        </p:txBody>
      </p:sp>
      <p:sp>
        <p:nvSpPr>
          <p:cNvPr id="22" name="AutoShape 22"/>
          <p:cNvSpPr/>
          <p:nvPr/>
        </p:nvSpPr>
        <p:spPr>
          <a:xfrm flipH="1" flipV="1">
            <a:off x="4613382" y="7266893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443870" y="7187244"/>
            <a:ext cx="2074261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20"/>
              </a:lnSpc>
              <a:spcBef>
                <a:spcPct val="0"/>
              </a:spcBef>
            </a:pPr>
            <a:r>
              <a:rPr lang="en-US" sz="2000" b="1" u="none" strike="noStrike" spc="-80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2000" b="1" u="none" strike="noStrike" spc="-8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3801" y="7278683"/>
            <a:ext cx="2358365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0"/>
              </a:lnSpc>
              <a:spcBef>
                <a:spcPct val="0"/>
              </a:spcBef>
            </a:pPr>
            <a:r>
              <a:rPr lang="en-US" sz="2000" b="1" u="none" strike="noStrike" spc="3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 descr="AI 에이전트가 계획하고 코드를 작성하고 실행·확인하는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t="-3714" b="-371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에이전트 == 스스로 일하는 AI 비서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Google 계정으로 무료 시작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8차시 내내 사용할 메인 도구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7042754" cy="547878"/>
            <a:chOff x="0" y="0"/>
            <a:chExt cx="9390339" cy="73050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8890000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구글의 AI 에이전트 도구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Antigravity란?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할 일을 말로 맡기면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에이전트가 계획 → 코드 작성 → 실행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결과까지 스스로 확인!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- 13 -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4가지 도구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17296" y="2898323"/>
            <a:ext cx="7335408" cy="2752701"/>
            <a:chOff x="0" y="0"/>
            <a:chExt cx="1931959" cy="7249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17296" y="5846679"/>
            <a:ext cx="7335408" cy="2752701"/>
            <a:chOff x="0" y="0"/>
            <a:chExt cx="1931959" cy="724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44821" y="2898323"/>
            <a:ext cx="7335408" cy="2752701"/>
            <a:chOff x="0" y="0"/>
            <a:chExt cx="1931959" cy="7249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44821" y="5846679"/>
            <a:ext cx="7335408" cy="2752701"/>
            <a:chOff x="0" y="0"/>
            <a:chExt cx="1931959" cy="7249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931959" cy="70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12059" y="5378921"/>
            <a:ext cx="3263882" cy="851964"/>
            <a:chOff x="0" y="0"/>
            <a:chExt cx="859623" cy="2243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9623" cy="224386"/>
            </a:xfrm>
            <a:custGeom>
              <a:avLst/>
              <a:gdLst/>
              <a:ahLst/>
              <a:cxnLst/>
              <a:rect l="l" t="t" r="r" b="b"/>
              <a:pathLst>
                <a:path w="859623" h="224386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859623" cy="205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12059" y="5550371"/>
            <a:ext cx="326388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4가지 Surface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20968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2.0 (필수)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20968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CLI (선택)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8493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 (필수)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8493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SDK (선택)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3122994" y="4303307"/>
            <a:ext cx="4785385" cy="304800"/>
            <a:chOff x="0" y="0"/>
            <a:chExt cx="6380513" cy="406400"/>
          </a:xfrm>
        </p:grpSpPr>
        <p:sp>
          <p:nvSpPr>
            <p:cNvPr id="38" name="TextBox 38"/>
            <p:cNvSpPr txBox="1"/>
            <p:nvPr/>
          </p:nvSpPr>
          <p:spPr>
            <a:xfrm>
              <a:off x="303953" y="-76200"/>
              <a:ext cx="607656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에이전트 대화 중심의 데스크톱 앱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135542" y="7251663"/>
            <a:ext cx="4753926" cy="304800"/>
            <a:chOff x="0" y="0"/>
            <a:chExt cx="6338568" cy="406400"/>
          </a:xfrm>
        </p:grpSpPr>
        <p:sp>
          <p:nvSpPr>
            <p:cNvPr id="41" name="TextBox 41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터미널에서 실행하는 에이전트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592422" y="4303307"/>
            <a:ext cx="4752200" cy="304800"/>
            <a:chOff x="0" y="0"/>
            <a:chExt cx="6336266" cy="406400"/>
          </a:xfrm>
        </p:grpSpPr>
        <p:sp>
          <p:nvSpPr>
            <p:cNvPr id="44" name="TextBox 44"/>
            <p:cNvSpPr txBox="1"/>
            <p:nvPr/>
          </p:nvSpPr>
          <p:spPr>
            <a:xfrm>
              <a:off x="303953" y="-76200"/>
              <a:ext cx="60323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VS Code 기반의 코드 편집기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0503966" y="7251663"/>
            <a:ext cx="4785659" cy="304800"/>
            <a:chOff x="0" y="0"/>
            <a:chExt cx="6380879" cy="406400"/>
          </a:xfrm>
        </p:grpSpPr>
        <p:sp>
          <p:nvSpPr>
            <p:cNvPr id="47" name="TextBox 47"/>
            <p:cNvSpPr txBox="1"/>
            <p:nvPr/>
          </p:nvSpPr>
          <p:spPr>
            <a:xfrm>
              <a:off x="303953" y="-76200"/>
              <a:ext cx="6076926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에이전트를 만드는 Python 라이브러리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3122994" y="4790276"/>
            <a:ext cx="4753926" cy="304800"/>
            <a:chOff x="0" y="0"/>
            <a:chExt cx="6338568" cy="406400"/>
          </a:xfrm>
        </p:grpSpPr>
        <p:sp>
          <p:nvSpPr>
            <p:cNvPr id="50" name="TextBox 50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여러 작업을 동시에 맡깁니다.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3135542" y="7738632"/>
            <a:ext cx="4760288" cy="304800"/>
            <a:chOff x="0" y="0"/>
            <a:chExt cx="6347050" cy="406400"/>
          </a:xfrm>
        </p:grpSpPr>
        <p:sp>
          <p:nvSpPr>
            <p:cNvPr id="53" name="TextBox 53"/>
            <p:cNvSpPr txBox="1"/>
            <p:nvPr/>
          </p:nvSpPr>
          <p:spPr>
            <a:xfrm>
              <a:off x="303953" y="-76200"/>
              <a:ext cx="604309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실행 명령어는 agy 입니다.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0592422" y="4790276"/>
            <a:ext cx="4785385" cy="304800"/>
            <a:chOff x="0" y="0"/>
            <a:chExt cx="6380513" cy="406400"/>
          </a:xfrm>
        </p:grpSpPr>
        <p:sp>
          <p:nvSpPr>
            <p:cNvPr id="56" name="TextBox 56"/>
            <p:cNvSpPr txBox="1"/>
            <p:nvPr/>
          </p:nvSpPr>
          <p:spPr>
            <a:xfrm>
              <a:off x="303953" y="-76200"/>
              <a:ext cx="607656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수정 내용을 한 줄씩 확인합니다.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0503966" y="7738632"/>
            <a:ext cx="4817118" cy="304800"/>
            <a:chOff x="0" y="0"/>
            <a:chExt cx="6422824" cy="406400"/>
          </a:xfrm>
        </p:grpSpPr>
        <p:sp>
          <p:nvSpPr>
            <p:cNvPr id="59" name="TextBox 59"/>
            <p:cNvSpPr txBox="1"/>
            <p:nvPr/>
          </p:nvSpPr>
          <p:spPr>
            <a:xfrm>
              <a:off x="303953" y="-76200"/>
              <a:ext cx="6118871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pip install google-antigravity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1" name="AutoShape 61"/>
          <p:cNvSpPr/>
          <p:nvPr/>
        </p:nvSpPr>
        <p:spPr>
          <a:xfrm>
            <a:off x="3020968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3020968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AutoShape 63"/>
          <p:cNvSpPr/>
          <p:nvPr/>
        </p:nvSpPr>
        <p:spPr>
          <a:xfrm flipV="1">
            <a:off x="10548493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>
            <a:off x="10548493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TextBox 6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- 14 -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2.0과 IDE의 차이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717296" y="3731994"/>
          <a:ext cx="14853407" cy="3917156"/>
        </p:xfrm>
        <a:graphic>
          <a:graphicData uri="http://schemas.openxmlformats.org/drawingml/2006/table">
            <a:tbl>
              <a:tblPr/>
              <a:tblGrid>
                <a:gridCol w="349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9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2.0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중심 화면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대화 화면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코드 편집기 (VS Code 기반)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에디터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없음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있음. 에이전트의 수정 내용을 한 줄씩 확인 가능!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아이콘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흰색 배경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검은색 격자. 실행 시 혼동하지 않도록 주의!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적합한 상황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병렬 작업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코드 학습과 세밀한 검토. 두 앱은 함께 설치해도 충돌하지 않음!!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- 15 -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5505213" y="2438623"/>
            <a:ext cx="7277574" cy="4940289"/>
            <a:chOff x="0" y="0"/>
            <a:chExt cx="1283210" cy="8710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3210" cy="871091"/>
            </a:xfrm>
            <a:custGeom>
              <a:avLst/>
              <a:gdLst/>
              <a:ahLst/>
              <a:cxnLst/>
              <a:rect l="l" t="t" r="r" b="b"/>
              <a:pathLst>
                <a:path w="1283210" h="871091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855134"/>
                  </a:lnTo>
                  <a:cubicBezTo>
                    <a:pt x="1283210" y="859366"/>
                    <a:pt x="1281529" y="863425"/>
                    <a:pt x="1278536" y="866417"/>
                  </a:cubicBezTo>
                  <a:cubicBezTo>
                    <a:pt x="1275544" y="869410"/>
                    <a:pt x="1271485" y="871091"/>
                    <a:pt x="1267253" y="871091"/>
                  </a:cubicBezTo>
                  <a:lnTo>
                    <a:pt x="15957" y="871091"/>
                  </a:lnTo>
                  <a:cubicBezTo>
                    <a:pt x="7144" y="871091"/>
                    <a:pt x="0" y="863947"/>
                    <a:pt x="0" y="855134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-1521" r="-6944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 설치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07270" y="8349615"/>
            <a:ext cx="6673459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흰색 배경</a:t>
            </a:r>
            <a:r>
              <a:rPr lang="en-US" sz="2400" u="none" strike="noStrike" spc="-48">
                <a:solidFill>
                  <a:srgbClr val="00000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</a:t>
            </a:r>
            <a:r>
              <a:rPr lang="en-US" sz="2400" b="1" u="none" strike="noStrike" spc="-48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</a:t>
            </a:r>
            <a:r>
              <a:rPr lang="en-US" sz="2400" u="none" strike="noStrike" spc="-48">
                <a:solidFill>
                  <a:srgbClr val="00000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</a:t>
            </a:r>
            <a:r>
              <a:rPr lang="en-US" sz="2400" b="1" u="none" strike="noStrike" spc="-48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2.0</a:t>
            </a:r>
          </a:p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검은색 격자</a:t>
            </a:r>
            <a:r>
              <a:rPr lang="en-US" sz="2400" b="1" u="none" strike="noStrike" spc="-48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 -</a:t>
            </a:r>
            <a:r>
              <a:rPr lang="en-US" sz="2400" u="none" strike="noStrike" spc="-48">
                <a:solidFill>
                  <a:srgbClr val="000000"/>
                </a:solidFill>
                <a:latin typeface="프리젠테이션"/>
                <a:ea typeface="프리젠테이션"/>
                <a:cs typeface="프리젠테이션"/>
                <a:sym typeface="프리젠테이션"/>
              </a:rPr>
              <a:t> </a:t>
            </a:r>
            <a:r>
              <a:rPr lang="en-US" sz="2400" b="1" u="none" strike="noStrike" spc="-48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8200" y="7767845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아이콘 구분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82000" y="9280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- 16 -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두 앱 함께 쓰기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17296" y="6224694"/>
            <a:ext cx="4764905" cy="2374686"/>
            <a:chOff x="0" y="0"/>
            <a:chExt cx="1254954" cy="6254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4954" cy="625432"/>
            </a:xfrm>
            <a:custGeom>
              <a:avLst/>
              <a:gdLst/>
              <a:ahLst/>
              <a:cxnLst/>
              <a:rect l="l" t="t" r="r" b="b"/>
              <a:pathLst>
                <a:path w="1254954" h="625432">
                  <a:moveTo>
                    <a:pt x="24372" y="0"/>
                  </a:moveTo>
                  <a:lnTo>
                    <a:pt x="1230583" y="0"/>
                  </a:lnTo>
                  <a:cubicBezTo>
                    <a:pt x="1237046" y="0"/>
                    <a:pt x="1243246" y="2568"/>
                    <a:pt x="1247816" y="7138"/>
                  </a:cubicBezTo>
                  <a:cubicBezTo>
                    <a:pt x="1252387" y="11709"/>
                    <a:pt x="1254954" y="17908"/>
                    <a:pt x="1254954" y="24372"/>
                  </a:cubicBezTo>
                  <a:lnTo>
                    <a:pt x="1254954" y="601060"/>
                  </a:lnTo>
                  <a:cubicBezTo>
                    <a:pt x="1254954" y="607524"/>
                    <a:pt x="1252387" y="613723"/>
                    <a:pt x="1247816" y="618293"/>
                  </a:cubicBezTo>
                  <a:cubicBezTo>
                    <a:pt x="1243246" y="622864"/>
                    <a:pt x="1237046" y="625432"/>
                    <a:pt x="1230583" y="625432"/>
                  </a:cubicBezTo>
                  <a:lnTo>
                    <a:pt x="24372" y="625432"/>
                  </a:lnTo>
                  <a:cubicBezTo>
                    <a:pt x="10912" y="625432"/>
                    <a:pt x="0" y="614520"/>
                    <a:pt x="0" y="601060"/>
                  </a:cubicBezTo>
                  <a:lnTo>
                    <a:pt x="0" y="24372"/>
                  </a:lnTo>
                  <a:cubicBezTo>
                    <a:pt x="0" y="10912"/>
                    <a:pt x="10912" y="0"/>
                    <a:pt x="24372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254954" cy="60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1548" y="6224694"/>
            <a:ext cx="4764905" cy="2374686"/>
            <a:chOff x="0" y="0"/>
            <a:chExt cx="1254954" cy="6254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4954" cy="625432"/>
            </a:xfrm>
            <a:custGeom>
              <a:avLst/>
              <a:gdLst/>
              <a:ahLst/>
              <a:cxnLst/>
              <a:rect l="l" t="t" r="r" b="b"/>
              <a:pathLst>
                <a:path w="1254954" h="625432">
                  <a:moveTo>
                    <a:pt x="24372" y="0"/>
                  </a:moveTo>
                  <a:lnTo>
                    <a:pt x="1230583" y="0"/>
                  </a:lnTo>
                  <a:cubicBezTo>
                    <a:pt x="1237046" y="0"/>
                    <a:pt x="1243246" y="2568"/>
                    <a:pt x="1247816" y="7138"/>
                  </a:cubicBezTo>
                  <a:cubicBezTo>
                    <a:pt x="1252387" y="11709"/>
                    <a:pt x="1254954" y="17908"/>
                    <a:pt x="1254954" y="24372"/>
                  </a:cubicBezTo>
                  <a:lnTo>
                    <a:pt x="1254954" y="601060"/>
                  </a:lnTo>
                  <a:cubicBezTo>
                    <a:pt x="1254954" y="607524"/>
                    <a:pt x="1252387" y="613723"/>
                    <a:pt x="1247816" y="618293"/>
                  </a:cubicBezTo>
                  <a:cubicBezTo>
                    <a:pt x="1243246" y="622864"/>
                    <a:pt x="1237046" y="625432"/>
                    <a:pt x="1230583" y="625432"/>
                  </a:cubicBezTo>
                  <a:lnTo>
                    <a:pt x="24372" y="625432"/>
                  </a:lnTo>
                  <a:cubicBezTo>
                    <a:pt x="10912" y="625432"/>
                    <a:pt x="0" y="614520"/>
                    <a:pt x="0" y="601060"/>
                  </a:cubicBezTo>
                  <a:lnTo>
                    <a:pt x="0" y="24372"/>
                  </a:lnTo>
                  <a:cubicBezTo>
                    <a:pt x="0" y="10912"/>
                    <a:pt x="10912" y="0"/>
                    <a:pt x="24372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1254954" cy="60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805799" y="6224694"/>
            <a:ext cx="4764905" cy="2374686"/>
            <a:chOff x="0" y="0"/>
            <a:chExt cx="1254954" cy="62543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4954" cy="625432"/>
            </a:xfrm>
            <a:custGeom>
              <a:avLst/>
              <a:gdLst/>
              <a:ahLst/>
              <a:cxnLst/>
              <a:rect l="l" t="t" r="r" b="b"/>
              <a:pathLst>
                <a:path w="1254954" h="625432">
                  <a:moveTo>
                    <a:pt x="24372" y="0"/>
                  </a:moveTo>
                  <a:lnTo>
                    <a:pt x="1230583" y="0"/>
                  </a:lnTo>
                  <a:cubicBezTo>
                    <a:pt x="1237046" y="0"/>
                    <a:pt x="1243246" y="2568"/>
                    <a:pt x="1247816" y="7138"/>
                  </a:cubicBezTo>
                  <a:cubicBezTo>
                    <a:pt x="1252387" y="11709"/>
                    <a:pt x="1254954" y="17908"/>
                    <a:pt x="1254954" y="24372"/>
                  </a:cubicBezTo>
                  <a:lnTo>
                    <a:pt x="1254954" y="601060"/>
                  </a:lnTo>
                  <a:cubicBezTo>
                    <a:pt x="1254954" y="607524"/>
                    <a:pt x="1252387" y="613723"/>
                    <a:pt x="1247816" y="618293"/>
                  </a:cubicBezTo>
                  <a:cubicBezTo>
                    <a:pt x="1243246" y="622864"/>
                    <a:pt x="1237046" y="625432"/>
                    <a:pt x="1230583" y="625432"/>
                  </a:cubicBezTo>
                  <a:lnTo>
                    <a:pt x="24372" y="625432"/>
                  </a:lnTo>
                  <a:cubicBezTo>
                    <a:pt x="10912" y="625432"/>
                    <a:pt x="0" y="614520"/>
                    <a:pt x="0" y="601060"/>
                  </a:cubicBezTo>
                  <a:lnTo>
                    <a:pt x="0" y="24372"/>
                  </a:lnTo>
                  <a:cubicBezTo>
                    <a:pt x="0" y="10912"/>
                    <a:pt x="10912" y="0"/>
                    <a:pt x="24372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19050"/>
              <a:ext cx="1254954" cy="60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50791" y="6346150"/>
            <a:ext cx="4505671" cy="787186"/>
            <a:chOff x="0" y="0"/>
            <a:chExt cx="1186679" cy="2073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86679" cy="207325"/>
            </a:xfrm>
            <a:custGeom>
              <a:avLst/>
              <a:gdLst/>
              <a:ahLst/>
              <a:cxnLst/>
              <a:rect l="l" t="t" r="r" b="b"/>
              <a:pathLst>
                <a:path w="1186679" h="207325">
                  <a:moveTo>
                    <a:pt x="20619" y="0"/>
                  </a:moveTo>
                  <a:lnTo>
                    <a:pt x="1166060" y="0"/>
                  </a:lnTo>
                  <a:cubicBezTo>
                    <a:pt x="1171528" y="0"/>
                    <a:pt x="1176773" y="2172"/>
                    <a:pt x="1180640" y="6039"/>
                  </a:cubicBezTo>
                  <a:cubicBezTo>
                    <a:pt x="1184506" y="9906"/>
                    <a:pt x="1186679" y="15151"/>
                    <a:pt x="1186679" y="20619"/>
                  </a:cubicBezTo>
                  <a:lnTo>
                    <a:pt x="1186679" y="186706"/>
                  </a:lnTo>
                  <a:cubicBezTo>
                    <a:pt x="1186679" y="192174"/>
                    <a:pt x="1184506" y="197419"/>
                    <a:pt x="1180640" y="201286"/>
                  </a:cubicBezTo>
                  <a:cubicBezTo>
                    <a:pt x="1176773" y="205152"/>
                    <a:pt x="1171528" y="207325"/>
                    <a:pt x="1166060" y="207325"/>
                  </a:cubicBezTo>
                  <a:lnTo>
                    <a:pt x="20619" y="207325"/>
                  </a:lnTo>
                  <a:cubicBezTo>
                    <a:pt x="9232" y="207325"/>
                    <a:pt x="0" y="198093"/>
                    <a:pt x="0" y="186706"/>
                  </a:cubicBezTo>
                  <a:lnTo>
                    <a:pt x="0" y="20619"/>
                  </a:lnTo>
                  <a:cubicBezTo>
                    <a:pt x="0" y="9232"/>
                    <a:pt x="9232" y="0"/>
                    <a:pt x="20619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186679" cy="188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91165" y="6346150"/>
            <a:ext cx="4505671" cy="787186"/>
            <a:chOff x="0" y="0"/>
            <a:chExt cx="1186679" cy="2073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86679" cy="207325"/>
            </a:xfrm>
            <a:custGeom>
              <a:avLst/>
              <a:gdLst/>
              <a:ahLst/>
              <a:cxnLst/>
              <a:rect l="l" t="t" r="r" b="b"/>
              <a:pathLst>
                <a:path w="1186679" h="207325">
                  <a:moveTo>
                    <a:pt x="20619" y="0"/>
                  </a:moveTo>
                  <a:lnTo>
                    <a:pt x="1166060" y="0"/>
                  </a:lnTo>
                  <a:cubicBezTo>
                    <a:pt x="1171528" y="0"/>
                    <a:pt x="1176773" y="2172"/>
                    <a:pt x="1180640" y="6039"/>
                  </a:cubicBezTo>
                  <a:cubicBezTo>
                    <a:pt x="1184506" y="9906"/>
                    <a:pt x="1186679" y="15151"/>
                    <a:pt x="1186679" y="20619"/>
                  </a:cubicBezTo>
                  <a:lnTo>
                    <a:pt x="1186679" y="186706"/>
                  </a:lnTo>
                  <a:cubicBezTo>
                    <a:pt x="1186679" y="192174"/>
                    <a:pt x="1184506" y="197419"/>
                    <a:pt x="1180640" y="201286"/>
                  </a:cubicBezTo>
                  <a:cubicBezTo>
                    <a:pt x="1176773" y="205152"/>
                    <a:pt x="1171528" y="207325"/>
                    <a:pt x="1166060" y="207325"/>
                  </a:cubicBezTo>
                  <a:lnTo>
                    <a:pt x="20619" y="207325"/>
                  </a:lnTo>
                  <a:cubicBezTo>
                    <a:pt x="9232" y="207325"/>
                    <a:pt x="0" y="198093"/>
                    <a:pt x="0" y="186706"/>
                  </a:cubicBezTo>
                  <a:lnTo>
                    <a:pt x="0" y="20619"/>
                  </a:lnTo>
                  <a:cubicBezTo>
                    <a:pt x="0" y="9232"/>
                    <a:pt x="9232" y="0"/>
                    <a:pt x="20619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1186679" cy="188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935416" y="6346150"/>
            <a:ext cx="4505671" cy="787186"/>
            <a:chOff x="0" y="0"/>
            <a:chExt cx="1186679" cy="2073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86679" cy="207325"/>
            </a:xfrm>
            <a:custGeom>
              <a:avLst/>
              <a:gdLst/>
              <a:ahLst/>
              <a:cxnLst/>
              <a:rect l="l" t="t" r="r" b="b"/>
              <a:pathLst>
                <a:path w="1186679" h="207325">
                  <a:moveTo>
                    <a:pt x="20619" y="0"/>
                  </a:moveTo>
                  <a:lnTo>
                    <a:pt x="1166060" y="0"/>
                  </a:lnTo>
                  <a:cubicBezTo>
                    <a:pt x="1171528" y="0"/>
                    <a:pt x="1176773" y="2172"/>
                    <a:pt x="1180640" y="6039"/>
                  </a:cubicBezTo>
                  <a:cubicBezTo>
                    <a:pt x="1184506" y="9906"/>
                    <a:pt x="1186679" y="15151"/>
                    <a:pt x="1186679" y="20619"/>
                  </a:cubicBezTo>
                  <a:lnTo>
                    <a:pt x="1186679" y="186706"/>
                  </a:lnTo>
                  <a:cubicBezTo>
                    <a:pt x="1186679" y="192174"/>
                    <a:pt x="1184506" y="197419"/>
                    <a:pt x="1180640" y="201286"/>
                  </a:cubicBezTo>
                  <a:cubicBezTo>
                    <a:pt x="1176773" y="205152"/>
                    <a:pt x="1171528" y="207325"/>
                    <a:pt x="1166060" y="207325"/>
                  </a:cubicBezTo>
                  <a:lnTo>
                    <a:pt x="20619" y="207325"/>
                  </a:lnTo>
                  <a:cubicBezTo>
                    <a:pt x="9232" y="207325"/>
                    <a:pt x="0" y="198093"/>
                    <a:pt x="0" y="186706"/>
                  </a:cubicBezTo>
                  <a:lnTo>
                    <a:pt x="0" y="20619"/>
                  </a:lnTo>
                  <a:cubicBezTo>
                    <a:pt x="0" y="9232"/>
                    <a:pt x="9232" y="0"/>
                    <a:pt x="20619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1186679" cy="188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717296" y="3537442"/>
            <a:ext cx="14853407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두 앱은 디스크의 같은 파일을 읽고 씀!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2.0에서 에이전트가 코드를 고치면 IDE 화면에 바로 반영됨!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15859" y="6462734"/>
            <a:ext cx="2367780" cy="49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87"/>
              </a:lnSpc>
              <a:spcBef>
                <a:spcPct val="0"/>
              </a:spcBef>
            </a:pPr>
            <a:r>
              <a:rPr lang="en-US" sz="2799" b="1" u="none" strike="noStrike" spc="-5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같은 폴더 열기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60110" y="6462734"/>
            <a:ext cx="2367780" cy="49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87"/>
              </a:lnSpc>
              <a:spcBef>
                <a:spcPct val="0"/>
              </a:spcBef>
            </a:pPr>
            <a:r>
              <a:rPr lang="en-US" sz="2799" b="1" u="none" strike="noStrike" spc="-5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역할 나누기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004361" y="6462734"/>
            <a:ext cx="2367780" cy="49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87"/>
              </a:lnSpc>
              <a:spcBef>
                <a:spcPct val="0"/>
              </a:spcBef>
            </a:pPr>
            <a:r>
              <a:rPr lang="en-US" sz="2799" b="1" u="none" strike="noStrike" spc="-5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확장 설치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83245" y="7545387"/>
            <a:ext cx="399490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두 앱에서 동일한 프로젝트 폴더 지정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127496" y="7354887"/>
            <a:ext cx="399490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작업은 2.0에!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검토는 IDE에서!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71748" y="7354887"/>
            <a:ext cx="399490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OpenVSX에 없으면,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.vsix 파일로 설치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717296" y="2817559"/>
            <a:ext cx="3903318" cy="555498"/>
            <a:chOff x="0" y="0"/>
            <a:chExt cx="5204424" cy="740664"/>
          </a:xfrm>
        </p:grpSpPr>
        <p:sp>
          <p:nvSpPr>
            <p:cNvPr id="43" name="TextBox 43"/>
            <p:cNvSpPr txBox="1"/>
            <p:nvPr/>
          </p:nvSpPr>
          <p:spPr>
            <a:xfrm>
              <a:off x="500339" y="76200"/>
              <a:ext cx="4704085" cy="664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함께 쓰는 원리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717296" y="5336887"/>
            <a:ext cx="3903318" cy="555498"/>
            <a:chOff x="0" y="0"/>
            <a:chExt cx="5204424" cy="740664"/>
          </a:xfrm>
        </p:grpSpPr>
        <p:sp>
          <p:nvSpPr>
            <p:cNvPr id="46" name="TextBox 46"/>
            <p:cNvSpPr txBox="1"/>
            <p:nvPr/>
          </p:nvSpPr>
          <p:spPr>
            <a:xfrm>
              <a:off x="500339" y="76200"/>
              <a:ext cx="4704085" cy="664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사용 요령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- 17 -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잘 쓰는 법: 프롬프트 3원칙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>
            <a:off x="6024486" y="2898323"/>
            <a:ext cx="0" cy="1053640"/>
          </a:xfrm>
          <a:prstGeom prst="line">
            <a:avLst/>
          </a:prstGeom>
          <a:ln w="9525" cap="flat">
            <a:solidFill>
              <a:srgbClr val="5053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3048547" y="3118668"/>
            <a:ext cx="263252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프롬프트란?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83625" y="3078692"/>
            <a:ext cx="840475" cy="714403"/>
          </a:xfrm>
          <a:custGeom>
            <a:avLst/>
            <a:gdLst/>
            <a:ahLst/>
            <a:cxnLst/>
            <a:rect l="l" t="t" r="r" b="b"/>
            <a:pathLst>
              <a:path w="840475" h="714403">
                <a:moveTo>
                  <a:pt x="0" y="0"/>
                </a:moveTo>
                <a:lnTo>
                  <a:pt x="840474" y="0"/>
                </a:lnTo>
                <a:lnTo>
                  <a:pt x="840474" y="714404"/>
                </a:lnTo>
                <a:lnTo>
                  <a:pt x="0" y="714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06746" y="2933210"/>
            <a:ext cx="9816540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AI에게 보내는 '작업 지시서'예요.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지시가 명확할수록 결과가 좋아집니다!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05928" y="4639191"/>
            <a:ext cx="4832311" cy="3960188"/>
            <a:chOff x="0" y="0"/>
            <a:chExt cx="1272707" cy="10430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26923" y="4639191"/>
            <a:ext cx="4832311" cy="3960188"/>
            <a:chOff x="0" y="0"/>
            <a:chExt cx="1272707" cy="10430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747917" y="4639191"/>
            <a:ext cx="4832311" cy="3960188"/>
            <a:chOff x="0" y="0"/>
            <a:chExt cx="1272707" cy="10430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212939" y="6825195"/>
            <a:ext cx="381154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무엇을 · 어떻게 · 어떤 모습으로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색, 내용, 파일명까지!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3350" y="6825195"/>
            <a:ext cx="381945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큰 일은 작게 나눠서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단계별로 요청하기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50849" y="6825195"/>
            <a:ext cx="376792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결과를 직접 열어 보고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마음에 안 들면 다시 요청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5302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구체적으로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9668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한 번에 하나씩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864034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확인하고 고치기</a:t>
            </a:r>
          </a:p>
        </p:txBody>
      </p:sp>
      <p:sp>
        <p:nvSpPr>
          <p:cNvPr id="36" name="AutoShape 36"/>
          <p:cNvSpPr/>
          <p:nvPr/>
        </p:nvSpPr>
        <p:spPr>
          <a:xfrm>
            <a:off x="2037627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7061993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12086359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TextBox 39"/>
          <p:cNvSpPr txBox="1"/>
          <p:nvPr/>
        </p:nvSpPr>
        <p:spPr>
          <a:xfrm>
            <a:off x="2893526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원칙 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534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원칙 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39267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원칙 03</a:t>
            </a:r>
          </a:p>
        </p:txBody>
      </p:sp>
      <p:sp>
        <p:nvSpPr>
          <p:cNvPr id="42" name="Freeform 42"/>
          <p:cNvSpPr/>
          <p:nvPr/>
        </p:nvSpPr>
        <p:spPr>
          <a:xfrm>
            <a:off x="3173163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233976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3207771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2" y="0"/>
                </a:lnTo>
                <a:lnTo>
                  <a:pt x="180072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- 18 -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나쁜 프롬프트 vs 좋은 프롬프트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717296" y="3352813"/>
          <a:ext cx="14608955" cy="4949666"/>
        </p:xfrm>
        <a:graphic>
          <a:graphicData uri="http://schemas.openxmlformats.org/drawingml/2006/table">
            <a:tbl>
              <a:tblPr/>
              <a:tblGrid>
                <a:gridCol w="2818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8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2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46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상황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나쁜 예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좋은 예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75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만들 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"홈페이지 만들어줘"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"내 이름·전공·관심사가 들어간 자기소개 페이지를 index.html 하나로 만들어줘"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875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고칠 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"예쁘게 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"배경은 연한 하늘색, 제목은 가운데 정렬하고 크게 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875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오류가 났을 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"안돼"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"버튼을 눌러도 아무 반응이 없어. 원인을 찾아서 고쳐줘"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2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모를 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"이게 뭐야?"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"이 코드가 하는 일을 비전공자도 알 수 있게 3줄로 설명해줘"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- 19 -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1130521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811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채팅창에 "이 프로젝트 설명해줘" 입력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677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답변이 나오면 설치 성공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543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폴더 경로에 한글·공백은 피하기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130521" y="2884234"/>
            <a:ext cx="3903318" cy="555498"/>
            <a:chOff x="0" y="0"/>
            <a:chExt cx="5204424" cy="74066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64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프로젝트 생성 순서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987970" y="3439732"/>
            <a:ext cx="9731087" cy="4934461"/>
          </a:xfrm>
          <a:custGeom>
            <a:avLst/>
            <a:gdLst/>
            <a:ahLst/>
            <a:cxnLst/>
            <a:rect l="l" t="t" r="r" b="b"/>
            <a:pathLst>
              <a:path w="9731087" h="4934461">
                <a:moveTo>
                  <a:pt x="0" y="0"/>
                </a:moveTo>
                <a:lnTo>
                  <a:pt x="9731087" y="0"/>
                </a:lnTo>
                <a:lnTo>
                  <a:pt x="9731087" y="4934461"/>
                </a:lnTo>
                <a:lnTo>
                  <a:pt x="0" y="4934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0] 첫 프로젝트 만들기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30521" y="3604117"/>
            <a:ext cx="6429075" cy="182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바탕화면에 my-intro 폴더를 만들기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Select Project → New Project를 선택하기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Add Folder로 만든 폴더를 지정하기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보안 프리셋은 기본값을 사용하기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- 20 -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⏱ 약 5분 소요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에이전트가 파일을 만들 때까지 대기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실행 허락을 물으면 확인 후 허용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실습 순서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1] 자기소개 페이지 만들기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my-intro 폴더를 2.0에서 열기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왼쪽 프롬프트를 복사해 입력하기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이름·전공은 내 정보로 바꾸기!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Antigravity 2.0 채팅창에 입력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43325"/>
            <a:ext cx="7524750" cy="409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나를 소개하는 웹페이지를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index.html 파일 하나로 만들어줘.</a:t>
            </a:r>
          </a:p>
          <a:p>
            <a:pPr algn="l">
              <a:lnSpc>
                <a:spcPts val="3262"/>
              </a:lnSpc>
            </a:pPr>
            <a:endParaRPr lang="en-US" sz="2250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이름: 홍길동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전공: 경영학과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관심사: AI, 여행, 사진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한 줄 소개: "AI로 세상을 바꾸고 싶은 입문자"</a:t>
            </a:r>
          </a:p>
          <a:p>
            <a:pPr algn="l">
              <a:lnSpc>
                <a:spcPts val="3262"/>
              </a:lnSpc>
            </a:pPr>
            <a:endParaRPr lang="en-US" sz="2250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밝고 깔끔한 디자인으로,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모바일에서도 잘 보이게 해줘.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- 21 -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17" name="Freeform 1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결과 보는 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0058090" y="5978842"/>
            <a:ext cx="7501506" cy="2597397"/>
          </a:xfrm>
          <a:custGeom>
            <a:avLst/>
            <a:gdLst/>
            <a:ahLst/>
            <a:cxnLst/>
            <a:rect l="l" t="t" r="r" b="b"/>
            <a:pathLst>
              <a:path w="7501506" h="2597397">
                <a:moveTo>
                  <a:pt x="0" y="0"/>
                </a:moveTo>
                <a:lnTo>
                  <a:pt x="7501506" y="0"/>
                </a:lnTo>
                <a:lnTo>
                  <a:pt x="7501506" y="2597397"/>
                </a:lnTo>
                <a:lnTo>
                  <a:pt x="0" y="2597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2] 결과 확인하기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72784" y="3604117"/>
            <a:ext cx="7086813" cy="182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my-intro 폴더에서 index.html 찾기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더블클릭 → 브라우저로 열기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IDE에서 코드 살펴보기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   (&lt;h1&gt; 제목 · &lt;p&gt; 문단 · &lt;li&gt; 목록)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📄 index.html (AI가 만든 코드 예시)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47875" y="3657600"/>
            <a:ext cx="7715250" cy="458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&lt;!DOCTYPE html&gt;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&lt;html lang="ko"&gt;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&lt;head&gt;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&lt;meta charset="UTF-8"&gt;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&lt;title&gt;홍길동 소개&lt;/title&gt;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&lt;style&gt;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body { background: #f0f6ff; text-align: center; }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&lt;/style&gt;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&lt;/head&gt;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&lt;body&gt;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&lt;h1&gt;안녕하세요, 홍길동입니다 👋&lt;/h1&gt;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&lt;p&gt;경영학과 · AI로 세상을 바꾸고 싶은 입문자&lt;/p&gt;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&lt;ul&gt; &lt;li&gt;AI&lt;/li&gt; &lt;li&gt;여행&lt;/li&gt; &lt;li&gt;사진&lt;/li&gt; &lt;/ul&gt;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&lt;/body&gt;</a:t>
            </a:r>
          </a:p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&lt;/html&gt;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- 22 -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완성하면 단톡방에 캡처 공유!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에러는 그대로 복사해서 질문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막히면 손 들기 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고치면서 배우기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3] 말로 고쳐 보기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요청은 한 번에 하나씩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브라우저 새로고침(F5)으로 확인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IDE에서 바뀐 줄 확인하기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후속 요청 예시 (하나씩 입력!)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43325"/>
            <a:ext cx="7524750" cy="368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① 배경을 하늘색 그라데이션으로 바꾸고,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제목 글자를 더 크게 해줘.</a:t>
            </a:r>
          </a:p>
          <a:p>
            <a:pPr algn="l">
              <a:lnSpc>
                <a:spcPts val="3262"/>
              </a:lnSpc>
            </a:pPr>
            <a:endParaRPr lang="en-US" sz="2250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② 관심사마다 어울리는 이모지를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앞에 붙여줘.</a:t>
            </a:r>
          </a:p>
          <a:p>
            <a:pPr algn="l">
              <a:lnSpc>
                <a:spcPts val="3262"/>
              </a:lnSpc>
            </a:pPr>
            <a:endParaRPr lang="en-US" sz="2250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③ '인사하기' 버튼을 만들고,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누르면 "반가워요!" 알림창이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뜨게 해줘.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- 23 -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쉬는 시간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32477" y="5801544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수고했어요! 10분 휴식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32477" y="6600042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20:00에 다시 시작합니다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08845" y="7574259"/>
            <a:ext cx="7496762" cy="59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파트: 개발 환경 셋팅</a:t>
            </a:r>
          </a:p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노트북 충전기 연결 + 인터넷 연결을 확인해 주세요!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1" name="Freeform 21" descr="녹차 한 잔과 노트북, 시계가 있는 휴식 일러스트"/>
          <p:cNvSpPr/>
          <p:nvPr/>
        </p:nvSpPr>
        <p:spPr>
          <a:xfrm>
            <a:off x="6191250" y="2143125"/>
            <a:ext cx="5905500" cy="3324225"/>
          </a:xfrm>
          <a:custGeom>
            <a:avLst/>
            <a:gdLst/>
            <a:ahLst/>
            <a:cxnLst/>
            <a:rect l="l" t="t" r="r" b="b"/>
            <a:pathLst>
              <a:path w="5905500" h="3324225">
                <a:moveTo>
                  <a:pt x="0" y="0"/>
                </a:moveTo>
                <a:lnTo>
                  <a:pt x="5905500" y="0"/>
                </a:lnTo>
                <a:lnTo>
                  <a:pt x="5905500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7" r="-147"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2557664"/>
            <a:ext cx="1488210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3813005"/>
            <a:ext cx="12382500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개발 환경 셋팅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38" y="6029828"/>
            <a:ext cx="10520872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17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30분 · 셋팅이 끝나면 일찍 끝!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3870" y="5460741"/>
            <a:ext cx="10953750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799" b="1" u="none" strike="noStrike" spc="-114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2.0 · IDE (필수) / Claude · Codex CLI (선택)</a:t>
            </a:r>
          </a:p>
        </p:txBody>
      </p:sp>
      <p:sp>
        <p:nvSpPr>
          <p:cNvPr id="22" name="AutoShape 22"/>
          <p:cNvSpPr/>
          <p:nvPr/>
        </p:nvSpPr>
        <p:spPr>
          <a:xfrm flipH="1" flipV="1">
            <a:off x="4613382" y="7266893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443870" y="7187244"/>
            <a:ext cx="2074261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20"/>
              </a:lnSpc>
              <a:spcBef>
                <a:spcPct val="0"/>
              </a:spcBef>
            </a:pPr>
            <a:r>
              <a:rPr lang="en-US" sz="2000" b="1" u="none" strike="noStrike" spc="-80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2000" b="1" u="none" strike="noStrike" spc="-8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3801" y="7278683"/>
            <a:ext cx="2358365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0"/>
              </a:lnSpc>
              <a:spcBef>
                <a:spcPct val="0"/>
              </a:spcBef>
            </a:pPr>
            <a:r>
              <a:rPr lang="en-US" sz="2000" b="1" u="none" strike="noStrike" spc="3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820604" y="768468"/>
            <a:ext cx="12829802" cy="762000"/>
            <a:chOff x="0" y="0"/>
            <a:chExt cx="17106403" cy="1016000"/>
          </a:xfrm>
        </p:grpSpPr>
        <p:sp>
          <p:nvSpPr>
            <p:cNvPr id="16" name="TextBox 16"/>
            <p:cNvSpPr txBox="1"/>
            <p:nvPr/>
          </p:nvSpPr>
          <p:spPr>
            <a:xfrm>
              <a:off x="712750" y="76200"/>
              <a:ext cx="16393653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00"/>
                </a:lnSpc>
                <a:spcBef>
                  <a:spcPct val="0"/>
                </a:spcBef>
              </a:pPr>
              <a:r>
                <a:rPr lang="en-US" sz="5000" b="1" u="none" strike="noStrike" spc="-100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무엇을 설치?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284846"/>
              <a:ext cx="446308" cy="446308"/>
            </a:xfrm>
            <a:custGeom>
              <a:avLst/>
              <a:gdLst/>
              <a:ahLst/>
              <a:cxnLst/>
              <a:rect l="l" t="t" r="r" b="b"/>
              <a:pathLst>
                <a:path w="446308" h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2944444" y="3048665"/>
            <a:ext cx="1906863" cy="1756697"/>
          </a:xfrm>
          <a:custGeom>
            <a:avLst/>
            <a:gdLst/>
            <a:ahLst/>
            <a:cxnLst/>
            <a:rect l="l" t="t" r="r" b="b"/>
            <a:pathLst>
              <a:path w="1906863" h="1756697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176076" y="3176873"/>
            <a:ext cx="1935847" cy="1500282"/>
          </a:xfrm>
          <a:custGeom>
            <a:avLst/>
            <a:gdLst/>
            <a:ahLst/>
            <a:cxnLst/>
            <a:rect l="l" t="t" r="r" b="b"/>
            <a:pathLst>
              <a:path w="1935847" h="1500282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580283" y="3112769"/>
            <a:ext cx="1638732" cy="1628490"/>
          </a:xfrm>
          <a:custGeom>
            <a:avLst/>
            <a:gdLst/>
            <a:ahLst/>
            <a:cxnLst/>
            <a:rect l="l" t="t" r="r" b="b"/>
            <a:pathLst>
              <a:path w="1638732" h="1628490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845660" y="5336790"/>
            <a:ext cx="4104431" cy="2966079"/>
            <a:chOff x="0" y="0"/>
            <a:chExt cx="5472575" cy="3954772"/>
          </a:xfrm>
        </p:grpSpPr>
        <p:sp>
          <p:nvSpPr>
            <p:cNvPr id="22" name="TextBox 22"/>
            <p:cNvSpPr txBox="1"/>
            <p:nvPr/>
          </p:nvSpPr>
          <p:spPr>
            <a:xfrm>
              <a:off x="326998" y="2356477"/>
              <a:ext cx="4818580" cy="1598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FF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필수 설치</a:t>
              </a:r>
            </a:p>
            <a:p>
              <a:pPr marL="0" lvl="0" indent="0" algn="ctr">
                <a:lnSpc>
                  <a:spcPts val="3074"/>
                </a:lnSpc>
                <a:spcBef>
                  <a:spcPct val="0"/>
                </a:spcBef>
              </a:pPr>
              <a:r>
                <a:rPr lang="en-US" sz="2049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8차시 전 과정에서 활용 예정</a:t>
              </a:r>
            </a:p>
            <a:p>
              <a:pPr marL="0" lvl="0" indent="0" algn="ctr">
                <a:lnSpc>
                  <a:spcPts val="3074"/>
                </a:lnSpc>
                <a:spcBef>
                  <a:spcPct val="0"/>
                </a:spcBef>
              </a:pPr>
              <a:r>
                <a:rPr lang="en-US" sz="2049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Google 계정 · 무료 시작 가능!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Antigravity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2.0 + IDE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091784" y="5336790"/>
            <a:ext cx="4104431" cy="2966079"/>
            <a:chOff x="0" y="0"/>
            <a:chExt cx="5472575" cy="3954772"/>
          </a:xfrm>
        </p:grpSpPr>
        <p:sp>
          <p:nvSpPr>
            <p:cNvPr id="26" name="TextBox 26"/>
            <p:cNvSpPr txBox="1"/>
            <p:nvPr/>
          </p:nvSpPr>
          <p:spPr>
            <a:xfrm>
              <a:off x="275465" y="2356477"/>
              <a:ext cx="4921645" cy="1598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선택 설치</a:t>
              </a:r>
            </a:p>
            <a:p>
              <a:pPr marL="0" lvl="0" indent="0" algn="ctr">
                <a:lnSpc>
                  <a:spcPts val="3074"/>
                </a:lnSpc>
                <a:spcBef>
                  <a:spcPct val="0"/>
                </a:spcBef>
              </a:pPr>
              <a:r>
                <a:rPr lang="en-US" sz="2049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6차시 Skill · MCP 실습에 유용</a:t>
              </a:r>
            </a:p>
            <a:p>
              <a:pPr marL="0" lvl="0" indent="0" algn="ctr">
                <a:lnSpc>
                  <a:spcPts val="3074"/>
                </a:lnSpc>
                <a:spcBef>
                  <a:spcPct val="0"/>
                </a:spcBef>
              </a:pPr>
              <a:r>
                <a:rPr lang="en-US" sz="2049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단, Claude Pro 구독 필요!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Claude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앱 + CLI</a:t>
              </a:r>
            </a:p>
          </p:txBody>
        </p:sp>
        <p:sp>
          <p:nvSpPr>
            <p:cNvPr id="28" name="Freeform 28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347433" y="5336790"/>
            <a:ext cx="4104431" cy="2966079"/>
            <a:chOff x="0" y="0"/>
            <a:chExt cx="5472575" cy="3954772"/>
          </a:xfrm>
        </p:grpSpPr>
        <p:sp>
          <p:nvSpPr>
            <p:cNvPr id="30" name="TextBox 30"/>
            <p:cNvSpPr txBox="1"/>
            <p:nvPr/>
          </p:nvSpPr>
          <p:spPr>
            <a:xfrm>
              <a:off x="344175" y="2356477"/>
              <a:ext cx="4784225" cy="1598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선택 설치</a:t>
              </a:r>
            </a:p>
            <a:p>
              <a:pPr marL="0" lvl="0" indent="0" algn="ctr">
                <a:lnSpc>
                  <a:spcPts val="3074"/>
                </a:lnSpc>
                <a:spcBef>
                  <a:spcPct val="0"/>
                </a:spcBef>
              </a:pPr>
              <a:r>
                <a:rPr lang="en-US" sz="2049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도구 비교 실습에 활용 가능</a:t>
              </a:r>
            </a:p>
            <a:p>
              <a:pPr marL="0" lvl="0" indent="0" algn="ctr">
                <a:lnSpc>
                  <a:spcPts val="3074"/>
                </a:lnSpc>
                <a:spcBef>
                  <a:spcPct val="0"/>
                </a:spcBef>
              </a:pPr>
              <a:r>
                <a:rPr lang="en-US" sz="2049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단, ChatGPT Plus 구독 필요!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ChatGPT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앱 + Codex</a:t>
              </a:r>
            </a:p>
          </p:txBody>
        </p:sp>
        <p:sp>
          <p:nvSpPr>
            <p:cNvPr id="32" name="Freeform 32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- 26 -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계정과 요금제 준비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717296" y="3352813"/>
          <a:ext cx="14853407" cy="4974433"/>
        </p:xfrm>
        <a:graphic>
          <a:graphicData uri="http://schemas.openxmlformats.org/drawingml/2006/table">
            <a:tbl>
              <a:tblPr/>
              <a:tblGrid>
                <a:gridCol w="349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0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45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도구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요금제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필요한 계정 및 비고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70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Antigravity</a:t>
                      </a:r>
                      <a:endParaRPr lang="en-US" sz="1100"/>
                    </a:p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2.0 · IDE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무료 시작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Google 계정이 필요해요. 또한 일일 사용량 제한이 있습니다!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70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Claude</a:t>
                      </a:r>
                      <a:endParaRPr lang="en-US" sz="1100"/>
                    </a:p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앱 · CLI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Pro 이상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Anthropic 계정이 필요해요. 무료 요금제는 사용할 수 없습니다!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70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ChatGPT</a:t>
                      </a:r>
                      <a:endParaRPr lang="en-US" sz="1100"/>
                    </a:p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앱 · Codex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Plus 이상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OpenAI 계정이 필요해요. API Key 방식도 가능합니다!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1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구독이 부담되면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선택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Antigravity만 설치해도 수업에 참여할 수 있어요!!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- 27 -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7277574" cy="3960145"/>
            <a:chOff x="0" y="0"/>
            <a:chExt cx="1283210" cy="6982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t="-33143" b="-33143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02655" y="2898323"/>
            <a:ext cx="7277574" cy="3960145"/>
            <a:chOff x="0" y="0"/>
            <a:chExt cx="1283210" cy="6982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t="-18703" b="-18703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기본 도구 설치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20283" y="7854436"/>
            <a:ext cx="3528064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000"/>
              </a:lnSpc>
              <a:buAutoNum type="arabicPeriod"/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git-scm.com 접속</a:t>
            </a:r>
          </a:p>
          <a:p>
            <a:pPr marL="431801" lvl="1" indent="-215900" algn="l">
              <a:lnSpc>
                <a:spcPts val="3000"/>
              </a:lnSpc>
              <a:buAutoNum type="arabicPeriod"/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파일 실행 (기본값 유지)</a:t>
            </a:r>
          </a:p>
          <a:p>
            <a:pPr marL="431801" lvl="1" indent="-215900" algn="l">
              <a:lnSpc>
                <a:spcPts val="3000"/>
              </a:lnSpc>
              <a:buAutoNum type="arabicPeriod"/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git --version 으로 확인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05641" y="7854436"/>
            <a:ext cx="3528064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000"/>
              </a:lnSpc>
              <a:buAutoNum type="arabicPeriod"/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nodejs.org 접속</a:t>
            </a:r>
          </a:p>
          <a:p>
            <a:pPr marL="431801" lvl="1" indent="-215900" algn="l">
              <a:lnSpc>
                <a:spcPts val="3000"/>
              </a:lnSpc>
              <a:buAutoNum type="arabicPeriod"/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LTS 22 이상 버전 선택</a:t>
            </a:r>
          </a:p>
          <a:p>
            <a:pPr marL="431801" lvl="1" indent="-215900" algn="l">
              <a:lnSpc>
                <a:spcPts val="3000"/>
              </a:lnSpc>
              <a:buAutoNum type="arabicPeriod"/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node --version 으로 확인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0283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Git 설치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5641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Node.js 설치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- 28 -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67464" y="3045376"/>
            <a:ext cx="7788833" cy="5924248"/>
            <a:chOff x="0" y="0"/>
            <a:chExt cx="1134211" cy="8626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4211" cy="862690"/>
            </a:xfrm>
            <a:custGeom>
              <a:avLst/>
              <a:gdLst/>
              <a:ahLst/>
              <a:cxnLst/>
              <a:rect l="l" t="t" r="r" b="b"/>
              <a:pathLst>
                <a:path w="1134211" h="862690">
                  <a:moveTo>
                    <a:pt x="14910" y="0"/>
                  </a:moveTo>
                  <a:lnTo>
                    <a:pt x="1119302" y="0"/>
                  </a:lnTo>
                  <a:cubicBezTo>
                    <a:pt x="1123256" y="0"/>
                    <a:pt x="1127048" y="1571"/>
                    <a:pt x="1129845" y="4367"/>
                  </a:cubicBezTo>
                  <a:cubicBezTo>
                    <a:pt x="1132641" y="7163"/>
                    <a:pt x="1134211" y="10955"/>
                    <a:pt x="1134211" y="14910"/>
                  </a:cubicBezTo>
                  <a:lnTo>
                    <a:pt x="1134211" y="847781"/>
                  </a:lnTo>
                  <a:cubicBezTo>
                    <a:pt x="1134211" y="851735"/>
                    <a:pt x="1132641" y="855527"/>
                    <a:pt x="1129845" y="858323"/>
                  </a:cubicBezTo>
                  <a:cubicBezTo>
                    <a:pt x="1127048" y="861119"/>
                    <a:pt x="1123256" y="862690"/>
                    <a:pt x="1119302" y="862690"/>
                  </a:cubicBezTo>
                  <a:lnTo>
                    <a:pt x="14910" y="862690"/>
                  </a:lnTo>
                  <a:cubicBezTo>
                    <a:pt x="10955" y="862690"/>
                    <a:pt x="7163" y="861119"/>
                    <a:pt x="4367" y="858323"/>
                  </a:cubicBezTo>
                  <a:cubicBezTo>
                    <a:pt x="1571" y="855527"/>
                    <a:pt x="0" y="851735"/>
                    <a:pt x="0" y="847781"/>
                  </a:cubicBezTo>
                  <a:lnTo>
                    <a:pt x="0" y="14910"/>
                  </a:lnTo>
                  <a:cubicBezTo>
                    <a:pt x="0" y="10955"/>
                    <a:pt x="1571" y="7163"/>
                    <a:pt x="4367" y="4367"/>
                  </a:cubicBezTo>
                  <a:cubicBezTo>
                    <a:pt x="7163" y="1571"/>
                    <a:pt x="10955" y="0"/>
                    <a:pt x="14910" y="0"/>
                  </a:cubicBezTo>
                  <a:close/>
                </a:path>
              </a:pathLst>
            </a:custGeom>
            <a:blipFill>
              <a:blip r:embed="rId4"/>
              <a:stretch>
                <a:fillRect t="-14099" b="-2498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2.0 다운로드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443720" y="4988134"/>
            <a:ext cx="5423717" cy="2038731"/>
            <a:chOff x="0" y="0"/>
            <a:chExt cx="7231623" cy="2718308"/>
          </a:xfrm>
        </p:grpSpPr>
        <p:sp>
          <p:nvSpPr>
            <p:cNvPr id="20" name="TextBox 20"/>
            <p:cNvSpPr txBox="1"/>
            <p:nvPr/>
          </p:nvSpPr>
          <p:spPr>
            <a:xfrm>
              <a:off x="77592" y="914273"/>
              <a:ext cx="7076438" cy="1804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en-US" sz="1800" b="1" u="none" strike="noStrike" spc="-36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① antigravity.google/download 접속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 b="1" u="none" strike="noStrike" spc="-36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② Antigravity 2.0 항목 찾기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 b="1" u="none" strike="noStrike" spc="-36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③ 운영체제 선택 (Windows · macOS)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 b="1" u="none" strike="noStrike" spc="-36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④ 아키텍처 확인 (x64 · ARM64)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6675"/>
              <a:ext cx="7231623" cy="5713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72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다운로드 페이지 · 설치 파일 선택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- 29 -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355167" y="2898323"/>
            <a:ext cx="9670847" cy="5701057"/>
            <a:chOff x="0" y="0"/>
            <a:chExt cx="1378773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78773" cy="812800"/>
            </a:xfrm>
            <a:custGeom>
              <a:avLst/>
              <a:gdLst/>
              <a:ahLst/>
              <a:cxnLst/>
              <a:rect l="l" t="t" r="r" b="b"/>
              <a:pathLst>
                <a:path w="1378773" h="812800">
                  <a:moveTo>
                    <a:pt x="12008" y="0"/>
                  </a:moveTo>
                  <a:lnTo>
                    <a:pt x="1366765" y="0"/>
                  </a:lnTo>
                  <a:cubicBezTo>
                    <a:pt x="1369950" y="0"/>
                    <a:pt x="1373004" y="1265"/>
                    <a:pt x="1375256" y="3517"/>
                  </a:cubicBezTo>
                  <a:cubicBezTo>
                    <a:pt x="1377508" y="5769"/>
                    <a:pt x="1378773" y="8823"/>
                    <a:pt x="1378773" y="12008"/>
                  </a:cubicBezTo>
                  <a:lnTo>
                    <a:pt x="1378773" y="800792"/>
                  </a:lnTo>
                  <a:cubicBezTo>
                    <a:pt x="1378773" y="807424"/>
                    <a:pt x="1373397" y="812800"/>
                    <a:pt x="1366765" y="812800"/>
                  </a:cubicBezTo>
                  <a:lnTo>
                    <a:pt x="12008" y="812800"/>
                  </a:lnTo>
                  <a:cubicBezTo>
                    <a:pt x="5376" y="812800"/>
                    <a:pt x="0" y="807424"/>
                    <a:pt x="0" y="800792"/>
                  </a:cubicBezTo>
                  <a:lnTo>
                    <a:pt x="0" y="12008"/>
                  </a:lnTo>
                  <a:cubicBezTo>
                    <a:pt x="0" y="5376"/>
                    <a:pt x="5376" y="0"/>
                    <a:pt x="12008" y="0"/>
                  </a:cubicBezTo>
                  <a:close/>
                </a:path>
              </a:pathLst>
            </a:custGeom>
            <a:blipFill>
              <a:blip r:embed="rId4"/>
              <a:stretch>
                <a:fillRect l="-11081" r="-2820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1874339" y="6346709"/>
            <a:ext cx="4881481" cy="2252671"/>
            <a:chOff x="0" y="0"/>
            <a:chExt cx="6508642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6159875" cy="3003561"/>
              <a:chOff x="0" y="0"/>
              <a:chExt cx="1216765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16765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216765" h="593296">
                    <a:moveTo>
                      <a:pt x="25137" y="0"/>
                    </a:moveTo>
                    <a:lnTo>
                      <a:pt x="1191629" y="0"/>
                    </a:lnTo>
                    <a:cubicBezTo>
                      <a:pt x="1205511" y="0"/>
                      <a:pt x="1216765" y="11254"/>
                      <a:pt x="1216765" y="25137"/>
                    </a:cubicBezTo>
                    <a:lnTo>
                      <a:pt x="1216765" y="568159"/>
                    </a:lnTo>
                    <a:cubicBezTo>
                      <a:pt x="1216765" y="582042"/>
                      <a:pt x="1205511" y="593296"/>
                      <a:pt x="1191629" y="593296"/>
                    </a:cubicBezTo>
                    <a:lnTo>
                      <a:pt x="25137" y="593296"/>
                    </a:lnTo>
                    <a:cubicBezTo>
                      <a:pt x="11254" y="593296"/>
                      <a:pt x="0" y="582042"/>
                      <a:pt x="0" y="568159"/>
                    </a:cubicBezTo>
                    <a:lnTo>
                      <a:pt x="0" y="25137"/>
                    </a:lnTo>
                    <a:cubicBezTo>
                      <a:pt x="0" y="11254"/>
                      <a:pt x="11254" y="0"/>
                      <a:pt x="25137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19050"/>
                <a:ext cx="1216765" cy="574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54635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흰색 배경 로고가 Antigravity 2.0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54635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관리자 권한은 필요하지 않음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54635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설치 후 바탕화면 아이콘 확인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74339" y="2898323"/>
            <a:ext cx="3903318" cy="555498"/>
            <a:chOff x="0" y="0"/>
            <a:chExt cx="5204424" cy="74066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4704085" cy="664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설치 진행하기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파일 실행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74339" y="3604117"/>
            <a:ext cx="5384961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내려받은 설치 파일을 더블클릭합니다.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설치 경로는 기본값을 그대로 둡니다.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설치가 끝나면 앱을 실행합니다.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AutoShape 34"/>
          <p:cNvSpPr/>
          <p:nvPr/>
        </p:nvSpPr>
        <p:spPr>
          <a:xfrm flipV="1">
            <a:off x="1028700" y="4082076"/>
            <a:ext cx="612832" cy="0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5" name="AutoShape 35"/>
          <p:cNvSpPr/>
          <p:nvPr/>
        </p:nvSpPr>
        <p:spPr>
          <a:xfrm>
            <a:off x="2281993" y="4101126"/>
            <a:ext cx="395755" cy="228796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6" name="AutoShape 36"/>
          <p:cNvSpPr/>
          <p:nvPr/>
        </p:nvSpPr>
        <p:spPr>
          <a:xfrm flipV="1">
            <a:off x="3507258" y="3964729"/>
            <a:ext cx="1447840" cy="3508315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7" name="AutoShape 37"/>
          <p:cNvSpPr/>
          <p:nvPr/>
        </p:nvSpPr>
        <p:spPr>
          <a:xfrm flipV="1">
            <a:off x="5448134" y="5186028"/>
            <a:ext cx="1388109" cy="872097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8" name="AutoShape 38"/>
          <p:cNvSpPr/>
          <p:nvPr/>
        </p:nvSpPr>
        <p:spPr>
          <a:xfrm flipV="1">
            <a:off x="7372401" y="4220741"/>
            <a:ext cx="659499" cy="4001476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9" name="TextBox 3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- 30 -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1999002"/>
            <a:ext cx="7277574" cy="4940289"/>
            <a:chOff x="0" y="0"/>
            <a:chExt cx="1283210" cy="8710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3210" cy="871091"/>
            </a:xfrm>
            <a:custGeom>
              <a:avLst/>
              <a:gdLst/>
              <a:ahLst/>
              <a:cxnLst/>
              <a:rect l="l" t="t" r="r" b="b"/>
              <a:pathLst>
                <a:path w="1283210" h="871091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855134"/>
                  </a:lnTo>
                  <a:cubicBezTo>
                    <a:pt x="1283210" y="859366"/>
                    <a:pt x="1281529" y="863425"/>
                    <a:pt x="1278536" y="866417"/>
                  </a:cubicBezTo>
                  <a:cubicBezTo>
                    <a:pt x="1275544" y="869410"/>
                    <a:pt x="1271485" y="871091"/>
                    <a:pt x="1267253" y="871091"/>
                  </a:cubicBezTo>
                  <a:lnTo>
                    <a:pt x="15957" y="871091"/>
                  </a:lnTo>
                  <a:cubicBezTo>
                    <a:pt x="7144" y="871091"/>
                    <a:pt x="0" y="863947"/>
                    <a:pt x="0" y="855134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t="-35736" b="-35736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8" name="Freeform 18"/>
          <p:cNvSpPr/>
          <p:nvPr/>
        </p:nvSpPr>
        <p:spPr>
          <a:xfrm>
            <a:off x="8994870" y="1999002"/>
            <a:ext cx="3307543" cy="2565918"/>
          </a:xfrm>
          <a:custGeom>
            <a:avLst/>
            <a:gdLst/>
            <a:ahLst/>
            <a:cxnLst/>
            <a:rect l="l" t="t" r="r" b="b"/>
            <a:pathLst>
              <a:path w="3307543" h="2565918">
                <a:moveTo>
                  <a:pt x="0" y="0"/>
                </a:moveTo>
                <a:lnTo>
                  <a:pt x="3307544" y="0"/>
                </a:lnTo>
                <a:lnTo>
                  <a:pt x="3307544" y="2565917"/>
                </a:lnTo>
                <a:lnTo>
                  <a:pt x="0" y="2565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800860" y="3093462"/>
            <a:ext cx="2966784" cy="2319956"/>
          </a:xfrm>
          <a:custGeom>
            <a:avLst/>
            <a:gdLst/>
            <a:ahLst/>
            <a:cxnLst/>
            <a:rect l="l" t="t" r="r" b="b"/>
            <a:pathLst>
              <a:path w="2966784" h="2319956">
                <a:moveTo>
                  <a:pt x="0" y="0"/>
                </a:moveTo>
                <a:lnTo>
                  <a:pt x="2966783" y="0"/>
                </a:lnTo>
                <a:lnTo>
                  <a:pt x="2966783" y="2319956"/>
                </a:lnTo>
                <a:lnTo>
                  <a:pt x="0" y="231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478921" y="1999002"/>
            <a:ext cx="3310686" cy="2565918"/>
          </a:xfrm>
          <a:custGeom>
            <a:avLst/>
            <a:gdLst/>
            <a:ahLst/>
            <a:cxnLst/>
            <a:rect l="l" t="t" r="r" b="b"/>
            <a:pathLst>
              <a:path w="3310686" h="2565918">
                <a:moveTo>
                  <a:pt x="0" y="0"/>
                </a:moveTo>
                <a:lnTo>
                  <a:pt x="3310686" y="0"/>
                </a:lnTo>
                <a:lnTo>
                  <a:pt x="3310686" y="2565917"/>
                </a:lnTo>
                <a:lnTo>
                  <a:pt x="0" y="2565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994870" y="5305899"/>
            <a:ext cx="3393091" cy="2624738"/>
          </a:xfrm>
          <a:custGeom>
            <a:avLst/>
            <a:gdLst/>
            <a:ahLst/>
            <a:cxnLst/>
            <a:rect l="l" t="t" r="r" b="b"/>
            <a:pathLst>
              <a:path w="3393091" h="2624738">
                <a:moveTo>
                  <a:pt x="0" y="0"/>
                </a:moveTo>
                <a:lnTo>
                  <a:pt x="3393091" y="0"/>
                </a:lnTo>
                <a:lnTo>
                  <a:pt x="3393091" y="2624737"/>
                </a:lnTo>
                <a:lnTo>
                  <a:pt x="0" y="26247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719577" y="6939291"/>
            <a:ext cx="3336768" cy="2591611"/>
          </a:xfrm>
          <a:custGeom>
            <a:avLst/>
            <a:gdLst/>
            <a:ahLst/>
            <a:cxnLst/>
            <a:rect l="l" t="t" r="r" b="b"/>
            <a:pathLst>
              <a:path w="3336768" h="2591611">
                <a:moveTo>
                  <a:pt x="0" y="0"/>
                </a:moveTo>
                <a:lnTo>
                  <a:pt x="3336768" y="0"/>
                </a:lnTo>
                <a:lnTo>
                  <a:pt x="3336768" y="2591611"/>
                </a:lnTo>
                <a:lnTo>
                  <a:pt x="0" y="2591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452529" y="5305899"/>
            <a:ext cx="3363470" cy="2624738"/>
          </a:xfrm>
          <a:custGeom>
            <a:avLst/>
            <a:gdLst/>
            <a:ahLst/>
            <a:cxnLst/>
            <a:rect l="l" t="t" r="r" b="b"/>
            <a:pathLst>
              <a:path w="3363470" h="2624738">
                <a:moveTo>
                  <a:pt x="0" y="0"/>
                </a:moveTo>
                <a:lnTo>
                  <a:pt x="3363470" y="0"/>
                </a:lnTo>
                <a:lnTo>
                  <a:pt x="3363470" y="2624737"/>
                </a:lnTo>
                <a:lnTo>
                  <a:pt x="0" y="2624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019354" y="7854436"/>
            <a:ext cx="6673459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같은 다운로드 페이지 접속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Antigravity IDE 항목 선택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설치 파일 실행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20283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다운로드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47137" y="2115545"/>
            <a:ext cx="2747733" cy="6694103"/>
          </a:xfrm>
          <a:custGeom>
            <a:avLst/>
            <a:gdLst/>
            <a:ahLst/>
            <a:cxnLst/>
            <a:rect l="l" t="t" r="r" b="b"/>
            <a:pathLst>
              <a:path w="2747733" h="6694103">
                <a:moveTo>
                  <a:pt x="0" y="6694103"/>
                </a:moveTo>
                <a:lnTo>
                  <a:pt x="1600910" y="6694103"/>
                </a:lnTo>
                <a:cubicBezTo>
                  <a:pt x="1727162" y="6694103"/>
                  <a:pt x="1829510" y="6591755"/>
                  <a:pt x="1829510" y="6465503"/>
                </a:cubicBezTo>
                <a:lnTo>
                  <a:pt x="1829510" y="228600"/>
                </a:lnTo>
                <a:cubicBezTo>
                  <a:pt x="1829510" y="102347"/>
                  <a:pt x="1931858" y="0"/>
                  <a:pt x="2058110" y="0"/>
                </a:cubicBezTo>
                <a:lnTo>
                  <a:pt x="2747733" y="0"/>
                </a:lnTo>
              </a:path>
            </a:pathLst>
          </a:cu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7" name="AutoShape 27"/>
          <p:cNvSpPr/>
          <p:nvPr/>
        </p:nvSpPr>
        <p:spPr>
          <a:xfrm>
            <a:off x="9995320" y="2115545"/>
            <a:ext cx="846959" cy="999832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8" name="AutoShape 28"/>
          <p:cNvSpPr/>
          <p:nvPr/>
        </p:nvSpPr>
        <p:spPr>
          <a:xfrm flipV="1">
            <a:off x="11708415" y="2115545"/>
            <a:ext cx="1796424" cy="1087784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9" name="AutoShape 29"/>
          <p:cNvSpPr/>
          <p:nvPr/>
        </p:nvSpPr>
        <p:spPr>
          <a:xfrm flipH="1">
            <a:off x="10066595" y="4469146"/>
            <a:ext cx="5943090" cy="944271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AutoShape 30"/>
          <p:cNvSpPr/>
          <p:nvPr/>
        </p:nvSpPr>
        <p:spPr>
          <a:xfrm>
            <a:off x="10066595" y="5413418"/>
            <a:ext cx="734264" cy="1602475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1" name="AutoShape 31"/>
          <p:cNvSpPr/>
          <p:nvPr/>
        </p:nvSpPr>
        <p:spPr>
          <a:xfrm flipV="1">
            <a:off x="13300844" y="5481409"/>
            <a:ext cx="696845" cy="3881199"/>
          </a:xfrm>
          <a:prstGeom prst="line">
            <a:avLst/>
          </a:prstGeom>
          <a:ln w="38100" cap="flat">
            <a:solidFill>
              <a:srgbClr val="FF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2" name="TextBox 32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 설치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- 31 -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7277574" cy="3960145"/>
            <a:chOff x="0" y="0"/>
            <a:chExt cx="1283210" cy="6982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t="-11333" b="-11333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02655" y="2174697"/>
            <a:ext cx="7277574" cy="4683771"/>
            <a:chOff x="0" y="0"/>
            <a:chExt cx="1283210" cy="8258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3210" cy="825861"/>
            </a:xfrm>
            <a:custGeom>
              <a:avLst/>
              <a:gdLst/>
              <a:ahLst/>
              <a:cxnLst/>
              <a:rect l="l" t="t" r="r" b="b"/>
              <a:pathLst>
                <a:path w="1283210" h="825861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809904"/>
                  </a:lnTo>
                  <a:cubicBezTo>
                    <a:pt x="1283210" y="814136"/>
                    <a:pt x="1281529" y="818194"/>
                    <a:pt x="1278536" y="821187"/>
                  </a:cubicBezTo>
                  <a:cubicBezTo>
                    <a:pt x="1275544" y="824179"/>
                    <a:pt x="1271485" y="825861"/>
                    <a:pt x="1267253" y="825861"/>
                  </a:cubicBezTo>
                  <a:lnTo>
                    <a:pt x="15957" y="825861"/>
                  </a:lnTo>
                  <a:cubicBezTo>
                    <a:pt x="7144" y="825861"/>
                    <a:pt x="0" y="818716"/>
                    <a:pt x="0" y="809904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-4772" r="-1622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Google 계정 로그인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19354" y="8044936"/>
            <a:ext cx="6673459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Sign in with Google 클릭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4712" y="7854436"/>
            <a:ext cx="66734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브라우저에서 Gmail 계정 선택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인증 후 앱으로 자동 복귀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0283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로그인 시작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5641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계정 선택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- 32 -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l="-2012" r="-201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Cursor 설정도 같은 방식으로 이전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실패하면 설정 화면에서 재시도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VS Code를 안 썼다면 건너뛰기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3903318" cy="555498"/>
            <a:chOff x="0" y="0"/>
            <a:chExt cx="5204424" cy="74066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4704085" cy="664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설정 이전하기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VS Code 설정 가져오기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설정 마법사에서 Import from VS Code를 선택합니다.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settings.json · 확장 · 단축키를 함께 가져옵니다.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새로 시작하려면 Start fresh를 선택합니다.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- 33 -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55167" y="1983244"/>
            <a:ext cx="5307184" cy="3496926"/>
          </a:xfrm>
          <a:custGeom>
            <a:avLst/>
            <a:gdLst/>
            <a:ahLst/>
            <a:cxnLst/>
            <a:rect l="l" t="t" r="r" b="b"/>
            <a:pathLst>
              <a:path w="5307184" h="3496926">
                <a:moveTo>
                  <a:pt x="0" y="0"/>
                </a:moveTo>
                <a:lnTo>
                  <a:pt x="5307184" y="0"/>
                </a:lnTo>
                <a:lnTo>
                  <a:pt x="5307184" y="3496926"/>
                </a:lnTo>
                <a:lnTo>
                  <a:pt x="0" y="3496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994602" y="1983244"/>
            <a:ext cx="4423807" cy="3762933"/>
          </a:xfrm>
          <a:custGeom>
            <a:avLst/>
            <a:gdLst/>
            <a:ahLst/>
            <a:cxnLst/>
            <a:rect l="l" t="t" r="r" b="b"/>
            <a:pathLst>
              <a:path w="4423807" h="3762933">
                <a:moveTo>
                  <a:pt x="0" y="0"/>
                </a:moveTo>
                <a:lnTo>
                  <a:pt x="4423806" y="0"/>
                </a:lnTo>
                <a:lnTo>
                  <a:pt x="4423806" y="3762933"/>
                </a:lnTo>
                <a:lnTo>
                  <a:pt x="0" y="3762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750659" y="1983244"/>
            <a:ext cx="4611787" cy="3496926"/>
          </a:xfrm>
          <a:custGeom>
            <a:avLst/>
            <a:gdLst/>
            <a:ahLst/>
            <a:cxnLst/>
            <a:rect l="l" t="t" r="r" b="b"/>
            <a:pathLst>
              <a:path w="4611787" h="3496926">
                <a:moveTo>
                  <a:pt x="0" y="0"/>
                </a:moveTo>
                <a:lnTo>
                  <a:pt x="4611787" y="0"/>
                </a:lnTo>
                <a:lnTo>
                  <a:pt x="4611787" y="3496926"/>
                </a:lnTo>
                <a:lnTo>
                  <a:pt x="0" y="3496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331355" y="5143500"/>
            <a:ext cx="3354807" cy="4098760"/>
          </a:xfrm>
          <a:custGeom>
            <a:avLst/>
            <a:gdLst/>
            <a:ahLst/>
            <a:cxnLst/>
            <a:rect l="l" t="t" r="r" b="b"/>
            <a:pathLst>
              <a:path w="3354807" h="4098760">
                <a:moveTo>
                  <a:pt x="0" y="0"/>
                </a:moveTo>
                <a:lnTo>
                  <a:pt x="3354808" y="0"/>
                </a:lnTo>
                <a:lnTo>
                  <a:pt x="3354808" y="4098760"/>
                </a:lnTo>
                <a:lnTo>
                  <a:pt x="0" y="40987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865587" y="5480170"/>
            <a:ext cx="4681836" cy="3933708"/>
          </a:xfrm>
          <a:custGeom>
            <a:avLst/>
            <a:gdLst/>
            <a:ahLst/>
            <a:cxnLst/>
            <a:rect l="l" t="t" r="r" b="b"/>
            <a:pathLst>
              <a:path w="4681836" h="3933708">
                <a:moveTo>
                  <a:pt x="0" y="0"/>
                </a:moveTo>
                <a:lnTo>
                  <a:pt x="4681836" y="0"/>
                </a:lnTo>
                <a:lnTo>
                  <a:pt x="4681836" y="3933707"/>
                </a:lnTo>
                <a:lnTo>
                  <a:pt x="0" y="39337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672299" y="5855534"/>
            <a:ext cx="4768507" cy="3182979"/>
          </a:xfrm>
          <a:custGeom>
            <a:avLst/>
            <a:gdLst/>
            <a:ahLst/>
            <a:cxnLst/>
            <a:rect l="l" t="t" r="r" b="b"/>
            <a:pathLst>
              <a:path w="4768507" h="3182979">
                <a:moveTo>
                  <a:pt x="0" y="0"/>
                </a:moveTo>
                <a:lnTo>
                  <a:pt x="4768507" y="0"/>
                </a:lnTo>
                <a:lnTo>
                  <a:pt x="4768507" y="3182979"/>
                </a:lnTo>
                <a:lnTo>
                  <a:pt x="0" y="31829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17783" y="1620593"/>
            <a:ext cx="474768" cy="741825"/>
          </a:xfrm>
          <a:custGeom>
            <a:avLst/>
            <a:gdLst/>
            <a:ahLst/>
            <a:cxnLst/>
            <a:rect l="l" t="t" r="r" b="b"/>
            <a:pathLst>
              <a:path w="474768" h="741825">
                <a:moveTo>
                  <a:pt x="0" y="0"/>
                </a:moveTo>
                <a:lnTo>
                  <a:pt x="474768" y="0"/>
                </a:lnTo>
                <a:lnTo>
                  <a:pt x="474768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696783" y="1620593"/>
            <a:ext cx="567496" cy="741825"/>
          </a:xfrm>
          <a:custGeom>
            <a:avLst/>
            <a:gdLst/>
            <a:ahLst/>
            <a:cxnLst/>
            <a:rect l="l" t="t" r="r" b="b"/>
            <a:pathLst>
              <a:path w="567496" h="741825">
                <a:moveTo>
                  <a:pt x="0" y="0"/>
                </a:moveTo>
                <a:lnTo>
                  <a:pt x="567496" y="0"/>
                </a:lnTo>
                <a:lnTo>
                  <a:pt x="567496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547423" y="1620593"/>
            <a:ext cx="515568" cy="741825"/>
          </a:xfrm>
          <a:custGeom>
            <a:avLst/>
            <a:gdLst/>
            <a:ahLst/>
            <a:cxnLst/>
            <a:rect l="l" t="t" r="r" b="b"/>
            <a:pathLst>
              <a:path w="515568" h="741825">
                <a:moveTo>
                  <a:pt x="0" y="0"/>
                </a:moveTo>
                <a:lnTo>
                  <a:pt x="515568" y="0"/>
                </a:lnTo>
                <a:lnTo>
                  <a:pt x="515568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064343" y="4748656"/>
            <a:ext cx="534026" cy="712034"/>
          </a:xfrm>
          <a:custGeom>
            <a:avLst/>
            <a:gdLst/>
            <a:ahLst/>
            <a:cxnLst/>
            <a:rect l="l" t="t" r="r" b="b"/>
            <a:pathLst>
              <a:path w="534026" h="712034">
                <a:moveTo>
                  <a:pt x="0" y="0"/>
                </a:moveTo>
                <a:lnTo>
                  <a:pt x="534025" y="0"/>
                </a:lnTo>
                <a:lnTo>
                  <a:pt x="534025" y="712034"/>
                </a:lnTo>
                <a:lnTo>
                  <a:pt x="0" y="7120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607803" y="5143500"/>
            <a:ext cx="515568" cy="741825"/>
          </a:xfrm>
          <a:custGeom>
            <a:avLst/>
            <a:gdLst/>
            <a:ahLst/>
            <a:cxnLst/>
            <a:rect l="l" t="t" r="r" b="b"/>
            <a:pathLst>
              <a:path w="515568" h="741825">
                <a:moveTo>
                  <a:pt x="0" y="0"/>
                </a:moveTo>
                <a:lnTo>
                  <a:pt x="515568" y="0"/>
                </a:lnTo>
                <a:lnTo>
                  <a:pt x="515568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498438" y="5514412"/>
            <a:ext cx="504441" cy="741825"/>
          </a:xfrm>
          <a:custGeom>
            <a:avLst/>
            <a:gdLst/>
            <a:ahLst/>
            <a:cxnLst/>
            <a:rect l="l" t="t" r="r" b="b"/>
            <a:pathLst>
              <a:path w="504441" h="741825">
                <a:moveTo>
                  <a:pt x="0" y="0"/>
                </a:moveTo>
                <a:lnTo>
                  <a:pt x="504441" y="0"/>
                </a:lnTo>
                <a:lnTo>
                  <a:pt x="504441" y="741825"/>
                </a:lnTo>
                <a:lnTo>
                  <a:pt x="0" y="741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 IDE 셋팅 마무리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82000" y="9375610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- 34 -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선택 도구 안내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090908" y="7082717"/>
            <a:ext cx="3613935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FF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Antigravity</a:t>
            </a:r>
            <a:r>
              <a:rPr lang="en-US" sz="2400" b="1" u="none" strike="noStrike" spc="-48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만 설치해도</a:t>
            </a:r>
          </a:p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8차시 수업</a:t>
            </a:r>
            <a:r>
              <a:rPr lang="en-US" sz="2400" b="1" u="none" strike="noStrike" spc="-48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을 들을 수 있어요!!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91784" y="7082717"/>
            <a:ext cx="4104431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Claude Pro 또는 ChatGPT Plus가</a:t>
            </a:r>
          </a:p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있어야 CLI에 로그인 가능!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05565" y="7311317"/>
            <a:ext cx="3588168" cy="45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도구별 결과 비교에 활용 가능!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45660" y="5336790"/>
            <a:ext cx="4104431" cy="96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필수</a:t>
            </a:r>
          </a:p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아닙니다!!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91784" y="5336790"/>
            <a:ext cx="4104431" cy="96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유료 구독</a:t>
            </a:r>
          </a:p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필요해요!!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47433" y="5574915"/>
            <a:ext cx="4104431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언제 쓰나요?</a:t>
            </a:r>
          </a:p>
        </p:txBody>
      </p:sp>
      <p:sp>
        <p:nvSpPr>
          <p:cNvPr id="23" name="Freeform 23"/>
          <p:cNvSpPr/>
          <p:nvPr/>
        </p:nvSpPr>
        <p:spPr>
          <a:xfrm>
            <a:off x="2944444" y="3048665"/>
            <a:ext cx="1906863" cy="1756697"/>
          </a:xfrm>
          <a:custGeom>
            <a:avLst/>
            <a:gdLst/>
            <a:ahLst/>
            <a:cxnLst/>
            <a:rect l="l" t="t" r="r" b="b"/>
            <a:pathLst>
              <a:path w="1906863" h="1756697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176076" y="3176873"/>
            <a:ext cx="1935847" cy="1500282"/>
          </a:xfrm>
          <a:custGeom>
            <a:avLst/>
            <a:gdLst/>
            <a:ahLst/>
            <a:cxnLst/>
            <a:rect l="l" t="t" r="r" b="b"/>
            <a:pathLst>
              <a:path w="1935847" h="1500282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3580283" y="3112769"/>
            <a:ext cx="1638732" cy="1628490"/>
          </a:xfrm>
          <a:custGeom>
            <a:avLst/>
            <a:gdLst/>
            <a:ahLst/>
            <a:cxnLst/>
            <a:rect l="l" t="t" r="r" b="b"/>
            <a:pathLst>
              <a:path w="1638732" h="1628490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5400000">
            <a:off x="3810206" y="6690275"/>
            <a:ext cx="175340" cy="171395"/>
          </a:xfrm>
          <a:custGeom>
            <a:avLst/>
            <a:gdLst/>
            <a:ahLst/>
            <a:cxnLst/>
            <a:rect l="l" t="t" r="r" b="b"/>
            <a:pathLst>
              <a:path w="175340" h="171395">
                <a:moveTo>
                  <a:pt x="0" y="0"/>
                </a:moveTo>
                <a:lnTo>
                  <a:pt x="175340" y="0"/>
                </a:lnTo>
                <a:lnTo>
                  <a:pt x="175340" y="171394"/>
                </a:lnTo>
                <a:lnTo>
                  <a:pt x="0" y="1713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5400000">
            <a:off x="9056330" y="6690275"/>
            <a:ext cx="175340" cy="171395"/>
          </a:xfrm>
          <a:custGeom>
            <a:avLst/>
            <a:gdLst/>
            <a:ahLst/>
            <a:cxnLst/>
            <a:rect l="l" t="t" r="r" b="b"/>
            <a:pathLst>
              <a:path w="175340" h="171395">
                <a:moveTo>
                  <a:pt x="0" y="0"/>
                </a:moveTo>
                <a:lnTo>
                  <a:pt x="175340" y="0"/>
                </a:lnTo>
                <a:lnTo>
                  <a:pt x="175340" y="171394"/>
                </a:lnTo>
                <a:lnTo>
                  <a:pt x="0" y="1713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5400000">
            <a:off x="14226282" y="6690275"/>
            <a:ext cx="175340" cy="171395"/>
          </a:xfrm>
          <a:custGeom>
            <a:avLst/>
            <a:gdLst/>
            <a:ahLst/>
            <a:cxnLst/>
            <a:rect l="l" t="t" r="r" b="b"/>
            <a:pathLst>
              <a:path w="175340" h="171395">
                <a:moveTo>
                  <a:pt x="0" y="0"/>
                </a:moveTo>
                <a:lnTo>
                  <a:pt x="175340" y="0"/>
                </a:lnTo>
                <a:lnTo>
                  <a:pt x="175340" y="171394"/>
                </a:lnTo>
                <a:lnTo>
                  <a:pt x="0" y="1713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- 35 -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196625"/>
            <a:ext cx="7277574" cy="5384530"/>
            <a:chOff x="0" y="0"/>
            <a:chExt cx="1283210" cy="94942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3210" cy="949421"/>
            </a:xfrm>
            <a:custGeom>
              <a:avLst/>
              <a:gdLst/>
              <a:ahLst/>
              <a:cxnLst/>
              <a:rect l="l" t="t" r="r" b="b"/>
              <a:pathLst>
                <a:path w="1283210" h="949421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933464"/>
                  </a:lnTo>
                  <a:cubicBezTo>
                    <a:pt x="1283210" y="937696"/>
                    <a:pt x="1281529" y="941755"/>
                    <a:pt x="1278536" y="944747"/>
                  </a:cubicBezTo>
                  <a:cubicBezTo>
                    <a:pt x="1275544" y="947740"/>
                    <a:pt x="1271485" y="949421"/>
                    <a:pt x="1267253" y="949421"/>
                  </a:cubicBezTo>
                  <a:lnTo>
                    <a:pt x="15957" y="949421"/>
                  </a:lnTo>
                  <a:cubicBezTo>
                    <a:pt x="7144" y="949421"/>
                    <a:pt x="0" y="942277"/>
                    <a:pt x="0" y="933464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l="-2449" t="-23122" r="-530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02655" y="2898323"/>
            <a:ext cx="7277574" cy="3960145"/>
            <a:chOff x="0" y="0"/>
            <a:chExt cx="1283210" cy="6982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-7074" r="-7074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Claude 앱 설치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19354" y="8496300"/>
            <a:ext cx="66734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claude.ai/download 접속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운영체제 선택 후 설치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4712" y="7854436"/>
            <a:ext cx="66734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앱 실행 후 Anthropic 계정 로그인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무료 계정은 CLI 사용 불가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0283" y="7905005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다운로드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5641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로그인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- 36 -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7277574" cy="3960145"/>
            <a:chOff x="0" y="0"/>
            <a:chExt cx="1283210" cy="6982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t="-1710" b="-171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02655" y="2898323"/>
            <a:ext cx="7277574" cy="3960145"/>
            <a:chOff x="0" y="0"/>
            <a:chExt cx="1283210" cy="6982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-21721" r="-22021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Claude Code CLI 설치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19354" y="7854436"/>
            <a:ext cx="6673459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터미널 열기 - </a:t>
            </a: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Windows (PowerShell)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10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명령어 입력 : irm https://claude.ai/install.ps1 | iex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참고 : </a:t>
            </a:r>
            <a:r>
              <a:rPr lang="en-US" sz="2000" b="1" u="sng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  <a:hlinkClick r:id="rId6" tooltip="https://code.claude.com/docs/ko/quickstart"/>
              </a:rPr>
              <a:t>https://code.claude.com/docs/ko/quickstart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4712" y="7854436"/>
            <a:ext cx="66734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명령창에 claude 입력 후, 브라우저 로그인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claude doctor 로 상태 점검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0283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명령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5641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실행 · 확인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- 37 -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309864"/>
            <a:ext cx="7277574" cy="5271291"/>
            <a:chOff x="0" y="0"/>
            <a:chExt cx="1283210" cy="92945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3210" cy="929455"/>
            </a:xfrm>
            <a:custGeom>
              <a:avLst/>
              <a:gdLst/>
              <a:ahLst/>
              <a:cxnLst/>
              <a:rect l="l" t="t" r="r" b="b"/>
              <a:pathLst>
                <a:path w="1283210" h="929455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913497"/>
                  </a:lnTo>
                  <a:cubicBezTo>
                    <a:pt x="1283210" y="917730"/>
                    <a:pt x="1281529" y="921788"/>
                    <a:pt x="1278536" y="924781"/>
                  </a:cubicBezTo>
                  <a:cubicBezTo>
                    <a:pt x="1275544" y="927773"/>
                    <a:pt x="1271485" y="929455"/>
                    <a:pt x="1267253" y="929455"/>
                  </a:cubicBezTo>
                  <a:lnTo>
                    <a:pt x="15957" y="929455"/>
                  </a:lnTo>
                  <a:cubicBezTo>
                    <a:pt x="7144" y="929455"/>
                    <a:pt x="0" y="922310"/>
                    <a:pt x="0" y="913497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b="-1961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02655" y="2898323"/>
            <a:ext cx="7277574" cy="3960145"/>
            <a:chOff x="0" y="0"/>
            <a:chExt cx="1283210" cy="6982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l="-3435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ChatGPT 앱 설치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19354" y="8496300"/>
            <a:ext cx="66734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chatgpt.com/download 접속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운영체제 선택 후 설치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4712" y="7854436"/>
            <a:ext cx="66734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앱 실행 후 ChatGPT 계정 로그인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Plus 구독 상태 확인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0283" y="7905005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다운로드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5641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로그인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- 38 -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7277574" cy="3960145"/>
            <a:chOff x="0" y="0"/>
            <a:chExt cx="1283210" cy="6982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t="-1824" b="-182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02655" y="2898323"/>
            <a:ext cx="7277574" cy="3960145"/>
            <a:chOff x="0" y="0"/>
            <a:chExt cx="1283210" cy="6982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t="-338" b="-338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Codex CLI 설치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19354" y="7854436"/>
            <a:ext cx="66734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npm install -g @openai/codex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패키지명 주의: codex는 다른 프로젝트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4712" y="7854436"/>
            <a:ext cx="667345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codex 입력 → Sign in with ChatGPT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333333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codex --version 으로 확인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0283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명령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5641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실행 · 확인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- 39 -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 완료 체크리스트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3182207" y="3790471"/>
          <a:ext cx="11923585" cy="3917156"/>
        </p:xfrm>
        <a:graphic>
          <a:graphicData uri="http://schemas.openxmlformats.org/drawingml/2006/table">
            <a:tbl>
              <a:tblPr/>
              <a:tblGrid>
                <a:gridCol w="3495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9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확인 항목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확인 방법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Git · Node.js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☐  git --version · node --version 을 실행해 버전이 나오는지 확인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Antigravity 2.0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☐  프로젝트를 열고 채팅창에서 답변이 나오는지 확인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Antigravity 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필수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☐  검은색 격자 아이콘 앱을 실행해 프로젝트 폴더를 열기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Claude · Codex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선택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☐  claude doctor · codex --version 으로 설치 상태 점검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- 40 -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자주 겪는 문제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>
            <a:off x="6024486" y="2898323"/>
            <a:ext cx="0" cy="1053640"/>
          </a:xfrm>
          <a:prstGeom prst="line">
            <a:avLst/>
          </a:prstGeom>
          <a:ln w="9525" cap="flat">
            <a:solidFill>
              <a:srgbClr val="5053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3048547" y="3118668"/>
            <a:ext cx="263252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대부분의 원인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83625" y="3078692"/>
            <a:ext cx="840475" cy="714403"/>
          </a:xfrm>
          <a:custGeom>
            <a:avLst/>
            <a:gdLst/>
            <a:ahLst/>
            <a:cxnLst/>
            <a:rect l="l" t="t" r="r" b="b"/>
            <a:pathLst>
              <a:path w="840475" h="714403">
                <a:moveTo>
                  <a:pt x="0" y="0"/>
                </a:moveTo>
                <a:lnTo>
                  <a:pt x="840474" y="0"/>
                </a:lnTo>
                <a:lnTo>
                  <a:pt x="840474" y="714404"/>
                </a:lnTo>
                <a:lnTo>
                  <a:pt x="0" y="714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06746" y="2933210"/>
            <a:ext cx="9816540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설치는 끝났지만 터미널이 실행 파일의 위치를 아직 모르거나, 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다른 셸에서 명령을 실행한 경우에요. 아래 세 가지만 확인하면 대부분 해결됩니다!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05928" y="4639191"/>
            <a:ext cx="4832311" cy="3960188"/>
            <a:chOff x="0" y="0"/>
            <a:chExt cx="1272707" cy="10430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26923" y="4639191"/>
            <a:ext cx="4832311" cy="3960188"/>
            <a:chOff x="0" y="0"/>
            <a:chExt cx="1272707" cy="10430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747917" y="4639191"/>
            <a:ext cx="4832311" cy="3960188"/>
            <a:chOff x="0" y="0"/>
            <a:chExt cx="1272707" cy="10430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212939" y="6825195"/>
            <a:ext cx="381154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터미널을 모두 닫고 새로 엽니다.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그래도 안 되면 재부팅합니다.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3350" y="6825195"/>
            <a:ext cx="381945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PS 로 시작하면 </a:t>
            </a:r>
            <a:r>
              <a:rPr lang="en-US" sz="2000" b="1" u="none" strike="noStrike" spc="-40">
                <a:solidFill>
                  <a:srgbClr val="000000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PowerShell</a:t>
            </a: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입니다.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Windows 키 + S</a:t>
            </a: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로 실행합니다.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50849" y="6825195"/>
            <a:ext cx="376792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000000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흰색 로고</a:t>
            </a: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는 2.0, </a:t>
            </a:r>
            <a:r>
              <a:rPr lang="en-US" sz="2000" b="1" u="none" strike="noStrike" spc="-40">
                <a:solidFill>
                  <a:srgbClr val="000000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검은색</a:t>
            </a: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은 IDE입니다.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코드를 보려면 IDE를 실행합니다.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5302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command not found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9668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명령어 인식 불가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864034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두 앱 혼동</a:t>
            </a:r>
          </a:p>
        </p:txBody>
      </p:sp>
      <p:sp>
        <p:nvSpPr>
          <p:cNvPr id="36" name="AutoShape 36"/>
          <p:cNvSpPr/>
          <p:nvPr/>
        </p:nvSpPr>
        <p:spPr>
          <a:xfrm>
            <a:off x="2037627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7061993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12086359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TextBox 39"/>
          <p:cNvSpPr txBox="1"/>
          <p:nvPr/>
        </p:nvSpPr>
        <p:spPr>
          <a:xfrm>
            <a:off x="2893526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문제 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534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문제 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39267" y="5218788"/>
            <a:ext cx="2483896" cy="18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문제 03</a:t>
            </a:r>
          </a:p>
        </p:txBody>
      </p:sp>
      <p:sp>
        <p:nvSpPr>
          <p:cNvPr id="42" name="Freeform 42"/>
          <p:cNvSpPr/>
          <p:nvPr/>
        </p:nvSpPr>
        <p:spPr>
          <a:xfrm>
            <a:off x="3173163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233976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3207771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2" y="0"/>
                </a:lnTo>
                <a:lnTo>
                  <a:pt x="180072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- 41 -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820604" y="768468"/>
            <a:ext cx="12829802" cy="762000"/>
            <a:chOff x="0" y="0"/>
            <a:chExt cx="17106403" cy="1016000"/>
          </a:xfrm>
        </p:grpSpPr>
        <p:sp>
          <p:nvSpPr>
            <p:cNvPr id="16" name="TextBox 16"/>
            <p:cNvSpPr txBox="1"/>
            <p:nvPr/>
          </p:nvSpPr>
          <p:spPr>
            <a:xfrm>
              <a:off x="712750" y="76200"/>
              <a:ext cx="16393653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00"/>
                </a:lnSpc>
                <a:spcBef>
                  <a:spcPct val="0"/>
                </a:spcBef>
              </a:pPr>
              <a:r>
                <a:rPr lang="en-US" sz="5000" b="1" u="none" strike="noStrike" spc="-100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오늘 배운 것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284846"/>
              <a:ext cx="446308" cy="446308"/>
            </a:xfrm>
            <a:custGeom>
              <a:avLst/>
              <a:gdLst/>
              <a:ahLst/>
              <a:cxnLst/>
              <a:rect l="l" t="t" r="r" b="b"/>
              <a:pathLst>
                <a:path w="446308" h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2944444" y="3048665"/>
            <a:ext cx="1906863" cy="1756697"/>
          </a:xfrm>
          <a:custGeom>
            <a:avLst/>
            <a:gdLst/>
            <a:ahLst/>
            <a:cxnLst/>
            <a:rect l="l" t="t" r="r" b="b"/>
            <a:pathLst>
              <a:path w="1906863" h="1756697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176076" y="3176873"/>
            <a:ext cx="1935847" cy="1500282"/>
          </a:xfrm>
          <a:custGeom>
            <a:avLst/>
            <a:gdLst/>
            <a:ahLst/>
            <a:cxnLst/>
            <a:rect l="l" t="t" r="r" b="b"/>
            <a:pathLst>
              <a:path w="1935847" h="1500282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580283" y="3112769"/>
            <a:ext cx="1638732" cy="1628490"/>
          </a:xfrm>
          <a:custGeom>
            <a:avLst/>
            <a:gdLst/>
            <a:ahLst/>
            <a:cxnLst/>
            <a:rect l="l" t="t" r="r" b="b"/>
            <a:pathLst>
              <a:path w="1638732" h="1628490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845660" y="5336790"/>
            <a:ext cx="4104431" cy="3031802"/>
            <a:chOff x="0" y="0"/>
            <a:chExt cx="5472575" cy="4042402"/>
          </a:xfrm>
        </p:grpSpPr>
        <p:sp>
          <p:nvSpPr>
            <p:cNvPr id="22" name="TextBox 22"/>
            <p:cNvSpPr txBox="1"/>
            <p:nvPr/>
          </p:nvSpPr>
          <p:spPr>
            <a:xfrm>
              <a:off x="326998" y="2375527"/>
              <a:ext cx="4818580" cy="1666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원하는 것을 설명하고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AI가 만든 결과를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확인하는 것!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바이브코딩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== 말로 코딩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091784" y="5336790"/>
            <a:ext cx="4104431" cy="3031802"/>
            <a:chOff x="0" y="0"/>
            <a:chExt cx="5472575" cy="4042402"/>
          </a:xfrm>
        </p:grpSpPr>
        <p:sp>
          <p:nvSpPr>
            <p:cNvPr id="26" name="TextBox 26"/>
            <p:cNvSpPr txBox="1"/>
            <p:nvPr/>
          </p:nvSpPr>
          <p:spPr>
            <a:xfrm>
              <a:off x="275465" y="2375527"/>
              <a:ext cx="4921645" cy="1666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작업은 2.0에서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검토는 IDE에서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같은 폴더를 열기!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Antigravity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2.0 + IDE</a:t>
              </a:r>
            </a:p>
          </p:txBody>
        </p:sp>
        <p:sp>
          <p:nvSpPr>
            <p:cNvPr id="28" name="Freeform 28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347433" y="5336790"/>
            <a:ext cx="4104431" cy="3031802"/>
            <a:chOff x="0" y="0"/>
            <a:chExt cx="5472575" cy="4042402"/>
          </a:xfrm>
        </p:grpSpPr>
        <p:sp>
          <p:nvSpPr>
            <p:cNvPr id="30" name="TextBox 30"/>
            <p:cNvSpPr txBox="1"/>
            <p:nvPr/>
          </p:nvSpPr>
          <p:spPr>
            <a:xfrm>
              <a:off x="344175" y="2375527"/>
              <a:ext cx="4784225" cy="1666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구체적으로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 번에 하나씩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확인하고 고치기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프롬프트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3원칙</a:t>
              </a:r>
            </a:p>
          </p:txBody>
        </p:sp>
        <p:sp>
          <p:nvSpPr>
            <p:cNvPr id="32" name="Freeform 32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- 42 -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19050"/>
                <a:ext cx="1418261" cy="5742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AI와 소통하는 문서 형식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준비물: 오늘 셋팅한 노트북 하나면 OK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수업 후 해크닉 🧺🍱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7042754" cy="547878"/>
            <a:chOff x="0" y="0"/>
            <a:chExt cx="9390339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8890000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Markdown 이해와 실습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수업 예고: 2차시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Markdown 언어란?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기본 문법 실습 (# 제목, - 목록, **굵게**)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Markdown vs HTML, 뭐가 더 나을까?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- 43 -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98836" y="2898323"/>
            <a:ext cx="8207164" cy="5701057"/>
            <a:chOff x="0" y="0"/>
            <a:chExt cx="1170096" cy="812800"/>
          </a:xfrm>
        </p:grpSpPr>
        <p:sp>
          <p:nvSpPr>
            <p:cNvPr id="34" name="Freeform 34" descr="기호가 들어간 원문이 예쁜 문서로 바뀌는 Markdown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6"/>
              <a:stretch>
                <a:fillRect t="-3714" b="-3714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96396"/>
            <a:ext cx="1229524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</a:pPr>
            <a:r>
              <a:rPr lang="en-US" sz="5000" b="1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질문과 답변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32477" y="5801544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궁금한 점, 무엇이든 물어보세요!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32477" y="6600042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수업 후에는 단톡방에서도 OK</a:t>
            </a:r>
          </a:p>
        </p:txBody>
      </p:sp>
      <p:sp>
        <p:nvSpPr>
          <p:cNvPr id="19" name="Freeform 19"/>
          <p:cNvSpPr/>
          <p:nvPr/>
        </p:nvSpPr>
        <p:spPr>
          <a:xfrm flipH="1">
            <a:off x="7153634" y="3343132"/>
            <a:ext cx="2003592" cy="1570315"/>
          </a:xfrm>
          <a:custGeom>
            <a:avLst/>
            <a:gdLst/>
            <a:ahLst/>
            <a:cxnLst/>
            <a:rect l="l" t="t" r="r" b="b"/>
            <a:pathLst>
              <a:path w="2003592" h="1570315">
                <a:moveTo>
                  <a:pt x="2003593" y="0"/>
                </a:moveTo>
                <a:lnTo>
                  <a:pt x="0" y="0"/>
                </a:lnTo>
                <a:lnTo>
                  <a:pt x="0" y="1570316"/>
                </a:lnTo>
                <a:lnTo>
                  <a:pt x="2003593" y="1570316"/>
                </a:lnTo>
                <a:lnTo>
                  <a:pt x="20035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133758" y="3914364"/>
            <a:ext cx="2003592" cy="1570315"/>
          </a:xfrm>
          <a:custGeom>
            <a:avLst/>
            <a:gdLst/>
            <a:ahLst/>
            <a:cxnLst/>
            <a:rect l="l" t="t" r="r" b="b"/>
            <a:pathLst>
              <a:path w="2003592" h="1570315">
                <a:moveTo>
                  <a:pt x="0" y="0"/>
                </a:moveTo>
                <a:lnTo>
                  <a:pt x="2003592" y="0"/>
                </a:lnTo>
                <a:lnTo>
                  <a:pt x="2003592" y="1570315"/>
                </a:lnTo>
                <a:lnTo>
                  <a:pt x="0" y="1570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291556" y="3386575"/>
            <a:ext cx="1727750" cy="114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sz="6701" b="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Q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71679" y="3957807"/>
            <a:ext cx="1727750" cy="114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sz="6701" b="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8845" y="7574259"/>
            <a:ext cx="7496762" cy="59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셋팅이 아직 안 끝났다면 Antigravity 2.0과 IDE만 먼저 끝내 주세요.</a:t>
            </a:r>
          </a:p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에러 화면은 캡처해서 단톡방에 올려 주면 함께 해결합니다!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377195" y="3075893"/>
            <a:ext cx="14882105" cy="154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3"/>
              </a:lnSpc>
            </a:pPr>
            <a:r>
              <a:rPr lang="en-US" sz="9601" b="1">
                <a:solidFill>
                  <a:srgbClr val="000000"/>
                </a:solidFill>
                <a:latin typeface="프리젠테이션 Ultra-Bold"/>
                <a:ea typeface="프리젠테이션 Ultra-Bold"/>
                <a:cs typeface="프리젠테이션 Ultra-Bold"/>
                <a:sym typeface="프리젠테이션 Ultra-Bold"/>
              </a:rPr>
              <a:t>THANK YOU!!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5160276"/>
            <a:ext cx="10520872" cy="38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1999" b="1" u="none" strike="noStrike" spc="-19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오늘 만든 자기소개 페이지, 단톡방에 공유해 주세요!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4572020"/>
            <a:ext cx="728798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15"/>
              </a:lnSpc>
              <a:spcBef>
                <a:spcPct val="0"/>
              </a:spcBef>
            </a:pPr>
            <a:r>
              <a:rPr lang="en-US" sz="3599" b="1" u="none" strike="noStrike" spc="-147">
                <a:solidFill>
                  <a:srgbClr val="5170FF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2차시에 만나요~!</a:t>
            </a:r>
          </a:p>
        </p:txBody>
      </p:sp>
      <p:sp>
        <p:nvSpPr>
          <p:cNvPr id="20" name="AutoShape 20"/>
          <p:cNvSpPr/>
          <p:nvPr/>
        </p:nvSpPr>
        <p:spPr>
          <a:xfrm flipH="1" flipV="1">
            <a:off x="4803882" y="6372794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2377195" y="6327216"/>
            <a:ext cx="2421924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19"/>
              </a:lnSpc>
              <a:spcBef>
                <a:spcPct val="0"/>
              </a:spcBef>
            </a:pPr>
            <a:r>
              <a:rPr lang="en-US" sz="1999" b="1" u="none" strike="noStrike" spc="-79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1999" b="1" u="none" strike="noStrike" spc="-79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75369" y="6427467"/>
            <a:ext cx="5819862" cy="24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59"/>
              </a:lnSpc>
              <a:spcBef>
                <a:spcPct val="0"/>
              </a:spcBef>
            </a:pPr>
            <a:r>
              <a:rPr lang="en-US" sz="1999" b="1" spc="33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 / zintn11@gmail.com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2377195" y="5933484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6129</Words>
  <Application>Microsoft Office PowerPoint</Application>
  <PresentationFormat>사용자 지정</PresentationFormat>
  <Paragraphs>1091</Paragraphs>
  <Slides>45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5" baseType="lpstr">
      <vt:lpstr>Arimo</vt:lpstr>
      <vt:lpstr>프리젠테이션</vt:lpstr>
      <vt:lpstr>Arimo Bold</vt:lpstr>
      <vt:lpstr>Arial</vt:lpstr>
      <vt:lpstr>프리젠테이션 Ultra-Bold</vt:lpstr>
      <vt:lpstr>프리젠테이션 Bold</vt:lpstr>
      <vt:lpstr>Calibri</vt:lpstr>
      <vt:lpstr>프리젠테이션 Semi-Bold</vt:lpstr>
      <vt:lpstr>DIN Next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[VibeCoding] 1차시 강의 자료</dc:title>
  <cp:lastModifiedBy>JTN H</cp:lastModifiedBy>
  <cp:revision>2</cp:revision>
  <dcterms:created xsi:type="dcterms:W3CDTF">2006-08-16T00:00:00Z</dcterms:created>
  <dcterms:modified xsi:type="dcterms:W3CDTF">2026-09-28T06:05:51Z</dcterms:modified>
  <dc:identifier>DAHWRvzFDgY</dc:identifier>
</cp:coreProperties>
</file>