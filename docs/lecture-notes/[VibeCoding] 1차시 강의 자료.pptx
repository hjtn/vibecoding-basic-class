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프리젠테이션 Bold" charset="1" panose="00000000000000000000"/>
      <p:regular r:id="rId54"/>
    </p:embeddedFont>
    <p:embeddedFont>
      <p:font typeface="프리젠테이션 Semi-Bold" charset="1" panose="00000000000000000000"/>
      <p:regular r:id="rId56"/>
    </p:embeddedFont>
    <p:embeddedFont>
      <p:font typeface="프리젠테이션" charset="1" panose="00000000000000000000"/>
      <p:regular r:id="rId59"/>
    </p:embeddedFont>
    <p:embeddedFont>
      <p:font typeface="Arimo Bold" charset="1" panose="020B0704020202020204"/>
      <p:regular r:id="rId73"/>
    </p:embeddedFont>
    <p:embeddedFont>
      <p:font typeface="Arimo" charset="1" panose="020B0604020202020204"/>
      <p:regular r:id="rId74"/>
    </p:embeddedFont>
    <p:embeddedFont>
      <p:font typeface="DIN Next Bold" charset="1" panose="020B0803020203050203"/>
      <p:regular r:id="rId82"/>
    </p:embeddedFont>
    <p:embeddedFont>
      <p:font typeface="프리젠테이션 Ultra-Bold" charset="1" panose="00000000000000000000"/>
      <p:regular r:id="rId8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notesMasters/notesMaster1.xml" Type="http://schemas.openxmlformats.org/officeDocument/2006/relationships/notesMaster"/><Relationship Id="rId52" Target="theme/theme2.xml" Type="http://schemas.openxmlformats.org/officeDocument/2006/relationships/theme"/><Relationship Id="rId53" Target="notesSlides/notesSlide1.xml" Type="http://schemas.openxmlformats.org/officeDocument/2006/relationships/notesSlide"/><Relationship Id="rId54" Target="fonts/font54.fntdata" Type="http://schemas.openxmlformats.org/officeDocument/2006/relationships/font"/><Relationship Id="rId55" Target="notesSlides/notesSlide2.xml" Type="http://schemas.openxmlformats.org/officeDocument/2006/relationships/notesSlide"/><Relationship Id="rId56" Target="fonts/font56.fntdata" Type="http://schemas.openxmlformats.org/officeDocument/2006/relationships/font"/><Relationship Id="rId57" Target="notesSlides/notesSlide3.xml" Type="http://schemas.openxmlformats.org/officeDocument/2006/relationships/notesSlide"/><Relationship Id="rId58" Target="notesSlides/notesSlide4.xml" Type="http://schemas.openxmlformats.org/officeDocument/2006/relationships/notesSlide"/><Relationship Id="rId59" Target="fonts/font59.fntdata" Type="http://schemas.openxmlformats.org/officeDocument/2006/relationships/font"/><Relationship Id="rId6" Target="slides/slide1.xml" Type="http://schemas.openxmlformats.org/officeDocument/2006/relationships/slide"/><Relationship Id="rId60" Target="notesSlides/notesSlide5.xml" Type="http://schemas.openxmlformats.org/officeDocument/2006/relationships/notesSlide"/><Relationship Id="rId61" Target="notesSlides/notesSlide6.xml" Type="http://schemas.openxmlformats.org/officeDocument/2006/relationships/notesSlide"/><Relationship Id="rId62" Target="notesSlides/notesSlide7.xml" Type="http://schemas.openxmlformats.org/officeDocument/2006/relationships/notesSlide"/><Relationship Id="rId63" Target="notesSlides/notesSlide8.xml" Type="http://schemas.openxmlformats.org/officeDocument/2006/relationships/notesSlide"/><Relationship Id="rId64" Target="notesSlides/notesSlide9.xml" Type="http://schemas.openxmlformats.org/officeDocument/2006/relationships/notesSlide"/><Relationship Id="rId65" Target="notesSlides/notesSlide10.xml" Type="http://schemas.openxmlformats.org/officeDocument/2006/relationships/notesSlide"/><Relationship Id="rId66" Target="notesSlides/notesSlide11.xml" Type="http://schemas.openxmlformats.org/officeDocument/2006/relationships/notesSlide"/><Relationship Id="rId67" Target="notesSlides/notesSlide12.xml" Type="http://schemas.openxmlformats.org/officeDocument/2006/relationships/notesSlide"/><Relationship Id="rId68" Target="notesSlides/notesSlide13.xml" Type="http://schemas.openxmlformats.org/officeDocument/2006/relationships/notesSlide"/><Relationship Id="rId69" Target="notesSlides/notesSlide14.xml" Type="http://schemas.openxmlformats.org/officeDocument/2006/relationships/notesSlide"/><Relationship Id="rId7" Target="slides/slide2.xml" Type="http://schemas.openxmlformats.org/officeDocument/2006/relationships/slide"/><Relationship Id="rId70" Target="notesSlides/notesSlide15.xml" Type="http://schemas.openxmlformats.org/officeDocument/2006/relationships/notesSlide"/><Relationship Id="rId71" Target="notesSlides/notesSlide16.xml" Type="http://schemas.openxmlformats.org/officeDocument/2006/relationships/notesSlide"/><Relationship Id="rId72" Target="notesSlides/notesSlide17.xml" Type="http://schemas.openxmlformats.org/officeDocument/2006/relationships/notesSlide"/><Relationship Id="rId73" Target="fonts/font73.fntdata" Type="http://schemas.openxmlformats.org/officeDocument/2006/relationships/font"/><Relationship Id="rId74" Target="fonts/font74.fntdata" Type="http://schemas.openxmlformats.org/officeDocument/2006/relationships/font"/><Relationship Id="rId75" Target="notesSlides/notesSlide18.xml" Type="http://schemas.openxmlformats.org/officeDocument/2006/relationships/notesSlide"/><Relationship Id="rId76" Target="notesSlides/notesSlide19.xml" Type="http://schemas.openxmlformats.org/officeDocument/2006/relationships/notesSlide"/><Relationship Id="rId77" Target="notesSlides/notesSlide20.xml" Type="http://schemas.openxmlformats.org/officeDocument/2006/relationships/notesSlide"/><Relationship Id="rId78" Target="notesSlides/notesSlide21.xml" Type="http://schemas.openxmlformats.org/officeDocument/2006/relationships/notesSlide"/><Relationship Id="rId79" Target="notesSlides/notesSlide22.xml" Type="http://schemas.openxmlformats.org/officeDocument/2006/relationships/notesSlide"/><Relationship Id="rId8" Target="slides/slide3.xml" Type="http://schemas.openxmlformats.org/officeDocument/2006/relationships/slide"/><Relationship Id="rId80" Target="notesSlides/notesSlide23.xml" Type="http://schemas.openxmlformats.org/officeDocument/2006/relationships/notesSlide"/><Relationship Id="rId81" Target="notesSlides/notesSlide24.xml" Type="http://schemas.openxmlformats.org/officeDocument/2006/relationships/notesSlide"/><Relationship Id="rId82" Target="fonts/font82.fntdata" Type="http://schemas.openxmlformats.org/officeDocument/2006/relationships/font"/><Relationship Id="rId83" Target="fonts/font83.fntdata" Type="http://schemas.openxmlformats.org/officeDocument/2006/relationships/font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2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3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환영 인사 + 자기소개. 오늘은 100분 동안 분반 소개 → Antigravity 맛보기 실습 → 개발 환경 셋팅 순서로 진행합니다. 셋팅이 빨리 끝나면 일찍 마칩니다.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오늘은 4개 파트로 진행합니다. ① 분반 소개(20분) → 휴식 → ② Antigravity 소개와 간단한 실습(20분) → 휴식 → ③ 개발 환경 셋팅(30분) → ④ 마무리(10분).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첫 번째 파트: 분반이 무엇을 하는지, 8차시 동안 무엇을 배우는지, 어떻게 공부하면 좋은지 소개합니다.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수업은 20~30분 수업 + 10분 휴식 방식으로 진행합니다. 환경 셋팅이 모두 끝나면 일찍 마칠 예정이에요.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바이브코딩(Vibe Coding) = 코드를 직접 한 줄씩 쓰는 대신, 자연어(우리말)로 원하는 것을 설명하고 AI가 코드를 만들게 하는 방식. 2025년 2월 OpenAI 공동창업자 안드레이 카르파시가 처음 사용한 표현입니다. 우리는 '코드를 어떻게 쓰는가'보다 '무엇을 어떻게 부탁하고 결과를 어떻게 확인하는가'를 배웁니다.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바이브 코딩에서는 '코드 작성자'에서 '기획자 + 검토자'로 역할이 바뀝니다. 단, AI가 틀릴 수 있으니 결과를 꼭 눈으로 확인하는 습관이 중요합니다.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전반부(1~4차시)는 도구와 기초 개념을 다집니다. 오늘은 환경 구축, 2차시는 AI와 소통하는 문서 형식인 Markdown, 3차시는 AI에게 잘 부탁하는 법(프롬프트/컨텍스트), 4차시는 LLM이 무엇인지 배웁니다.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후반부(5~8차시)는 실제 AI 서비스를 만드는 기술을 배웁니다. RAG(내 자료를 찾아 답하는 AI), Skill·MCP(AI에게 도구 연결), 배포(인터넷에 올리기), 마지막은 해달 해커톤을 대비한 미니 프로젝트입니다.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 학기 목표는 세 단계입니다. ① AI Agent 개발 환경을 갖추고, ② LLM을 활용한 Agent 개발 전반을 이해하고, ③ 미니 프로젝트로 해달 해커톤에 나갈 자신감을 얻는 것! 코딩 실력보다 'AI와 함께 만드는 경험'이 목표입니다.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공부법 세 가지. ① 눈으로만 보지 말고 직접 입력해 보기. ② 모르는 건 바로 AI에게 질문하기 — 예: '이 코드를 초등학생도 이해할 수 있게 설명해줘', '이 에러 메시지가 무슨 뜻이야?'. ③ 만든 결과물은 단톡방에 공유해서 서로 자극받기.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휴식 10분. 다음 파트에서 Antigravity 2.0으로 바로 실습하므로, 설치가 안 된 분은 휴식 시간에 설치를 도와주세요.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두 번째 파트: 우리가 8차시 내내 쓸 도구 Antigravity를 소개하고, 직접 나만의 자기소개 페이지를 만들어 봅니다.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ChatGPT처럼 대화만 하는 게 아니라, 직접 파일을 만들고 고치고 실행까지 해 주는 '에이전트'가 핵심입니다. 예: 'index.html 만들어줘' 하면 실제로 내 폴더에 파일이 생깁니다.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프롬프트 = AI에게 보내는 지시문. ① 구체적으로: '예쁘게' 대신 '하늘색 배경에 가운데 정렬' ② 한 번에 하나씩: 처음부터 완벽한 앱을 요청하지 말고 기본 → 기능 추가 순서로 ③ 확인하고 고치기: AI 결과는 항상 직접 열어서 확인. 프롬프트는 3차시에서 더 자세히 배웁니다.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같은 요청이라도 구체적으로 말하면 결과가 확 달라집니다. 특히 오류가 났을 때는 '어떤 행동을 했는데 어떤 결과가 나왔는지' + 에러 메시지를 그대로 붙여넣으면 훨씬 잘 고쳐줍니다. 바로 다음 실습에서 좋은 예시를 직접 써 봅니다.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실습 준비: 바탕화면에 영문 폴더 my-intro를 만들고 Antigravity 2.0에서 프로젝트로 열어요. 폴더 경로에 한글·공백이 있으면 오류가 날 수 있습니다. 아직 설치가 안 된 분은 옆 사람 화면을 함께 보고, 3파트에서 설치합니다.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실습 1: 프롬프트를 복사해서 Antigravity 2.0 채팅창에 붙여넣고, 이름·전공·관심사를 본인 정보로 바꿔 보세요. '무엇을(자기소개 페이지), 어떻게(index.html 하나), 어떤 모습으로(밝고 깔끔, 모바일)'가 모두 들어간 좋은 프롬프트 예시입니다. 프롬프트 원문은 노션/GitHub 교재에도 올려 두면 복사하기 편합니다.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코드를 이해하지 못해도 괜찮습니다! '&lt;h1&gt;은 제목, &lt;p&gt;는 문단, &lt;li&gt;는 목록' 정도만 눈에 익히면 충분합니다. AI마다 결과물은 조금씩 다를 수 있어요. ※ 강사용: 오른쪽 회색 박스는 미리 만들어 둔 완성 화면 캡처로 교체하세요.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실습 3: 바이브코딩의 핵심은 '만들고 → 확인하고 → 말로 고치는' 반복입니다. 세 가지 요청을 한 번에 하나씩 보내고, 매번 브라우저에서 F5로 확인하세요. ③번은 버튼 동작(JavaScript)이 추가되는 예시입니다. 시간이 남으면 자유롭게 나만의 요청을 추가해 보게 합니다.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휴식 10분. 다음 파트는 개인별 환경 셋팅이라 설치 파일 다운로드가 많습니다. 충전기와 인터넷 연결을 미리 확인하게 하세요.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세 번째 파트: 사전 공지한 설치 가이드를 함께 훑어보며 각자 설치 상태를 점검합니다. 이미 설치한 사람은 체크리스트로 바로 넘어가고, 도움이 필요한 사람을 운영진이 돌아다니며 도와줍니다.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오늘 수업 요약. ① 바이브코딩은 말로 설명하고 AI 결과를 확인하는 것. ② Antigravity 2.0은 에이전트에게 일을 맡기는 곳, IDE는 코드를 확인하는 곳. ③ 좋은 프롬프트는 구체적이고, 한 번에 하나씩, 결과를 확인하며 고친다.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2차시는 Markdown! AI에게 지시문을 쓰거나 문서를 정리할 때 가장 많이 쓰는 형식입니다. 오늘 만든 노트북 환경 그대로 가져오면 됩니다. 수업 후에는 해크닉도 있어요!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질의응답. 셋팅이 끝난 사람은 퇴실해도 좋다고 안내하고, 남은 사람들의 설치를 도와줍니다.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3.svg" Type="http://schemas.openxmlformats.org/officeDocument/2006/relationships/image"/><Relationship Id="rId11" Target="../media/image24.png" Type="http://schemas.openxmlformats.org/officeDocument/2006/relationships/image"/><Relationship Id="rId12" Target="../media/image25.svg" Type="http://schemas.openxmlformats.org/officeDocument/2006/relationships/image"/><Relationship Id="rId2" Target="../notesSlides/notesSlide9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18.png" Type="http://schemas.openxmlformats.org/officeDocument/2006/relationships/image"/><Relationship Id="rId6" Target="../media/image19.svg" Type="http://schemas.openxmlformats.org/officeDocument/2006/relationships/image"/><Relationship Id="rId7" Target="../media/image20.png" Type="http://schemas.openxmlformats.org/officeDocument/2006/relationships/image"/><Relationship Id="rId8" Target="../media/image21.svg" Type="http://schemas.openxmlformats.org/officeDocument/2006/relationships/image"/><Relationship Id="rId9" Target="../media/image2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6.png" Type="http://schemas.openxmlformats.org/officeDocument/2006/relationships/image"/><Relationship Id="rId6" Target="../media/image27.svg" Type="http://schemas.openxmlformats.org/officeDocument/2006/relationships/image"/><Relationship Id="rId7" Target="../media/image28.png" Type="http://schemas.openxmlformats.org/officeDocument/2006/relationships/image"/><Relationship Id="rId8" Target="../media/image29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0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1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3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6.png" Type="http://schemas.openxmlformats.org/officeDocument/2006/relationships/image"/><Relationship Id="rId6" Target="../media/image27.svg" Type="http://schemas.openxmlformats.org/officeDocument/2006/relationships/image"/><Relationship Id="rId7" Target="../media/image28.png" Type="http://schemas.openxmlformats.org/officeDocument/2006/relationships/image"/><Relationship Id="rId8" Target="../media/image29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4.png" Type="http://schemas.openxmlformats.org/officeDocument/2006/relationships/image"/><Relationship Id="rId6" Target="../media/image15.svg" Type="http://schemas.openxmlformats.org/officeDocument/2006/relationships/image"/><Relationship Id="rId7" Target="../media/image34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0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4.png" Type="http://schemas.openxmlformats.org/officeDocument/2006/relationships/image"/><Relationship Id="rId11" Target="../media/image25.svg" Type="http://schemas.openxmlformats.org/officeDocument/2006/relationships/image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8.png" Type="http://schemas.openxmlformats.org/officeDocument/2006/relationships/image"/><Relationship Id="rId5" Target="../media/image19.svg" Type="http://schemas.openxmlformats.org/officeDocument/2006/relationships/image"/><Relationship Id="rId6" Target="../media/image20.png" Type="http://schemas.openxmlformats.org/officeDocument/2006/relationships/image"/><Relationship Id="rId7" Target="../media/image21.svg" Type="http://schemas.openxmlformats.org/officeDocument/2006/relationships/image"/><Relationship Id="rId8" Target="../media/image22.png" Type="http://schemas.openxmlformats.org/officeDocument/2006/relationships/image"/><Relationship Id="rId9" Target="../media/image23.sv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37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38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5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39.pn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46.png" Type="http://schemas.openxmlformats.org/officeDocument/2006/relationships/image"/><Relationship Id="rId5" Target="../media/image47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48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5.png" Type="http://schemas.openxmlformats.org/officeDocument/2006/relationships/image"/><Relationship Id="rId11" Target="../media/image56.svg" Type="http://schemas.openxmlformats.org/officeDocument/2006/relationships/image"/><Relationship Id="rId12" Target="../media/image57.png" Type="http://schemas.openxmlformats.org/officeDocument/2006/relationships/image"/><Relationship Id="rId13" Target="../media/image58.svg" Type="http://schemas.openxmlformats.org/officeDocument/2006/relationships/image"/><Relationship Id="rId14" Target="../media/image59.png" Type="http://schemas.openxmlformats.org/officeDocument/2006/relationships/image"/><Relationship Id="rId15" Target="../media/image60.svg" Type="http://schemas.openxmlformats.org/officeDocument/2006/relationships/image"/><Relationship Id="rId16" Target="../media/image61.png" Type="http://schemas.openxmlformats.org/officeDocument/2006/relationships/image"/><Relationship Id="rId17" Target="../media/image62.svg" Type="http://schemas.openxmlformats.org/officeDocument/2006/relationships/image"/><Relationship Id="rId18" Target="../media/image63.png" Type="http://schemas.openxmlformats.org/officeDocument/2006/relationships/image"/><Relationship Id="rId19" Target="../media/image64.svg" Type="http://schemas.openxmlformats.org/officeDocument/2006/relationships/image"/><Relationship Id="rId2" Target="../media/image9.png" Type="http://schemas.openxmlformats.org/officeDocument/2006/relationships/image"/><Relationship Id="rId20" Target="../media/image65.png" Type="http://schemas.openxmlformats.org/officeDocument/2006/relationships/image"/><Relationship Id="rId21" Target="../media/image66.svg" Type="http://schemas.openxmlformats.org/officeDocument/2006/relationships/image"/><Relationship Id="rId3" Target="../media/image10.svg" Type="http://schemas.openxmlformats.org/officeDocument/2006/relationships/image"/><Relationship Id="rId4" Target="../media/image49.png" Type="http://schemas.openxmlformats.org/officeDocument/2006/relationships/image"/><Relationship Id="rId5" Target="../media/image50.png" Type="http://schemas.openxmlformats.org/officeDocument/2006/relationships/image"/><Relationship Id="rId6" Target="../media/image51.png" Type="http://schemas.openxmlformats.org/officeDocument/2006/relationships/image"/><Relationship Id="rId7" Target="../media/image52.png" Type="http://schemas.openxmlformats.org/officeDocument/2006/relationships/image"/><Relationship Id="rId8" Target="../media/image5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4.png" Type="http://schemas.openxmlformats.org/officeDocument/2006/relationships/image"/><Relationship Id="rId11" Target="../media/image25.sv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8.png" Type="http://schemas.openxmlformats.org/officeDocument/2006/relationships/image"/><Relationship Id="rId5" Target="../media/image19.svg" Type="http://schemas.openxmlformats.org/officeDocument/2006/relationships/image"/><Relationship Id="rId6" Target="../media/image20.png" Type="http://schemas.openxmlformats.org/officeDocument/2006/relationships/image"/><Relationship Id="rId7" Target="../media/image21.svg" Type="http://schemas.openxmlformats.org/officeDocument/2006/relationships/image"/><Relationship Id="rId8" Target="../media/image22.png" Type="http://schemas.openxmlformats.org/officeDocument/2006/relationships/image"/><Relationship Id="rId9" Target="../media/image23.sv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67.png" Type="http://schemas.openxmlformats.org/officeDocument/2006/relationships/image"/><Relationship Id="rId5" Target="../media/image68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69.png" Type="http://schemas.openxmlformats.org/officeDocument/2006/relationships/image"/><Relationship Id="rId5" Target="../media/image70.png" Type="http://schemas.openxmlformats.org/officeDocument/2006/relationships/image"/><Relationship Id="rId6" Target="https://code.claude.com/docs/ko/quickstart" TargetMode="External" Type="http://schemas.openxmlformats.org/officeDocument/2006/relationships/hyperlink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1.png" Type="http://schemas.openxmlformats.org/officeDocument/2006/relationships/image"/><Relationship Id="rId5" Target="../media/image72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3.png" Type="http://schemas.openxmlformats.org/officeDocument/2006/relationships/image"/><Relationship Id="rId5" Target="../media/image74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28.png" Type="http://schemas.openxmlformats.org/officeDocument/2006/relationships/image"/><Relationship Id="rId7" Target="../media/image29.sv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3.svg" Type="http://schemas.openxmlformats.org/officeDocument/2006/relationships/image"/><Relationship Id="rId11" Target="../media/image24.png" Type="http://schemas.openxmlformats.org/officeDocument/2006/relationships/image"/><Relationship Id="rId12" Target="../media/image25.svg" Type="http://schemas.openxmlformats.org/officeDocument/2006/relationships/image"/><Relationship Id="rId2" Target="../notesSlides/notesSlide22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18.png" Type="http://schemas.openxmlformats.org/officeDocument/2006/relationships/image"/><Relationship Id="rId6" Target="../media/image19.svg" Type="http://schemas.openxmlformats.org/officeDocument/2006/relationships/image"/><Relationship Id="rId7" Target="../media/image20.png" Type="http://schemas.openxmlformats.org/officeDocument/2006/relationships/image"/><Relationship Id="rId8" Target="../media/image21.svg" Type="http://schemas.openxmlformats.org/officeDocument/2006/relationships/image"/><Relationship Id="rId9" Target="../media/image22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Relationship Id="rId9" Target="../media/image75.jpe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76.png" Type="http://schemas.openxmlformats.org/officeDocument/2006/relationships/image"/><Relationship Id="rId6" Target="../media/image77.svg" Type="http://schemas.openxmlformats.org/officeDocument/2006/relationships/image"/><Relationship Id="rId7" Target="../media/image78.png" Type="http://schemas.openxmlformats.org/officeDocument/2006/relationships/image"/><Relationship Id="rId8" Target="../media/image79.sv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VIBE CODING 기초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716107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1차시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분반 소개 · Antigravity 실습 · 개발 환경 셋팅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728798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오리엔테이션 &amp; AI 개발 환경 구축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6" id="16"/>
          <p:cNvSpPr txBox="true"/>
          <p:nvPr/>
        </p:nvSpPr>
        <p:spPr>
          <a:xfrm rot="0">
            <a:off x="2091821" y="3201454"/>
            <a:ext cx="4351624" cy="1532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92"/>
              </a:lnSpc>
            </a:pPr>
            <a:r>
              <a:rPr lang="en-US" b="true" sz="9600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INDEX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09189" y="4672145"/>
            <a:ext cx="4753408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3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1차시 수업 순서 (100분)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7600950" y="3238500"/>
            <a:ext cx="8750967" cy="3351235"/>
            <a:chOff x="0" y="0"/>
            <a:chExt cx="11667955" cy="4468314"/>
          </a:xfrm>
        </p:grpSpPr>
        <p:sp>
          <p:nvSpPr>
            <p:cNvPr name="AutoShape 19" id="19"/>
            <p:cNvSpPr/>
            <p:nvPr/>
          </p:nvSpPr>
          <p:spPr>
            <a:xfrm>
              <a:off x="36676" y="934034"/>
              <a:ext cx="11631279" cy="0"/>
            </a:xfrm>
            <a:prstGeom prst="line">
              <a:avLst/>
            </a:prstGeom>
            <a:ln cap="flat" w="12700">
              <a:solidFill>
                <a:srgbClr val="222222">
                  <a:alpha val="14902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0" id="20"/>
            <p:cNvSpPr/>
            <p:nvPr/>
          </p:nvSpPr>
          <p:spPr>
            <a:xfrm>
              <a:off x="36676" y="2234157"/>
              <a:ext cx="11631279" cy="0"/>
            </a:xfrm>
            <a:prstGeom prst="line">
              <a:avLst/>
            </a:prstGeom>
            <a:ln cap="flat" w="12700">
              <a:solidFill>
                <a:srgbClr val="222222">
                  <a:alpha val="14902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1" id="21"/>
            <p:cNvSpPr/>
            <p:nvPr/>
          </p:nvSpPr>
          <p:spPr>
            <a:xfrm>
              <a:off x="36676" y="3534280"/>
              <a:ext cx="11631279" cy="0"/>
            </a:xfrm>
            <a:prstGeom prst="line">
              <a:avLst/>
            </a:prstGeom>
            <a:ln cap="flat" w="12700">
              <a:solidFill>
                <a:srgbClr val="222222">
                  <a:alpha val="14902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058941" y="1338223"/>
              <a:ext cx="6928367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Antigravity 소개 &amp; 실습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391606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2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58941" y="3938470"/>
              <a:ext cx="6595062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마무리 &amp; 질의응답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0" y="3991852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4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58941" y="38100"/>
              <a:ext cx="6595062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Vibe Coding 분반 소개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91483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1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58941" y="2638346"/>
              <a:ext cx="6595062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개발 환경 셋팅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0" y="2691729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3</a:t>
              </a:r>
            </a:p>
          </p:txBody>
        </p:sp>
      </p:grpSp>
      <p:sp>
        <p:nvSpPr>
          <p:cNvPr name="Freeform 30" id="30"/>
          <p:cNvSpPr/>
          <p:nvPr/>
        </p:nvSpPr>
        <p:spPr>
          <a:xfrm flipH="false" flipV="false" rot="0">
            <a:off x="2137764" y="2174998"/>
            <a:ext cx="1092574" cy="1021557"/>
          </a:xfrm>
          <a:custGeom>
            <a:avLst/>
            <a:gdLst/>
            <a:ahLst/>
            <a:cxnLst/>
            <a:rect r="r" b="b" t="t" l="l"/>
            <a:pathLst>
              <a:path h="1021557" w="1092574">
                <a:moveTo>
                  <a:pt x="0" y="0"/>
                </a:moveTo>
                <a:lnTo>
                  <a:pt x="1092574" y="0"/>
                </a:lnTo>
                <a:lnTo>
                  <a:pt x="1092574" y="1021556"/>
                </a:lnTo>
                <a:lnTo>
                  <a:pt x="0" y="10215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- 2 -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PART 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12382500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분반 소개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⏱ 교육 시간 20분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1047750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오리엔테이션 · 8차시 커리큘럼 · 학기 목표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4379" y="534854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696061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오늘의 시간표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1717296" y="3187045"/>
          <a:ext cx="14853407" cy="4261327"/>
        </p:xfrm>
        <a:graphic>
          <a:graphicData uri="http://schemas.openxmlformats.org/drawingml/2006/table">
            <a:tbl>
              <a:tblPr/>
              <a:tblGrid>
                <a:gridCol w="3495006"/>
                <a:gridCol w="2021978"/>
                <a:gridCol w="9336423"/>
              </a:tblGrid>
              <a:tr h="899743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파트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시간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내용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1099102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① 분반 소개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19:00 ~19:20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오리엔테이션, 8차시 커리큘럼, 학기 목표  →  🍵 10분 휴식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161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② Antigravity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19:30 ~19:50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도구 소개, 자기소개 페이지 만들기 실습  →  🍵 10분 휴식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161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③ 환경 셋팅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20:00 ~20:30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Antigravity 2.0 · IDE 설치 확인, Claude · Codex CLI (선택)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161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④ 마무리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20:30 ~20:40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질의응답, 다음 수업 안내 (셋팅이 끝나면 일찍 끝!)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9" id="19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- 4 -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사람이 말로 설명하면 AI 로봇이 코드와 웹사이트를 만드는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3714" r="0" b="-3714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코딩 문법을 몰라도 시작 가능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핵심은 '무엇을 원하는지' 설명하는 힘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2025년 A. Karpathy가 만든 용어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말로 만드는 코딩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바이브코딩이란?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만들고 싶은 것을 말로 설명하는 과정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AI가 코드를 대신 작성하는 과정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결과를 보고 다시 말로 고치는 과정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- 5 -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예전 코딩 vs 바이브 코딩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1717296" y="3731994"/>
          <a:ext cx="14853407" cy="3917157"/>
        </p:xfrm>
        <a:graphic>
          <a:graphicData uri="http://schemas.openxmlformats.org/drawingml/2006/table">
            <a:tbl>
              <a:tblPr/>
              <a:tblGrid>
                <a:gridCol w="3495006"/>
                <a:gridCol w="3931697"/>
                <a:gridCol w="7426704"/>
              </a:tblGrid>
              <a:tr h="8999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구분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예전 코딩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바이브 코딩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코드는 누가?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사람이 직접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AI가 대신 작성! 사람은 말로 설명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필요한 것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문법 암기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원하는 결과를 정확히 설명하는 능력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막혔을 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검색 · 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AI에게 바로 질문! "이 에러 왜 나?"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나의 역할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작성자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기획자 + 검토자! 결과를 확인하고 방향을 잡기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- 6 -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8차시 로드맵 ①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2898323"/>
            <a:ext cx="7335408" cy="2752701"/>
            <a:chOff x="0" y="0"/>
            <a:chExt cx="1931959" cy="7249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17296" y="5846679"/>
            <a:ext cx="7335408" cy="2752701"/>
            <a:chOff x="0" y="0"/>
            <a:chExt cx="1931959" cy="724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44821" y="2898323"/>
            <a:ext cx="7335408" cy="2752701"/>
            <a:chOff x="0" y="0"/>
            <a:chExt cx="1931959" cy="7249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44821" y="5846679"/>
            <a:ext cx="7335408" cy="2752701"/>
            <a:chOff x="0" y="0"/>
            <a:chExt cx="1931959" cy="724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512059" y="5378921"/>
            <a:ext cx="3263882" cy="851964"/>
            <a:chOff x="0" y="0"/>
            <a:chExt cx="859623" cy="2243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59623" cy="224386"/>
            </a:xfrm>
            <a:custGeom>
              <a:avLst/>
              <a:gdLst/>
              <a:ahLst/>
              <a:cxnLst/>
              <a:rect r="r" b="b" t="t" l="l"/>
              <a:pathLst>
                <a:path h="224386" w="859623">
                  <a:moveTo>
                    <a:pt x="35580" y="0"/>
                  </a:moveTo>
                  <a:lnTo>
                    <a:pt x="824043" y="0"/>
                  </a:lnTo>
                  <a:cubicBezTo>
                    <a:pt x="833480" y="0"/>
                    <a:pt x="842530" y="3749"/>
                    <a:pt x="849202" y="10421"/>
                  </a:cubicBezTo>
                  <a:cubicBezTo>
                    <a:pt x="855875" y="17094"/>
                    <a:pt x="859623" y="26144"/>
                    <a:pt x="859623" y="35580"/>
                  </a:cubicBezTo>
                  <a:lnTo>
                    <a:pt x="859623" y="188806"/>
                  </a:lnTo>
                  <a:cubicBezTo>
                    <a:pt x="859623" y="208456"/>
                    <a:pt x="843694" y="224386"/>
                    <a:pt x="824043" y="224386"/>
                  </a:cubicBezTo>
                  <a:lnTo>
                    <a:pt x="35580" y="224386"/>
                  </a:lnTo>
                  <a:cubicBezTo>
                    <a:pt x="26144" y="224386"/>
                    <a:pt x="17094" y="220637"/>
                    <a:pt x="10421" y="213964"/>
                  </a:cubicBezTo>
                  <a:cubicBezTo>
                    <a:pt x="3749" y="207292"/>
                    <a:pt x="0" y="198242"/>
                    <a:pt x="0" y="188806"/>
                  </a:cubicBezTo>
                  <a:lnTo>
                    <a:pt x="0" y="35580"/>
                  </a:lnTo>
                  <a:cubicBezTo>
                    <a:pt x="0" y="26144"/>
                    <a:pt x="3749" y="17094"/>
                    <a:pt x="10421" y="10421"/>
                  </a:cubicBezTo>
                  <a:cubicBezTo>
                    <a:pt x="17094" y="3749"/>
                    <a:pt x="26144" y="0"/>
                    <a:pt x="35580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859623" cy="205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7512059" y="5550371"/>
            <a:ext cx="326388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1~4차시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20968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1차시 · 오늘!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20968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3차시 · 엔지니어링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48493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2차시 · Markdown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48493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4차시 · LLM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3130859" y="4303307"/>
            <a:ext cx="4769655" cy="304800"/>
            <a:chOff x="0" y="0"/>
            <a:chExt cx="6359540" cy="406400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303953" y="-76200"/>
              <a:ext cx="605558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오리엔테이션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004856" y="7251663"/>
            <a:ext cx="4753926" cy="304800"/>
            <a:chOff x="0" y="0"/>
            <a:chExt cx="6338568" cy="406400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프롬프트 · 컨텍스트</a:t>
              </a:r>
            </a:p>
          </p:txBody>
        </p:sp>
        <p:sp>
          <p:nvSpPr>
            <p:cNvPr name="Freeform 42" id="42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600287" y="4303307"/>
            <a:ext cx="4752200" cy="304800"/>
            <a:chOff x="0" y="0"/>
            <a:chExt cx="6336266" cy="406400"/>
          </a:xfrm>
        </p:grpSpPr>
        <p:sp>
          <p:nvSpPr>
            <p:cNvPr name="TextBox 44" id="44"/>
            <p:cNvSpPr txBox="true"/>
            <p:nvPr/>
          </p:nvSpPr>
          <p:spPr>
            <a:xfrm rot="0">
              <a:off x="303953" y="-76200"/>
              <a:ext cx="60323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문서 작성 문법 실습</a:t>
              </a:r>
            </a:p>
          </p:txBody>
        </p:sp>
        <p:sp>
          <p:nvSpPr>
            <p:cNvPr name="Freeform 45" id="45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591422" y="7251663"/>
            <a:ext cx="4769930" cy="304800"/>
            <a:chOff x="0" y="0"/>
            <a:chExt cx="6359906" cy="406400"/>
          </a:xfrm>
        </p:grpSpPr>
        <p:sp>
          <p:nvSpPr>
            <p:cNvPr name="TextBox 47" id="47"/>
            <p:cNvSpPr txBox="true"/>
            <p:nvPr/>
          </p:nvSpPr>
          <p:spPr>
            <a:xfrm rot="0">
              <a:off x="303953" y="-76200"/>
              <a:ext cx="605595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LLM 개요 · 프롬프트 보안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3130859" y="4790276"/>
            <a:ext cx="4753926" cy="304800"/>
            <a:chOff x="0" y="0"/>
            <a:chExt cx="6338568" cy="406400"/>
          </a:xfrm>
        </p:grpSpPr>
        <p:sp>
          <p:nvSpPr>
            <p:cNvPr name="TextBox 50" id="50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개발 환경 구축 · Antigravity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3004856" y="7738632"/>
            <a:ext cx="4760288" cy="304800"/>
            <a:chOff x="0" y="0"/>
            <a:chExt cx="6347050" cy="40640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303953" y="-76200"/>
              <a:ext cx="604309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하네스 · 루프 엔지니어링</a:t>
              </a:r>
            </a:p>
          </p:txBody>
        </p:sp>
        <p:sp>
          <p:nvSpPr>
            <p:cNvPr name="Freeform 54" id="54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600287" y="4790276"/>
            <a:ext cx="4769655" cy="304800"/>
            <a:chOff x="0" y="0"/>
            <a:chExt cx="6359540" cy="40640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303953" y="-76200"/>
              <a:ext cx="605558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Markdown vs HTML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591422" y="7738632"/>
            <a:ext cx="4754200" cy="304800"/>
            <a:chOff x="0" y="0"/>
            <a:chExt cx="6338934" cy="406400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03953" y="-76200"/>
              <a:ext cx="6034981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LLM 에이전트의 이해</a:t>
              </a:r>
            </a:p>
          </p:txBody>
        </p:sp>
        <p:sp>
          <p:nvSpPr>
            <p:cNvPr name="Freeform 60" id="60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AutoShape 61" id="61"/>
          <p:cNvSpPr/>
          <p:nvPr/>
        </p:nvSpPr>
        <p:spPr>
          <a:xfrm>
            <a:off x="3020968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3020968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10548493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10548493" y="687874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- 7 -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8차시 로드맵 ②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2898323"/>
            <a:ext cx="7335408" cy="2752701"/>
            <a:chOff x="0" y="0"/>
            <a:chExt cx="1931959" cy="7249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17296" y="5846679"/>
            <a:ext cx="7335408" cy="2752701"/>
            <a:chOff x="0" y="0"/>
            <a:chExt cx="1931959" cy="724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44821" y="2898323"/>
            <a:ext cx="7335408" cy="2752701"/>
            <a:chOff x="0" y="0"/>
            <a:chExt cx="1931959" cy="7249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44821" y="5846679"/>
            <a:ext cx="7335408" cy="2752701"/>
            <a:chOff x="0" y="0"/>
            <a:chExt cx="1931959" cy="724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512059" y="5378921"/>
            <a:ext cx="3263882" cy="851964"/>
            <a:chOff x="0" y="0"/>
            <a:chExt cx="859623" cy="2243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59623" cy="224386"/>
            </a:xfrm>
            <a:custGeom>
              <a:avLst/>
              <a:gdLst/>
              <a:ahLst/>
              <a:cxnLst/>
              <a:rect r="r" b="b" t="t" l="l"/>
              <a:pathLst>
                <a:path h="224386" w="859623">
                  <a:moveTo>
                    <a:pt x="35580" y="0"/>
                  </a:moveTo>
                  <a:lnTo>
                    <a:pt x="824043" y="0"/>
                  </a:lnTo>
                  <a:cubicBezTo>
                    <a:pt x="833480" y="0"/>
                    <a:pt x="842530" y="3749"/>
                    <a:pt x="849202" y="10421"/>
                  </a:cubicBezTo>
                  <a:cubicBezTo>
                    <a:pt x="855875" y="17094"/>
                    <a:pt x="859623" y="26144"/>
                    <a:pt x="859623" y="35580"/>
                  </a:cubicBezTo>
                  <a:lnTo>
                    <a:pt x="859623" y="188806"/>
                  </a:lnTo>
                  <a:cubicBezTo>
                    <a:pt x="859623" y="208456"/>
                    <a:pt x="843694" y="224386"/>
                    <a:pt x="824043" y="224386"/>
                  </a:cubicBezTo>
                  <a:lnTo>
                    <a:pt x="35580" y="224386"/>
                  </a:lnTo>
                  <a:cubicBezTo>
                    <a:pt x="26144" y="224386"/>
                    <a:pt x="17094" y="220637"/>
                    <a:pt x="10421" y="213964"/>
                  </a:cubicBezTo>
                  <a:cubicBezTo>
                    <a:pt x="3749" y="207292"/>
                    <a:pt x="0" y="198242"/>
                    <a:pt x="0" y="188806"/>
                  </a:cubicBezTo>
                  <a:lnTo>
                    <a:pt x="0" y="35580"/>
                  </a:lnTo>
                  <a:cubicBezTo>
                    <a:pt x="0" y="26144"/>
                    <a:pt x="3749" y="17094"/>
                    <a:pt x="10421" y="10421"/>
                  </a:cubicBezTo>
                  <a:cubicBezTo>
                    <a:pt x="17094" y="3749"/>
                    <a:pt x="26144" y="0"/>
                    <a:pt x="35580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859623" cy="205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7512059" y="5550371"/>
            <a:ext cx="326388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5~8차시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20968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5차시 · RAG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20968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7차시 · 배포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48493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6차시 · Skill &amp; MCP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48493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8차시 · 미니 프로젝트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3138723" y="4303307"/>
            <a:ext cx="4753926" cy="304800"/>
            <a:chOff x="0" y="0"/>
            <a:chExt cx="6338568" cy="406400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RAG 개념 (검색 + 생성)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119813" y="7251663"/>
            <a:ext cx="4753926" cy="304800"/>
            <a:chOff x="0" y="0"/>
            <a:chExt cx="6338568" cy="406400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클라우드 (GCP · AWS)</a:t>
              </a:r>
            </a:p>
          </p:txBody>
        </p:sp>
        <p:sp>
          <p:nvSpPr>
            <p:cNvPr name="Freeform 42" id="42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593285" y="4303307"/>
            <a:ext cx="4783659" cy="304800"/>
            <a:chOff x="0" y="0"/>
            <a:chExt cx="6378212" cy="406400"/>
          </a:xfrm>
        </p:grpSpPr>
        <p:sp>
          <p:nvSpPr>
            <p:cNvPr name="TextBox 44" id="44"/>
            <p:cNvSpPr txBox="true"/>
            <p:nvPr/>
          </p:nvSpPr>
          <p:spPr>
            <a:xfrm rot="0">
              <a:off x="303953" y="-76200"/>
              <a:ext cx="6074259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Skill · MCP의 이해</a:t>
              </a:r>
            </a:p>
          </p:txBody>
        </p:sp>
        <p:sp>
          <p:nvSpPr>
            <p:cNvPr name="Freeform 45" id="45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527560" y="7251663"/>
            <a:ext cx="4769930" cy="304800"/>
            <a:chOff x="0" y="0"/>
            <a:chExt cx="6359906" cy="406400"/>
          </a:xfrm>
        </p:grpSpPr>
        <p:sp>
          <p:nvSpPr>
            <p:cNvPr name="TextBox 47" id="47"/>
            <p:cNvSpPr txBox="true"/>
            <p:nvPr/>
          </p:nvSpPr>
          <p:spPr>
            <a:xfrm rot="0">
              <a:off x="303953" y="-76200"/>
              <a:ext cx="605595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내 아이디어를 직접 구현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3138723" y="4790276"/>
            <a:ext cx="4722467" cy="304800"/>
            <a:chOff x="0" y="0"/>
            <a:chExt cx="6296622" cy="406400"/>
          </a:xfrm>
        </p:grpSpPr>
        <p:sp>
          <p:nvSpPr>
            <p:cNvPr name="TextBox 50" id="50"/>
            <p:cNvSpPr txBox="true"/>
            <p:nvPr/>
          </p:nvSpPr>
          <p:spPr>
            <a:xfrm rot="0">
              <a:off x="303953" y="-76200"/>
              <a:ext cx="5992669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LangChain 기초 실습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3119813" y="7738632"/>
            <a:ext cx="4791747" cy="304800"/>
            <a:chOff x="0" y="0"/>
            <a:chExt cx="6388995" cy="40640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303953" y="-76200"/>
              <a:ext cx="6085042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Vercel · Railway로 배포</a:t>
              </a:r>
            </a:p>
          </p:txBody>
        </p:sp>
        <p:sp>
          <p:nvSpPr>
            <p:cNvPr name="Freeform 54" id="54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593285" y="4790276"/>
            <a:ext cx="4769655" cy="304800"/>
            <a:chOff x="0" y="0"/>
            <a:chExt cx="6359540" cy="40640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303953" y="-76200"/>
              <a:ext cx="605558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나만의 Skill 만들기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527560" y="7738632"/>
            <a:ext cx="4769930" cy="304800"/>
            <a:chOff x="0" y="0"/>
            <a:chExt cx="6359906" cy="406400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03953" y="-76200"/>
              <a:ext cx="605595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결과 공유 → 해커톤 준비!</a:t>
              </a:r>
            </a:p>
          </p:txBody>
        </p:sp>
        <p:sp>
          <p:nvSpPr>
            <p:cNvPr name="Freeform 60" id="60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AutoShape 61" id="61"/>
          <p:cNvSpPr/>
          <p:nvPr/>
        </p:nvSpPr>
        <p:spPr>
          <a:xfrm flipV="true">
            <a:off x="3020968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3020968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10548493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10548493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- 8 -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이번 학기 목표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2944444" y="3048665"/>
            <a:ext cx="1906863" cy="1756697"/>
          </a:xfrm>
          <a:custGeom>
            <a:avLst/>
            <a:gdLst/>
            <a:ahLst/>
            <a:cxnLst/>
            <a:rect r="r" b="b" t="t" l="l"/>
            <a:pathLst>
              <a:path h="1756697" w="1906863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176076" y="3176873"/>
            <a:ext cx="1935847" cy="1500282"/>
          </a:xfrm>
          <a:custGeom>
            <a:avLst/>
            <a:gdLst/>
            <a:ahLst/>
            <a:cxnLst/>
            <a:rect r="r" b="b" t="t" l="l"/>
            <a:pathLst>
              <a:path h="1500282" w="1935847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80283" y="3112769"/>
            <a:ext cx="1638732" cy="1628490"/>
          </a:xfrm>
          <a:custGeom>
            <a:avLst/>
            <a:gdLst/>
            <a:ahLst/>
            <a:cxnLst/>
            <a:rect r="r" b="b" t="t" l="l"/>
            <a:pathLst>
              <a:path h="1628490" w="1638732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845660" y="5336790"/>
            <a:ext cx="4104431" cy="3111812"/>
            <a:chOff x="0" y="0"/>
            <a:chExt cx="5472575" cy="4149082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326998" y="2356477"/>
              <a:ext cx="4818580" cy="1792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Antigravity로</a:t>
              </a:r>
            </a:p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나만의 AI 개발 환경</a:t>
              </a:r>
            </a:p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완성하기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STEP 1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환경 구축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091784" y="5336790"/>
            <a:ext cx="4104431" cy="3111812"/>
            <a:chOff x="0" y="0"/>
            <a:chExt cx="5472575" cy="414908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275465" y="2356477"/>
              <a:ext cx="4921645" cy="1792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LLM · RAG · MCP</a:t>
              </a:r>
            </a:p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핵심 개념을</a:t>
              </a:r>
            </a:p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내 말로 설명하기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STEP 2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AI 이해하기</a:t>
              </a:r>
            </a:p>
          </p:txBody>
        </p:sp>
        <p:sp>
          <p:nvSpPr>
            <p:cNvPr name="Freeform 28" id="28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347433" y="5336790"/>
            <a:ext cx="4104431" cy="3111812"/>
            <a:chOff x="0" y="0"/>
            <a:chExt cx="5472575" cy="414908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344175" y="2356477"/>
              <a:ext cx="4784225" cy="1792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미니 프로젝트로</a:t>
              </a:r>
            </a:p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해커톤 아이디어</a:t>
              </a:r>
            </a:p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구현해 보기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STEP 3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직접 만들기</a:t>
              </a:r>
            </a:p>
          </p:txBody>
        </p:sp>
        <p:sp>
          <p:nvSpPr>
            <p:cNvPr name="Freeform 32" id="32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- 9 -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어떻게 공부할까?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7" id="17"/>
          <p:cNvSpPr/>
          <p:nvPr/>
        </p:nvSpPr>
        <p:spPr>
          <a:xfrm>
            <a:off x="6024486" y="2898323"/>
            <a:ext cx="0" cy="1053640"/>
          </a:xfrm>
          <a:prstGeom prst="line">
            <a:avLst/>
          </a:prstGeom>
          <a:ln cap="flat" w="9525">
            <a:solidFill>
              <a:srgbClr val="50535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8" id="18"/>
          <p:cNvSpPr txBox="true"/>
          <p:nvPr/>
        </p:nvSpPr>
        <p:spPr>
          <a:xfrm rot="0">
            <a:off x="3048547" y="3118668"/>
            <a:ext cx="263252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핵심 원칙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983625" y="3078692"/>
            <a:ext cx="840475" cy="714403"/>
          </a:xfrm>
          <a:custGeom>
            <a:avLst/>
            <a:gdLst/>
            <a:ahLst/>
            <a:cxnLst/>
            <a:rect r="r" b="b" t="t" l="l"/>
            <a:pathLst>
              <a:path h="714403" w="840475">
                <a:moveTo>
                  <a:pt x="0" y="0"/>
                </a:moveTo>
                <a:lnTo>
                  <a:pt x="840474" y="0"/>
                </a:lnTo>
                <a:lnTo>
                  <a:pt x="840474" y="714404"/>
                </a:lnTo>
                <a:lnTo>
                  <a:pt x="0" y="7144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506746" y="2933210"/>
            <a:ext cx="981654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코드를 외울 필요는 없어요!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AI에게 잘 설명하고, 결과를 확인하는 연습이 전부입니다.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705928" y="4639191"/>
            <a:ext cx="4832311" cy="3960188"/>
            <a:chOff x="0" y="0"/>
            <a:chExt cx="1272707" cy="104301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26923" y="4639191"/>
            <a:ext cx="4832311" cy="3960188"/>
            <a:chOff x="0" y="0"/>
            <a:chExt cx="1272707" cy="104301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747917" y="4639191"/>
            <a:ext cx="4832311" cy="3960188"/>
            <a:chOff x="0" y="0"/>
            <a:chExt cx="1272707" cy="104301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2212939" y="6825195"/>
            <a:ext cx="381154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보기만 하면 안 늘어요.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수업 중 꼭 같이 입력!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233350" y="6825195"/>
            <a:ext cx="381945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모르면 바로 질문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"이 코드 쉽게 설명해줘"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250849" y="6825195"/>
            <a:ext cx="3767925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만든 걸 단톡방에 공유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서로 보고 배우기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15302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직접 따라 하기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839668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AI에게 묻기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864034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결과 공유하기</a:t>
            </a:r>
          </a:p>
        </p:txBody>
      </p:sp>
      <p:sp>
        <p:nvSpPr>
          <p:cNvPr name="AutoShape 36" id="36"/>
          <p:cNvSpPr/>
          <p:nvPr/>
        </p:nvSpPr>
        <p:spPr>
          <a:xfrm>
            <a:off x="2037627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7061993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12086359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9" id="39"/>
          <p:cNvSpPr txBox="true"/>
          <p:nvPr/>
        </p:nvSpPr>
        <p:spPr>
          <a:xfrm rot="0">
            <a:off x="2893526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TIP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947534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TIP 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939267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TIP 03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3173163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3" y="0"/>
                </a:lnTo>
                <a:lnTo>
                  <a:pt x="180073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8233976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3" y="0"/>
                </a:lnTo>
                <a:lnTo>
                  <a:pt x="180073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13207771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2" y="0"/>
                </a:lnTo>
                <a:lnTo>
                  <a:pt x="180072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- 10 -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쉬는 시간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432477" y="5801544"/>
            <a:ext cx="11423046" cy="709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10분 쉬어 갈게요!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32477" y="6600042"/>
            <a:ext cx="11423046" cy="709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19:30에 다시 시작합니다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408845" y="7574259"/>
            <a:ext cx="7496762" cy="593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2.0이 아직 설치 안 된 분은 이 시간에 설치해 주세요!</a:t>
            </a:r>
          </a:p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다음 파트에서 바로 실습합니다.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Freeform 21" id="21" descr="녹차 한 잔과 노트북, 시계가 있는 휴식 일러스트"/>
          <p:cNvSpPr/>
          <p:nvPr/>
        </p:nvSpPr>
        <p:spPr>
          <a:xfrm flipH="false" flipV="false" rot="0">
            <a:off x="6191250" y="2143125"/>
            <a:ext cx="5905500" cy="3324225"/>
          </a:xfrm>
          <a:custGeom>
            <a:avLst/>
            <a:gdLst/>
            <a:ahLst/>
            <a:cxnLst/>
            <a:rect r="r" b="b" t="t" l="l"/>
            <a:pathLst>
              <a:path h="3324225" w="5905500">
                <a:moveTo>
                  <a:pt x="0" y="0"/>
                </a:moveTo>
                <a:lnTo>
                  <a:pt x="5905500" y="0"/>
                </a:lnTo>
                <a:lnTo>
                  <a:pt x="5905500" y="3324225"/>
                </a:lnTo>
                <a:lnTo>
                  <a:pt x="0" y="33242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7" t="0" r="-147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PART 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12382500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⏱ 교육 시간 20분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1047750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도구 소개 · 2.0 vs IDE · 자기소개 페이지 실습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AI 에이전트가 계획하고 코드를 작성하고 실행·확인하는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3714" r="0" b="-3714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에이전트 == 스스로 일하는 AI 비서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Google 계정으로 무료 시작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8차시 내내 사용할 메인 도구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7042754" cy="547878"/>
            <a:chOff x="0" y="0"/>
            <a:chExt cx="9390339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8890000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구글의 AI 에이전트 도구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Antigravity란?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할 일을 말로 맡기면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에이전트가 계획 → 코드 작성 → 실행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결과까지 스스로 확인!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- 13 -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4가지 도구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2898323"/>
            <a:ext cx="7335408" cy="2752701"/>
            <a:chOff x="0" y="0"/>
            <a:chExt cx="1931959" cy="7249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17296" y="5846679"/>
            <a:ext cx="7335408" cy="2752701"/>
            <a:chOff x="0" y="0"/>
            <a:chExt cx="1931959" cy="724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44821" y="2898323"/>
            <a:ext cx="7335408" cy="2752701"/>
            <a:chOff x="0" y="0"/>
            <a:chExt cx="1931959" cy="7249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44821" y="5846679"/>
            <a:ext cx="7335408" cy="2752701"/>
            <a:chOff x="0" y="0"/>
            <a:chExt cx="1931959" cy="724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512059" y="5378921"/>
            <a:ext cx="3263882" cy="851964"/>
            <a:chOff x="0" y="0"/>
            <a:chExt cx="859623" cy="2243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59623" cy="224386"/>
            </a:xfrm>
            <a:custGeom>
              <a:avLst/>
              <a:gdLst/>
              <a:ahLst/>
              <a:cxnLst/>
              <a:rect r="r" b="b" t="t" l="l"/>
              <a:pathLst>
                <a:path h="224386" w="859623">
                  <a:moveTo>
                    <a:pt x="35580" y="0"/>
                  </a:moveTo>
                  <a:lnTo>
                    <a:pt x="824043" y="0"/>
                  </a:lnTo>
                  <a:cubicBezTo>
                    <a:pt x="833480" y="0"/>
                    <a:pt x="842530" y="3749"/>
                    <a:pt x="849202" y="10421"/>
                  </a:cubicBezTo>
                  <a:cubicBezTo>
                    <a:pt x="855875" y="17094"/>
                    <a:pt x="859623" y="26144"/>
                    <a:pt x="859623" y="35580"/>
                  </a:cubicBezTo>
                  <a:lnTo>
                    <a:pt x="859623" y="188806"/>
                  </a:lnTo>
                  <a:cubicBezTo>
                    <a:pt x="859623" y="208456"/>
                    <a:pt x="843694" y="224386"/>
                    <a:pt x="824043" y="224386"/>
                  </a:cubicBezTo>
                  <a:lnTo>
                    <a:pt x="35580" y="224386"/>
                  </a:lnTo>
                  <a:cubicBezTo>
                    <a:pt x="26144" y="224386"/>
                    <a:pt x="17094" y="220637"/>
                    <a:pt x="10421" y="213964"/>
                  </a:cubicBezTo>
                  <a:cubicBezTo>
                    <a:pt x="3749" y="207292"/>
                    <a:pt x="0" y="198242"/>
                    <a:pt x="0" y="188806"/>
                  </a:cubicBezTo>
                  <a:lnTo>
                    <a:pt x="0" y="35580"/>
                  </a:lnTo>
                  <a:cubicBezTo>
                    <a:pt x="0" y="26144"/>
                    <a:pt x="3749" y="17094"/>
                    <a:pt x="10421" y="10421"/>
                  </a:cubicBezTo>
                  <a:cubicBezTo>
                    <a:pt x="17094" y="3749"/>
                    <a:pt x="26144" y="0"/>
                    <a:pt x="35580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859623" cy="205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7512059" y="5550371"/>
            <a:ext cx="326388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4가지 Surface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20968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2.0 (필수)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20968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CLI (선택)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48493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IDE (필수)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48493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SDK (선택)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3122994" y="4303307"/>
            <a:ext cx="4785385" cy="304800"/>
            <a:chOff x="0" y="0"/>
            <a:chExt cx="6380513" cy="406400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에이전트 대화 중심의 데스크톱 앱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135542" y="7251663"/>
            <a:ext cx="4753926" cy="304800"/>
            <a:chOff x="0" y="0"/>
            <a:chExt cx="6338568" cy="406400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터미널에서 실행하는 에이전트</a:t>
              </a:r>
            </a:p>
          </p:txBody>
        </p:sp>
        <p:sp>
          <p:nvSpPr>
            <p:cNvPr name="Freeform 42" id="42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592422" y="4303307"/>
            <a:ext cx="4752200" cy="304800"/>
            <a:chOff x="0" y="0"/>
            <a:chExt cx="6336266" cy="406400"/>
          </a:xfrm>
        </p:grpSpPr>
        <p:sp>
          <p:nvSpPr>
            <p:cNvPr name="TextBox 44" id="44"/>
            <p:cNvSpPr txBox="true"/>
            <p:nvPr/>
          </p:nvSpPr>
          <p:spPr>
            <a:xfrm rot="0">
              <a:off x="303953" y="-76200"/>
              <a:ext cx="60323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VS Code 기반의 코드 편집기</a:t>
              </a:r>
            </a:p>
          </p:txBody>
        </p:sp>
        <p:sp>
          <p:nvSpPr>
            <p:cNvPr name="Freeform 45" id="45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503966" y="7251663"/>
            <a:ext cx="4785659" cy="304800"/>
            <a:chOff x="0" y="0"/>
            <a:chExt cx="6380879" cy="406400"/>
          </a:xfrm>
        </p:grpSpPr>
        <p:sp>
          <p:nvSpPr>
            <p:cNvPr name="TextBox 47" id="47"/>
            <p:cNvSpPr txBox="true"/>
            <p:nvPr/>
          </p:nvSpPr>
          <p:spPr>
            <a:xfrm rot="0">
              <a:off x="303953" y="-76200"/>
              <a:ext cx="6076926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에이전트를 만드는 Python 라이브러리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3122994" y="4790276"/>
            <a:ext cx="4753926" cy="304800"/>
            <a:chOff x="0" y="0"/>
            <a:chExt cx="6338568" cy="406400"/>
          </a:xfrm>
        </p:grpSpPr>
        <p:sp>
          <p:nvSpPr>
            <p:cNvPr name="TextBox 50" id="50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여러 작업을 동시에 맡깁니다.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3135542" y="7738632"/>
            <a:ext cx="4760288" cy="304800"/>
            <a:chOff x="0" y="0"/>
            <a:chExt cx="6347050" cy="40640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303953" y="-76200"/>
              <a:ext cx="604309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실행 명령어는 agy 입니다.</a:t>
              </a:r>
            </a:p>
          </p:txBody>
        </p:sp>
        <p:sp>
          <p:nvSpPr>
            <p:cNvPr name="Freeform 54" id="54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592422" y="4790276"/>
            <a:ext cx="4785385" cy="304800"/>
            <a:chOff x="0" y="0"/>
            <a:chExt cx="6380513" cy="40640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수정 내용을 한 줄씩 확인합니다.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503966" y="7738632"/>
            <a:ext cx="4817118" cy="304800"/>
            <a:chOff x="0" y="0"/>
            <a:chExt cx="6422824" cy="406400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03953" y="-76200"/>
              <a:ext cx="6118871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pip install google-antigravity</a:t>
              </a:r>
            </a:p>
          </p:txBody>
        </p:sp>
        <p:sp>
          <p:nvSpPr>
            <p:cNvPr name="Freeform 60" id="60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AutoShape 61" id="61"/>
          <p:cNvSpPr/>
          <p:nvPr/>
        </p:nvSpPr>
        <p:spPr>
          <a:xfrm>
            <a:off x="3020968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3020968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 flipV="true">
            <a:off x="10548493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10548493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- 14 -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2.0과 IDE의 차이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1717296" y="3731994"/>
          <a:ext cx="14853407" cy="3917157"/>
        </p:xfrm>
        <a:graphic>
          <a:graphicData uri="http://schemas.openxmlformats.org/drawingml/2006/table">
            <a:tbl>
              <a:tblPr/>
              <a:tblGrid>
                <a:gridCol w="3495006"/>
                <a:gridCol w="3931697"/>
                <a:gridCol w="7426704"/>
              </a:tblGrid>
              <a:tr h="8999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구분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2.0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IDE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중심 화면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대화 화면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코드 편집기 (VS Code 기반)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에디터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없음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있음. 에이전트의 수정 내용을 한 줄씩 확인 가능!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아이콘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흰색 배경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검은색 격자. 실행 시 혼동하지 않도록 주의!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적합한 상황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병렬 작업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코드 학습과 세밀한 검토. 두 앱은 함께 설치해도 충돌하지 않음!!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- 15 -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5505213" y="2438623"/>
            <a:ext cx="7277574" cy="4940289"/>
            <a:chOff x="0" y="0"/>
            <a:chExt cx="1283210" cy="87109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871091"/>
            </a:xfrm>
            <a:custGeom>
              <a:avLst/>
              <a:gdLst/>
              <a:ahLst/>
              <a:cxnLst/>
              <a:rect r="r" b="b" t="t" l="l"/>
              <a:pathLst>
                <a:path h="871091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855134"/>
                  </a:lnTo>
                  <a:cubicBezTo>
                    <a:pt x="1283210" y="859366"/>
                    <a:pt x="1281529" y="863425"/>
                    <a:pt x="1278536" y="866417"/>
                  </a:cubicBezTo>
                  <a:cubicBezTo>
                    <a:pt x="1275544" y="869410"/>
                    <a:pt x="1271485" y="871091"/>
                    <a:pt x="1267253" y="871091"/>
                  </a:cubicBezTo>
                  <a:lnTo>
                    <a:pt x="15957" y="871091"/>
                  </a:lnTo>
                  <a:cubicBezTo>
                    <a:pt x="7144" y="871091"/>
                    <a:pt x="0" y="863947"/>
                    <a:pt x="0" y="855134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-1521" t="0" r="-6944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IDE 설치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807270" y="8349615"/>
            <a:ext cx="6673459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흰색 배경</a:t>
            </a:r>
            <a:r>
              <a:rPr lang="en-US" sz="2400" spc="-48" strike="noStrike" u="none">
                <a:solidFill>
                  <a:srgbClr val="000000"/>
                </a:solidFill>
                <a:latin typeface="프리젠테이션"/>
                <a:ea typeface="프리젠테이션"/>
                <a:cs typeface="프리젠테이션"/>
                <a:sym typeface="프리젠테이션"/>
              </a:rPr>
              <a:t> </a:t>
            </a:r>
            <a:r>
              <a:rPr lang="en-US" b="true" sz="2400" spc="-48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</a:t>
            </a:r>
            <a:r>
              <a:rPr lang="en-US" sz="2400" spc="-48" strike="noStrike" u="none">
                <a:solidFill>
                  <a:srgbClr val="000000"/>
                </a:solidFill>
                <a:latin typeface="프리젠테이션"/>
                <a:ea typeface="프리젠테이션"/>
                <a:cs typeface="프리젠테이션"/>
                <a:sym typeface="프리젠테이션"/>
              </a:rPr>
              <a:t> </a:t>
            </a:r>
            <a:r>
              <a:rPr lang="en-US" b="true" sz="2400" spc="-48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2.0</a:t>
            </a:r>
          </a:p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검은색 격자</a:t>
            </a:r>
            <a:r>
              <a:rPr lang="en-US" b="true" sz="2400" spc="-48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 -</a:t>
            </a:r>
            <a:r>
              <a:rPr lang="en-US" sz="2400" spc="-48" strike="noStrike" u="none">
                <a:solidFill>
                  <a:srgbClr val="000000"/>
                </a:solidFill>
                <a:latin typeface="프리젠테이션"/>
                <a:ea typeface="프리젠테이션"/>
                <a:cs typeface="프리젠테이션"/>
                <a:sym typeface="프리젠테이션"/>
              </a:rPr>
              <a:t> </a:t>
            </a:r>
            <a:r>
              <a:rPr lang="en-US" b="true" sz="2400" spc="-48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IDE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08200" y="7767845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아이콘 구분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- 16 -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두 앱 함께 쓰기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6224694"/>
            <a:ext cx="4764905" cy="2374686"/>
            <a:chOff x="0" y="0"/>
            <a:chExt cx="1254954" cy="62543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54954" cy="625432"/>
            </a:xfrm>
            <a:custGeom>
              <a:avLst/>
              <a:gdLst/>
              <a:ahLst/>
              <a:cxnLst/>
              <a:rect r="r" b="b" t="t" l="l"/>
              <a:pathLst>
                <a:path h="625432" w="1254954">
                  <a:moveTo>
                    <a:pt x="24372" y="0"/>
                  </a:moveTo>
                  <a:lnTo>
                    <a:pt x="1230583" y="0"/>
                  </a:lnTo>
                  <a:cubicBezTo>
                    <a:pt x="1237046" y="0"/>
                    <a:pt x="1243246" y="2568"/>
                    <a:pt x="1247816" y="7138"/>
                  </a:cubicBezTo>
                  <a:cubicBezTo>
                    <a:pt x="1252387" y="11709"/>
                    <a:pt x="1254954" y="17908"/>
                    <a:pt x="1254954" y="24372"/>
                  </a:cubicBezTo>
                  <a:lnTo>
                    <a:pt x="1254954" y="601060"/>
                  </a:lnTo>
                  <a:cubicBezTo>
                    <a:pt x="1254954" y="607524"/>
                    <a:pt x="1252387" y="613723"/>
                    <a:pt x="1247816" y="618293"/>
                  </a:cubicBezTo>
                  <a:cubicBezTo>
                    <a:pt x="1243246" y="622864"/>
                    <a:pt x="1237046" y="625432"/>
                    <a:pt x="1230583" y="625432"/>
                  </a:cubicBezTo>
                  <a:lnTo>
                    <a:pt x="24372" y="625432"/>
                  </a:lnTo>
                  <a:cubicBezTo>
                    <a:pt x="10912" y="625432"/>
                    <a:pt x="0" y="614520"/>
                    <a:pt x="0" y="601060"/>
                  </a:cubicBezTo>
                  <a:lnTo>
                    <a:pt x="0" y="24372"/>
                  </a:lnTo>
                  <a:cubicBezTo>
                    <a:pt x="0" y="10912"/>
                    <a:pt x="10912" y="0"/>
                    <a:pt x="24372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254954" cy="6063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761548" y="6224694"/>
            <a:ext cx="4764905" cy="2374686"/>
            <a:chOff x="0" y="0"/>
            <a:chExt cx="1254954" cy="62543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54954" cy="625432"/>
            </a:xfrm>
            <a:custGeom>
              <a:avLst/>
              <a:gdLst/>
              <a:ahLst/>
              <a:cxnLst/>
              <a:rect r="r" b="b" t="t" l="l"/>
              <a:pathLst>
                <a:path h="625432" w="1254954">
                  <a:moveTo>
                    <a:pt x="24372" y="0"/>
                  </a:moveTo>
                  <a:lnTo>
                    <a:pt x="1230583" y="0"/>
                  </a:lnTo>
                  <a:cubicBezTo>
                    <a:pt x="1237046" y="0"/>
                    <a:pt x="1243246" y="2568"/>
                    <a:pt x="1247816" y="7138"/>
                  </a:cubicBezTo>
                  <a:cubicBezTo>
                    <a:pt x="1252387" y="11709"/>
                    <a:pt x="1254954" y="17908"/>
                    <a:pt x="1254954" y="24372"/>
                  </a:cubicBezTo>
                  <a:lnTo>
                    <a:pt x="1254954" y="601060"/>
                  </a:lnTo>
                  <a:cubicBezTo>
                    <a:pt x="1254954" y="607524"/>
                    <a:pt x="1252387" y="613723"/>
                    <a:pt x="1247816" y="618293"/>
                  </a:cubicBezTo>
                  <a:cubicBezTo>
                    <a:pt x="1243246" y="622864"/>
                    <a:pt x="1237046" y="625432"/>
                    <a:pt x="1230583" y="625432"/>
                  </a:cubicBezTo>
                  <a:lnTo>
                    <a:pt x="24372" y="625432"/>
                  </a:lnTo>
                  <a:cubicBezTo>
                    <a:pt x="10912" y="625432"/>
                    <a:pt x="0" y="614520"/>
                    <a:pt x="0" y="601060"/>
                  </a:cubicBezTo>
                  <a:lnTo>
                    <a:pt x="0" y="24372"/>
                  </a:lnTo>
                  <a:cubicBezTo>
                    <a:pt x="0" y="10912"/>
                    <a:pt x="10912" y="0"/>
                    <a:pt x="24372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254954" cy="6063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805799" y="6224694"/>
            <a:ext cx="4764905" cy="2374686"/>
            <a:chOff x="0" y="0"/>
            <a:chExt cx="1254954" cy="6254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54954" cy="625432"/>
            </a:xfrm>
            <a:custGeom>
              <a:avLst/>
              <a:gdLst/>
              <a:ahLst/>
              <a:cxnLst/>
              <a:rect r="r" b="b" t="t" l="l"/>
              <a:pathLst>
                <a:path h="625432" w="1254954">
                  <a:moveTo>
                    <a:pt x="24372" y="0"/>
                  </a:moveTo>
                  <a:lnTo>
                    <a:pt x="1230583" y="0"/>
                  </a:lnTo>
                  <a:cubicBezTo>
                    <a:pt x="1237046" y="0"/>
                    <a:pt x="1243246" y="2568"/>
                    <a:pt x="1247816" y="7138"/>
                  </a:cubicBezTo>
                  <a:cubicBezTo>
                    <a:pt x="1252387" y="11709"/>
                    <a:pt x="1254954" y="17908"/>
                    <a:pt x="1254954" y="24372"/>
                  </a:cubicBezTo>
                  <a:lnTo>
                    <a:pt x="1254954" y="601060"/>
                  </a:lnTo>
                  <a:cubicBezTo>
                    <a:pt x="1254954" y="607524"/>
                    <a:pt x="1252387" y="613723"/>
                    <a:pt x="1247816" y="618293"/>
                  </a:cubicBezTo>
                  <a:cubicBezTo>
                    <a:pt x="1243246" y="622864"/>
                    <a:pt x="1237046" y="625432"/>
                    <a:pt x="1230583" y="625432"/>
                  </a:cubicBezTo>
                  <a:lnTo>
                    <a:pt x="24372" y="625432"/>
                  </a:lnTo>
                  <a:cubicBezTo>
                    <a:pt x="10912" y="625432"/>
                    <a:pt x="0" y="614520"/>
                    <a:pt x="0" y="601060"/>
                  </a:cubicBezTo>
                  <a:lnTo>
                    <a:pt x="0" y="24372"/>
                  </a:lnTo>
                  <a:cubicBezTo>
                    <a:pt x="0" y="10912"/>
                    <a:pt x="10912" y="0"/>
                    <a:pt x="24372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254954" cy="6063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850791" y="6346150"/>
            <a:ext cx="4505671" cy="787186"/>
            <a:chOff x="0" y="0"/>
            <a:chExt cx="1186679" cy="20732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86679" cy="207325"/>
            </a:xfrm>
            <a:custGeom>
              <a:avLst/>
              <a:gdLst/>
              <a:ahLst/>
              <a:cxnLst/>
              <a:rect r="r" b="b" t="t" l="l"/>
              <a:pathLst>
                <a:path h="207325" w="1186679">
                  <a:moveTo>
                    <a:pt x="20619" y="0"/>
                  </a:moveTo>
                  <a:lnTo>
                    <a:pt x="1166060" y="0"/>
                  </a:lnTo>
                  <a:cubicBezTo>
                    <a:pt x="1171528" y="0"/>
                    <a:pt x="1176773" y="2172"/>
                    <a:pt x="1180640" y="6039"/>
                  </a:cubicBezTo>
                  <a:cubicBezTo>
                    <a:pt x="1184506" y="9906"/>
                    <a:pt x="1186679" y="15151"/>
                    <a:pt x="1186679" y="20619"/>
                  </a:cubicBezTo>
                  <a:lnTo>
                    <a:pt x="1186679" y="186706"/>
                  </a:lnTo>
                  <a:cubicBezTo>
                    <a:pt x="1186679" y="192174"/>
                    <a:pt x="1184506" y="197419"/>
                    <a:pt x="1180640" y="201286"/>
                  </a:cubicBezTo>
                  <a:cubicBezTo>
                    <a:pt x="1176773" y="205152"/>
                    <a:pt x="1171528" y="207325"/>
                    <a:pt x="1166060" y="207325"/>
                  </a:cubicBezTo>
                  <a:lnTo>
                    <a:pt x="20619" y="207325"/>
                  </a:lnTo>
                  <a:cubicBezTo>
                    <a:pt x="9232" y="207325"/>
                    <a:pt x="0" y="198093"/>
                    <a:pt x="0" y="186706"/>
                  </a:cubicBezTo>
                  <a:lnTo>
                    <a:pt x="0" y="20619"/>
                  </a:lnTo>
                  <a:cubicBezTo>
                    <a:pt x="0" y="9232"/>
                    <a:pt x="9232" y="0"/>
                    <a:pt x="20619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186679" cy="188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891165" y="6346150"/>
            <a:ext cx="4505671" cy="787186"/>
            <a:chOff x="0" y="0"/>
            <a:chExt cx="1186679" cy="20732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186679" cy="207325"/>
            </a:xfrm>
            <a:custGeom>
              <a:avLst/>
              <a:gdLst/>
              <a:ahLst/>
              <a:cxnLst/>
              <a:rect r="r" b="b" t="t" l="l"/>
              <a:pathLst>
                <a:path h="207325" w="1186679">
                  <a:moveTo>
                    <a:pt x="20619" y="0"/>
                  </a:moveTo>
                  <a:lnTo>
                    <a:pt x="1166060" y="0"/>
                  </a:lnTo>
                  <a:cubicBezTo>
                    <a:pt x="1171528" y="0"/>
                    <a:pt x="1176773" y="2172"/>
                    <a:pt x="1180640" y="6039"/>
                  </a:cubicBezTo>
                  <a:cubicBezTo>
                    <a:pt x="1184506" y="9906"/>
                    <a:pt x="1186679" y="15151"/>
                    <a:pt x="1186679" y="20619"/>
                  </a:cubicBezTo>
                  <a:lnTo>
                    <a:pt x="1186679" y="186706"/>
                  </a:lnTo>
                  <a:cubicBezTo>
                    <a:pt x="1186679" y="192174"/>
                    <a:pt x="1184506" y="197419"/>
                    <a:pt x="1180640" y="201286"/>
                  </a:cubicBezTo>
                  <a:cubicBezTo>
                    <a:pt x="1176773" y="205152"/>
                    <a:pt x="1171528" y="207325"/>
                    <a:pt x="1166060" y="207325"/>
                  </a:cubicBezTo>
                  <a:lnTo>
                    <a:pt x="20619" y="207325"/>
                  </a:lnTo>
                  <a:cubicBezTo>
                    <a:pt x="9232" y="207325"/>
                    <a:pt x="0" y="198093"/>
                    <a:pt x="0" y="186706"/>
                  </a:cubicBezTo>
                  <a:lnTo>
                    <a:pt x="0" y="20619"/>
                  </a:lnTo>
                  <a:cubicBezTo>
                    <a:pt x="0" y="9232"/>
                    <a:pt x="9232" y="0"/>
                    <a:pt x="20619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1186679" cy="188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1935416" y="6346150"/>
            <a:ext cx="4505671" cy="787186"/>
            <a:chOff x="0" y="0"/>
            <a:chExt cx="1186679" cy="20732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86679" cy="207325"/>
            </a:xfrm>
            <a:custGeom>
              <a:avLst/>
              <a:gdLst/>
              <a:ahLst/>
              <a:cxnLst/>
              <a:rect r="r" b="b" t="t" l="l"/>
              <a:pathLst>
                <a:path h="207325" w="1186679">
                  <a:moveTo>
                    <a:pt x="20619" y="0"/>
                  </a:moveTo>
                  <a:lnTo>
                    <a:pt x="1166060" y="0"/>
                  </a:lnTo>
                  <a:cubicBezTo>
                    <a:pt x="1171528" y="0"/>
                    <a:pt x="1176773" y="2172"/>
                    <a:pt x="1180640" y="6039"/>
                  </a:cubicBezTo>
                  <a:cubicBezTo>
                    <a:pt x="1184506" y="9906"/>
                    <a:pt x="1186679" y="15151"/>
                    <a:pt x="1186679" y="20619"/>
                  </a:cubicBezTo>
                  <a:lnTo>
                    <a:pt x="1186679" y="186706"/>
                  </a:lnTo>
                  <a:cubicBezTo>
                    <a:pt x="1186679" y="192174"/>
                    <a:pt x="1184506" y="197419"/>
                    <a:pt x="1180640" y="201286"/>
                  </a:cubicBezTo>
                  <a:cubicBezTo>
                    <a:pt x="1176773" y="205152"/>
                    <a:pt x="1171528" y="207325"/>
                    <a:pt x="1166060" y="207325"/>
                  </a:cubicBezTo>
                  <a:lnTo>
                    <a:pt x="20619" y="207325"/>
                  </a:lnTo>
                  <a:cubicBezTo>
                    <a:pt x="9232" y="207325"/>
                    <a:pt x="0" y="198093"/>
                    <a:pt x="0" y="186706"/>
                  </a:cubicBezTo>
                  <a:lnTo>
                    <a:pt x="0" y="20619"/>
                  </a:lnTo>
                  <a:cubicBezTo>
                    <a:pt x="0" y="9232"/>
                    <a:pt x="9232" y="0"/>
                    <a:pt x="20619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19050"/>
              <a:ext cx="1186679" cy="188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717296" y="3537442"/>
            <a:ext cx="14853407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두 앱은 디스크의 같은 파일을 읽고 씀!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2.0에서 에이전트가 코드를 고치면 IDE 화면에 바로 반영됨!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915859" y="6462734"/>
            <a:ext cx="2367780" cy="498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87"/>
              </a:lnSpc>
              <a:spcBef>
                <a:spcPct val="0"/>
              </a:spcBef>
            </a:pPr>
            <a:r>
              <a:rPr lang="en-US" b="true" sz="2799" spc="-5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같은 폴더 열기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960110" y="6462734"/>
            <a:ext cx="2367780" cy="498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87"/>
              </a:lnSpc>
              <a:spcBef>
                <a:spcPct val="0"/>
              </a:spcBef>
            </a:pPr>
            <a:r>
              <a:rPr lang="en-US" b="true" sz="2799" spc="-5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역할 나누기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004361" y="6462734"/>
            <a:ext cx="2367780" cy="498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87"/>
              </a:lnSpc>
              <a:spcBef>
                <a:spcPct val="0"/>
              </a:spcBef>
            </a:pPr>
            <a:r>
              <a:rPr lang="en-US" b="true" sz="2799" spc="-5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확장 설치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083245" y="7545387"/>
            <a:ext cx="3994907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두 앱에서 동일한 프로젝트 폴더 지정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127496" y="7354887"/>
            <a:ext cx="399490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작업은 2.0에!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검토는 IDE에서!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171748" y="7354887"/>
            <a:ext cx="399490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OpenVSX에 없으면,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.vsix 파일로 설치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717296" y="2817559"/>
            <a:ext cx="3903318" cy="555498"/>
            <a:chOff x="0" y="0"/>
            <a:chExt cx="5204424" cy="740664"/>
          </a:xfrm>
        </p:grpSpPr>
        <p:sp>
          <p:nvSpPr>
            <p:cNvPr name="TextBox 43" id="43"/>
            <p:cNvSpPr txBox="true"/>
            <p:nvPr/>
          </p:nvSpPr>
          <p:spPr>
            <a:xfrm rot="0">
              <a:off x="500339" y="76200"/>
              <a:ext cx="4704085" cy="664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함께 쓰는 원리</a:t>
              </a:r>
            </a:p>
          </p:txBody>
        </p:sp>
        <p:sp>
          <p:nvSpPr>
            <p:cNvPr name="Freeform 44" id="44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717296" y="5336887"/>
            <a:ext cx="3903318" cy="555498"/>
            <a:chOff x="0" y="0"/>
            <a:chExt cx="5204424" cy="740664"/>
          </a:xfrm>
        </p:grpSpPr>
        <p:sp>
          <p:nvSpPr>
            <p:cNvPr name="TextBox 46" id="46"/>
            <p:cNvSpPr txBox="true"/>
            <p:nvPr/>
          </p:nvSpPr>
          <p:spPr>
            <a:xfrm rot="0">
              <a:off x="500339" y="76200"/>
              <a:ext cx="4704085" cy="664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사용 요령</a:t>
              </a:r>
            </a:p>
          </p:txBody>
        </p:sp>
        <p:sp>
          <p:nvSpPr>
            <p:cNvPr name="Freeform 47" id="4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48" id="4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- 17 -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잘 쓰는 법: 프롬프트 3원칙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7" id="17"/>
          <p:cNvSpPr/>
          <p:nvPr/>
        </p:nvSpPr>
        <p:spPr>
          <a:xfrm>
            <a:off x="6024486" y="2898323"/>
            <a:ext cx="0" cy="1053640"/>
          </a:xfrm>
          <a:prstGeom prst="line">
            <a:avLst/>
          </a:prstGeom>
          <a:ln cap="flat" w="9525">
            <a:solidFill>
              <a:srgbClr val="50535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8" id="18"/>
          <p:cNvSpPr txBox="true"/>
          <p:nvPr/>
        </p:nvSpPr>
        <p:spPr>
          <a:xfrm rot="0">
            <a:off x="3048547" y="3118668"/>
            <a:ext cx="263252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프롬프트란?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983625" y="3078692"/>
            <a:ext cx="840475" cy="714403"/>
          </a:xfrm>
          <a:custGeom>
            <a:avLst/>
            <a:gdLst/>
            <a:ahLst/>
            <a:cxnLst/>
            <a:rect r="r" b="b" t="t" l="l"/>
            <a:pathLst>
              <a:path h="714403" w="840475">
                <a:moveTo>
                  <a:pt x="0" y="0"/>
                </a:moveTo>
                <a:lnTo>
                  <a:pt x="840474" y="0"/>
                </a:lnTo>
                <a:lnTo>
                  <a:pt x="840474" y="714404"/>
                </a:lnTo>
                <a:lnTo>
                  <a:pt x="0" y="7144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506746" y="2933210"/>
            <a:ext cx="981654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AI에게 보내는 '작업 지시서'예요.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지시가 명확할수록 결과가 좋아집니다!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705928" y="4639191"/>
            <a:ext cx="4832311" cy="3960188"/>
            <a:chOff x="0" y="0"/>
            <a:chExt cx="1272707" cy="104301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26923" y="4639191"/>
            <a:ext cx="4832311" cy="3960188"/>
            <a:chOff x="0" y="0"/>
            <a:chExt cx="1272707" cy="104301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747917" y="4639191"/>
            <a:ext cx="4832311" cy="3960188"/>
            <a:chOff x="0" y="0"/>
            <a:chExt cx="1272707" cy="104301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2212939" y="6825195"/>
            <a:ext cx="381154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무엇을 · 어떻게 · 어떤 모습으로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색, 내용, 파일명까지!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233350" y="6825195"/>
            <a:ext cx="381945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큰 일은 작게 나눠서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단계별로 요청하기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250849" y="6825195"/>
            <a:ext cx="3767925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결과를 직접 열어 보고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마음에 안 들면 다시 요청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15302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구체적으로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839668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한 번에 하나씩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864034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확인하고 고치기</a:t>
            </a:r>
          </a:p>
        </p:txBody>
      </p:sp>
      <p:sp>
        <p:nvSpPr>
          <p:cNvPr name="AutoShape 36" id="36"/>
          <p:cNvSpPr/>
          <p:nvPr/>
        </p:nvSpPr>
        <p:spPr>
          <a:xfrm>
            <a:off x="2037627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7061993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12086359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9" id="39"/>
          <p:cNvSpPr txBox="true"/>
          <p:nvPr/>
        </p:nvSpPr>
        <p:spPr>
          <a:xfrm rot="0">
            <a:off x="2893526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원칙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947534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원칙 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939267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원칙 03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3173163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3" y="0"/>
                </a:lnTo>
                <a:lnTo>
                  <a:pt x="180073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8233976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3" y="0"/>
                </a:lnTo>
                <a:lnTo>
                  <a:pt x="180073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13207771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2" y="0"/>
                </a:lnTo>
                <a:lnTo>
                  <a:pt x="180072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- 18 -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나쁜 프롬프트 vs 좋은 프롬프트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1717296" y="3352813"/>
          <a:ext cx="14608955" cy="4949667"/>
        </p:xfrm>
        <a:graphic>
          <a:graphicData uri="http://schemas.openxmlformats.org/drawingml/2006/table">
            <a:tbl>
              <a:tblPr/>
              <a:tblGrid>
                <a:gridCol w="2818077"/>
                <a:gridCol w="3228298"/>
                <a:gridCol w="8562580"/>
              </a:tblGrid>
              <a:tr h="899463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상황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나쁜 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좋은 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109875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만들 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"홈페이지 만들어줘"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"내 이름·전공·관심사가 들어간 자기소개 페이지를 index.html 하나로 만들어줘"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875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고칠 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"예쁘게 해줘"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"배경은 연한 하늘색, 제목은 가운데 정렬하고 크게 해줘"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875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오류가 났을 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"안돼"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"버튼을 눌러도 아무 반응이 없어. 원인을 찾아서 고쳐줘"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3926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모를 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"이게 뭐야?"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"이 코드가 하는 일을 비전공자도 알 수 있게 3줄로 설명해줘"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- 19 -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1130521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811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채팅창에 "이 프로젝트 설명해줘" 입력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677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답변이 나오면 설치 성공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543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폴더 경로에 한글·공백은 피하기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130521" y="2884234"/>
            <a:ext cx="3903318" cy="555498"/>
            <a:chOff x="0" y="0"/>
            <a:chExt cx="5204424" cy="74066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64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프로젝트 생성 순서</a:t>
              </a:r>
            </a:p>
          </p:txBody>
        </p:sp>
      </p:grpSp>
      <p:sp>
        <p:nvSpPr>
          <p:cNvPr name="Freeform 29" id="29"/>
          <p:cNvSpPr/>
          <p:nvPr/>
        </p:nvSpPr>
        <p:spPr>
          <a:xfrm flipH="false" flipV="false" rot="0">
            <a:off x="987970" y="3439732"/>
            <a:ext cx="9731087" cy="4934461"/>
          </a:xfrm>
          <a:custGeom>
            <a:avLst/>
            <a:gdLst/>
            <a:ahLst/>
            <a:cxnLst/>
            <a:rect r="r" b="b" t="t" l="l"/>
            <a:pathLst>
              <a:path h="4934461" w="9731087">
                <a:moveTo>
                  <a:pt x="0" y="0"/>
                </a:moveTo>
                <a:lnTo>
                  <a:pt x="9731087" y="0"/>
                </a:lnTo>
                <a:lnTo>
                  <a:pt x="9731087" y="4934461"/>
                </a:lnTo>
                <a:lnTo>
                  <a:pt x="0" y="493446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0] 첫 프로젝트 만들기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130521" y="3604117"/>
            <a:ext cx="6429075" cy="1823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바탕화면에 my-intro 폴더를 만들기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Select Project → New Project를 선택하기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Add Folder로 만든 폴더를 지정하기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④ 보안 프리셋은 기본값을 사용하기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- 20 -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⏱ 약 5분 소요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에이전트가 파일을 만들 때까지 대기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실행 허락을 물으면 확인 후 허용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실습 순서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1] 자기소개 페이지 만들기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my-intro 폴더를 2.0에서 열기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왼쪽 프롬프트를 복사해 입력하기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이름·전공은 내 정보로 바꾸기!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💬 Antigravity 2.0 채팅창에 입력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3743325"/>
            <a:ext cx="7524750" cy="4090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나를 소개하는 웹페이지를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index.html 파일 하나로 만들어줘.</a:t>
            </a:r>
          </a:p>
          <a:p>
            <a:pPr algn="l">
              <a:lnSpc>
                <a:spcPts val="3262"/>
              </a:lnSpc>
            </a:pP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- 이름: 홍길동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- 전공: 경영학과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- 관심사: AI, 여행, 사진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- 한 줄 소개: "AI로 세상을 바꾸고 싶은 입문자"</a:t>
            </a:r>
          </a:p>
          <a:p>
            <a:pPr algn="l">
              <a:lnSpc>
                <a:spcPts val="3262"/>
              </a:lnSpc>
            </a:pP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밝고 깔끔한 디자인으로,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모바일에서도 잘 보이게 해줘.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- 21 -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결과 보는 법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0058090" y="5978842"/>
            <a:ext cx="7501506" cy="2597397"/>
          </a:xfrm>
          <a:custGeom>
            <a:avLst/>
            <a:gdLst/>
            <a:ahLst/>
            <a:cxnLst/>
            <a:rect r="r" b="b" t="t" l="l"/>
            <a:pathLst>
              <a:path h="2597397" w="7501506">
                <a:moveTo>
                  <a:pt x="0" y="0"/>
                </a:moveTo>
                <a:lnTo>
                  <a:pt x="7501506" y="0"/>
                </a:lnTo>
                <a:lnTo>
                  <a:pt x="7501506" y="2597397"/>
                </a:lnTo>
                <a:lnTo>
                  <a:pt x="0" y="259739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2] 결과 확인하기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72784" y="3604117"/>
            <a:ext cx="7086813" cy="1823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my-intro 폴더에서 index.html 찾기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더블클릭 → 브라우저로 열기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IDE에서 코드 살펴보기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   (&lt;h1&gt; 제목 · &lt;p&gt; 문단 · &lt;li&gt; 목록)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📄 index.html (AI가 만든 코드 예시)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047875" y="3657600"/>
            <a:ext cx="7715250" cy="4585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&lt;!DOCTYPE html&gt;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&lt;html lang="ko"&gt;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&lt;head&gt;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&lt;meta charset="UTF-8"&gt;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&lt;title&gt;홍길동 소개&lt;/title&gt;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&lt;style&gt;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 body { background: #f0f6ff; text-align: center; }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&lt;/style&gt;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&lt;/head&gt;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&lt;body&gt;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&lt;h1&gt;안녕하세요, 홍길동입니다 👋&lt;/h1&gt;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&lt;p&gt;경영학과 · AI로 세상을 바꾸고 싶은 입문자&lt;/p&gt;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<![CDATA[  <ul> <li>AI</li> <li>여행</li> <li>사진</li> </ul>]]>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&lt;/body&gt;</a:t>
            </a:r>
          </a:p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&lt;/html&gt;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- 22 -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완성하면 단톡방에 캡처 공유!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에러는 그대로 복사해서 질문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막히면 손 들기 🙋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고치면서 배우기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3] 말로 고쳐 보기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요청은 한 번에 하나씩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브라우저 새로고침(F5)으로 확인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IDE에서 바뀐 줄 확인하기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💬 후속 요청 예시 (하나씩 입력!)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3743325"/>
            <a:ext cx="7524750" cy="3681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① 배경을 하늘색 그라데이션으로 바꾸고,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 제목 글자를 더 크게 해줘.</a:t>
            </a:r>
          </a:p>
          <a:p>
            <a:pPr algn="l">
              <a:lnSpc>
                <a:spcPts val="3262"/>
              </a:lnSpc>
            </a:pP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② 관심사마다 어울리는 이모지를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 앞에 붙여줘.</a:t>
            </a:r>
          </a:p>
          <a:p>
            <a:pPr algn="l">
              <a:lnSpc>
                <a:spcPts val="3262"/>
              </a:lnSpc>
            </a:pP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③ '인사하기' 버튼을 만들고,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 누르면 "반가워요!" 알림창이</a:t>
            </a:r>
          </a:p>
          <a:p>
            <a:pPr algn="l">
              <a:lnSpc>
                <a:spcPts val="3262"/>
              </a:lnSpc>
            </a:pPr>
            <a:r>
              <a:rPr lang="en-US" sz="225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 뜨게 해줘.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- 23 -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쉬는 시간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432477" y="5801544"/>
            <a:ext cx="11423046" cy="709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수고했어요! 10분 휴식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32477" y="6600042"/>
            <a:ext cx="11423046" cy="709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20:00에 다시 시작합니다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408845" y="7574259"/>
            <a:ext cx="7496762" cy="593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다음 파트: 개발 환경 셋팅</a:t>
            </a:r>
          </a:p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노트북 충전기 연결 + 인터넷 연결을 확인해 주세요!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Freeform 21" id="21" descr="녹차 한 잔과 노트북, 시계가 있는 휴식 일러스트"/>
          <p:cNvSpPr/>
          <p:nvPr/>
        </p:nvSpPr>
        <p:spPr>
          <a:xfrm flipH="false" flipV="false" rot="0">
            <a:off x="6191250" y="2143125"/>
            <a:ext cx="5905500" cy="3324225"/>
          </a:xfrm>
          <a:custGeom>
            <a:avLst/>
            <a:gdLst/>
            <a:ahLst/>
            <a:cxnLst/>
            <a:rect r="r" b="b" t="t" l="l"/>
            <a:pathLst>
              <a:path h="3324225" w="5905500">
                <a:moveTo>
                  <a:pt x="0" y="0"/>
                </a:moveTo>
                <a:lnTo>
                  <a:pt x="5905500" y="0"/>
                </a:lnTo>
                <a:lnTo>
                  <a:pt x="5905500" y="3324225"/>
                </a:lnTo>
                <a:lnTo>
                  <a:pt x="0" y="33242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7" t="0" r="-147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PART 03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12382500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개발 환경 셋팅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⏱ 교육 시간 30분 · 셋팅이 끝나면 일찍 끝!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1095375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2.0 · IDE (필수) / Claude · Codex CLI (선택)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무엇을 설치?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2944444" y="3048665"/>
            <a:ext cx="1906863" cy="1756697"/>
          </a:xfrm>
          <a:custGeom>
            <a:avLst/>
            <a:gdLst/>
            <a:ahLst/>
            <a:cxnLst/>
            <a:rect r="r" b="b" t="t" l="l"/>
            <a:pathLst>
              <a:path h="1756697" w="1906863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176076" y="3176873"/>
            <a:ext cx="1935847" cy="1500282"/>
          </a:xfrm>
          <a:custGeom>
            <a:avLst/>
            <a:gdLst/>
            <a:ahLst/>
            <a:cxnLst/>
            <a:rect r="r" b="b" t="t" l="l"/>
            <a:pathLst>
              <a:path h="1500282" w="1935847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80283" y="3112769"/>
            <a:ext cx="1638732" cy="1628490"/>
          </a:xfrm>
          <a:custGeom>
            <a:avLst/>
            <a:gdLst/>
            <a:ahLst/>
            <a:cxnLst/>
            <a:rect r="r" b="b" t="t" l="l"/>
            <a:pathLst>
              <a:path h="1628490" w="1638732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845660" y="5336790"/>
            <a:ext cx="4104431" cy="2966079"/>
            <a:chOff x="0" y="0"/>
            <a:chExt cx="5472575" cy="3954772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326998" y="2356477"/>
              <a:ext cx="4818580" cy="15982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FF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필수 설치</a:t>
              </a:r>
            </a:p>
            <a:p>
              <a:pPr algn="ctr" marL="0" indent="0" lvl="0">
                <a:lnSpc>
                  <a:spcPts val="3074"/>
                </a:lnSpc>
                <a:spcBef>
                  <a:spcPct val="0"/>
                </a:spcBef>
              </a:pPr>
              <a:r>
                <a:rPr lang="en-US" b="true" sz="2049" spc="-40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8차시 전 과정에서 활용 예정</a:t>
              </a:r>
            </a:p>
            <a:p>
              <a:pPr algn="ctr" marL="0" indent="0" lvl="0">
                <a:lnSpc>
                  <a:spcPts val="3074"/>
                </a:lnSpc>
                <a:spcBef>
                  <a:spcPct val="0"/>
                </a:spcBef>
              </a:pPr>
              <a:r>
                <a:rPr lang="en-US" b="true" sz="2049" spc="-40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 Google 계정 · 무료 시작 가능!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Antigravity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2.0 + IDE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091784" y="5336790"/>
            <a:ext cx="4104431" cy="2966079"/>
            <a:chOff x="0" y="0"/>
            <a:chExt cx="5472575" cy="395477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275465" y="2356477"/>
              <a:ext cx="4921645" cy="15982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선택 설치</a:t>
              </a:r>
            </a:p>
            <a:p>
              <a:pPr algn="ctr" marL="0" indent="0" lvl="0">
                <a:lnSpc>
                  <a:spcPts val="3074"/>
                </a:lnSpc>
                <a:spcBef>
                  <a:spcPct val="0"/>
                </a:spcBef>
              </a:pPr>
              <a:r>
                <a:rPr lang="en-US" b="true" sz="2049" spc="-40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6차시 Skill · MCP 실습에 유용</a:t>
              </a:r>
            </a:p>
            <a:p>
              <a:pPr algn="ctr" marL="0" indent="0" lvl="0">
                <a:lnSpc>
                  <a:spcPts val="3074"/>
                </a:lnSpc>
                <a:spcBef>
                  <a:spcPct val="0"/>
                </a:spcBef>
              </a:pPr>
              <a:r>
                <a:rPr lang="en-US" b="true" sz="2049" spc="-40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단, Claude Pro 구독 필요!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Claude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앱 + CLI</a:t>
              </a:r>
            </a:p>
          </p:txBody>
        </p:sp>
        <p:sp>
          <p:nvSpPr>
            <p:cNvPr name="Freeform 28" id="28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347433" y="5336790"/>
            <a:ext cx="4104431" cy="2966079"/>
            <a:chOff x="0" y="0"/>
            <a:chExt cx="5472575" cy="395477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344175" y="2356477"/>
              <a:ext cx="4784225" cy="15982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2400" spc="-48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선택 설치</a:t>
              </a:r>
            </a:p>
            <a:p>
              <a:pPr algn="ctr" marL="0" indent="0" lvl="0">
                <a:lnSpc>
                  <a:spcPts val="3074"/>
                </a:lnSpc>
                <a:spcBef>
                  <a:spcPct val="0"/>
                </a:spcBef>
              </a:pPr>
              <a:r>
                <a:rPr lang="en-US" b="true" sz="2049" spc="-40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도구 비교 실습에 활용 가능</a:t>
              </a:r>
            </a:p>
            <a:p>
              <a:pPr algn="ctr" marL="0" indent="0" lvl="0">
                <a:lnSpc>
                  <a:spcPts val="3074"/>
                </a:lnSpc>
                <a:spcBef>
                  <a:spcPct val="0"/>
                </a:spcBef>
              </a:pPr>
              <a:r>
                <a:rPr lang="en-US" b="true" sz="2049" spc="-40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단, ChatGPT Plus 구독 필요!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ChatGPT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앱 + Codex</a:t>
              </a:r>
            </a:p>
          </p:txBody>
        </p:sp>
        <p:sp>
          <p:nvSpPr>
            <p:cNvPr name="Freeform 32" id="32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- 26 -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계정과 요금제 준비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1717296" y="3352813"/>
          <a:ext cx="14853407" cy="4974432"/>
        </p:xfrm>
        <a:graphic>
          <a:graphicData uri="http://schemas.openxmlformats.org/drawingml/2006/table">
            <a:tbl>
              <a:tblPr/>
              <a:tblGrid>
                <a:gridCol w="3495006"/>
                <a:gridCol w="1398320"/>
                <a:gridCol w="9960081"/>
              </a:tblGrid>
              <a:tr h="899454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도구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요금제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필요한 계정 및 비고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11070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Antigravity</a:t>
                      </a:r>
                      <a:endParaRPr lang="en-US" sz="1100"/>
                    </a:p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2.0 · IDE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무료 시작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Google 계정이 필요해요. 또한 일일 사용량 제한이 있습니다!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70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Claude</a:t>
                      </a:r>
                      <a:endParaRPr lang="en-US" sz="1100"/>
                    </a:p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앱 · CLI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Pro 이상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Anthropic 계정이 필요해요. 무료 요금제는 사용할 수 없습니다!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70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ChatGPT</a:t>
                      </a:r>
                      <a:endParaRPr lang="en-US" sz="1100"/>
                    </a:p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앱 · Codex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Plus 이상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OpenAI 계정이 필요해요. API Key 방식도 가능합니다!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391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구독이 부담되면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선택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Antigravity만 설치해도 수업에 참여할 수 있어요!!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- 27 -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7277574" cy="3960145"/>
            <a:chOff x="0" y="0"/>
            <a:chExt cx="1283210" cy="6982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33143" r="0" b="-33143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302655" y="2898323"/>
            <a:ext cx="7277574" cy="3960145"/>
            <a:chOff x="0" y="0"/>
            <a:chExt cx="1283210" cy="6982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8703" r="0" b="-18703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기본 도구 설치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720283" y="7854436"/>
            <a:ext cx="3528064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3000"/>
              </a:lnSpc>
              <a:buAutoNum type="arabicPeriod" startAt="1"/>
            </a:pPr>
            <a:r>
              <a:rPr lang="en-US" b="true" sz="2000" spc="-4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git-scm.com 접속</a:t>
            </a:r>
          </a:p>
          <a:p>
            <a:pPr algn="l" marL="431801" indent="-215900" lvl="1">
              <a:lnSpc>
                <a:spcPts val="3000"/>
              </a:lnSpc>
              <a:buAutoNum type="arabicPeriod" startAt="1"/>
            </a:pPr>
            <a:r>
              <a:rPr lang="en-US" b="true" sz="2000" spc="-4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 파일 실행 (기본값 유지)</a:t>
            </a:r>
          </a:p>
          <a:p>
            <a:pPr algn="l" marL="431801" indent="-215900" lvl="1">
              <a:lnSpc>
                <a:spcPts val="3000"/>
              </a:lnSpc>
              <a:buAutoNum type="arabicPeriod" startAt="1"/>
            </a:pPr>
            <a:r>
              <a:rPr lang="en-US" b="true" sz="2000" spc="-4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git --version 으로 확인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305641" y="7854436"/>
            <a:ext cx="3528064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3000"/>
              </a:lnSpc>
              <a:buAutoNum type="arabicPeriod" startAt="1"/>
            </a:pPr>
            <a:r>
              <a:rPr lang="en-US" b="true" sz="2000" spc="-4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nodejs.org 접속</a:t>
            </a:r>
          </a:p>
          <a:p>
            <a:pPr algn="l" marL="431801" indent="-215900" lvl="1">
              <a:lnSpc>
                <a:spcPts val="3000"/>
              </a:lnSpc>
              <a:buAutoNum type="arabicPeriod" startAt="1"/>
            </a:pPr>
            <a:r>
              <a:rPr lang="en-US" b="true" sz="2000" spc="-4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LTS 22 이상 버전 선택</a:t>
            </a:r>
          </a:p>
          <a:p>
            <a:pPr algn="l" marL="431801" indent="-215900" lvl="1">
              <a:lnSpc>
                <a:spcPts val="3000"/>
              </a:lnSpc>
              <a:buAutoNum type="arabicPeriod" startAt="1"/>
            </a:pPr>
            <a:r>
              <a:rPr lang="en-US" b="true" sz="2000" spc="-4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node --version 으로 확인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20283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Git 설치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05641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Node.js 설치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- 28 -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67464" y="3045376"/>
            <a:ext cx="7788833" cy="5924248"/>
            <a:chOff x="0" y="0"/>
            <a:chExt cx="1134211" cy="8626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34211" cy="862690"/>
            </a:xfrm>
            <a:custGeom>
              <a:avLst/>
              <a:gdLst/>
              <a:ahLst/>
              <a:cxnLst/>
              <a:rect r="r" b="b" t="t" l="l"/>
              <a:pathLst>
                <a:path h="862690" w="1134211">
                  <a:moveTo>
                    <a:pt x="14910" y="0"/>
                  </a:moveTo>
                  <a:lnTo>
                    <a:pt x="1119302" y="0"/>
                  </a:lnTo>
                  <a:cubicBezTo>
                    <a:pt x="1123256" y="0"/>
                    <a:pt x="1127048" y="1571"/>
                    <a:pt x="1129845" y="4367"/>
                  </a:cubicBezTo>
                  <a:cubicBezTo>
                    <a:pt x="1132641" y="7163"/>
                    <a:pt x="1134211" y="10955"/>
                    <a:pt x="1134211" y="14910"/>
                  </a:cubicBezTo>
                  <a:lnTo>
                    <a:pt x="1134211" y="847781"/>
                  </a:lnTo>
                  <a:cubicBezTo>
                    <a:pt x="1134211" y="851735"/>
                    <a:pt x="1132641" y="855527"/>
                    <a:pt x="1129845" y="858323"/>
                  </a:cubicBezTo>
                  <a:cubicBezTo>
                    <a:pt x="1127048" y="861119"/>
                    <a:pt x="1123256" y="862690"/>
                    <a:pt x="1119302" y="862690"/>
                  </a:cubicBezTo>
                  <a:lnTo>
                    <a:pt x="14910" y="862690"/>
                  </a:lnTo>
                  <a:cubicBezTo>
                    <a:pt x="10955" y="862690"/>
                    <a:pt x="7163" y="861119"/>
                    <a:pt x="4367" y="858323"/>
                  </a:cubicBezTo>
                  <a:cubicBezTo>
                    <a:pt x="1571" y="855527"/>
                    <a:pt x="0" y="851735"/>
                    <a:pt x="0" y="847781"/>
                  </a:cubicBezTo>
                  <a:lnTo>
                    <a:pt x="0" y="14910"/>
                  </a:lnTo>
                  <a:cubicBezTo>
                    <a:pt x="0" y="10955"/>
                    <a:pt x="1571" y="7163"/>
                    <a:pt x="4367" y="4367"/>
                  </a:cubicBezTo>
                  <a:cubicBezTo>
                    <a:pt x="7163" y="1571"/>
                    <a:pt x="10955" y="0"/>
                    <a:pt x="1491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14099" r="0" b="-2498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2.0 다운로드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443720" y="4988134"/>
            <a:ext cx="5423717" cy="2038731"/>
            <a:chOff x="0" y="0"/>
            <a:chExt cx="7231623" cy="2718308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77592" y="914273"/>
              <a:ext cx="7076438" cy="18040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b="true" sz="1800" spc="-36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① antigravity.google/download 접속</a:t>
              </a:r>
            </a:p>
            <a:p>
              <a:pPr algn="ctr">
                <a:lnSpc>
                  <a:spcPts val="2700"/>
                </a:lnSpc>
              </a:pPr>
              <a:r>
                <a:rPr lang="en-US" b="true" sz="1800" spc="-36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② Antigravity 2.0 항목 찾기</a:t>
              </a:r>
            </a:p>
            <a:p>
              <a:pPr algn="ctr">
                <a:lnSpc>
                  <a:spcPts val="2700"/>
                </a:lnSpc>
              </a:pPr>
              <a:r>
                <a:rPr lang="en-US" b="true" sz="1800" spc="-36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③ 운영체제 선택 (Windows · macOS)</a:t>
              </a:r>
            </a:p>
            <a:p>
              <a:pPr algn="ctr">
                <a:lnSpc>
                  <a:spcPts val="2700"/>
                </a:lnSpc>
              </a:pPr>
              <a:r>
                <a:rPr lang="en-US" b="true" sz="1800" spc="-36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④ 아키텍처 확인 (x64 · ARM64)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66675"/>
              <a:ext cx="7231623" cy="5713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072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다운로드 페이지 · 설치 파일 선택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- 29 -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355167" y="2898323"/>
            <a:ext cx="9670847" cy="5701057"/>
            <a:chOff x="0" y="0"/>
            <a:chExt cx="1378773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78773" cy="812800"/>
            </a:xfrm>
            <a:custGeom>
              <a:avLst/>
              <a:gdLst/>
              <a:ahLst/>
              <a:cxnLst/>
              <a:rect r="r" b="b" t="t" l="l"/>
              <a:pathLst>
                <a:path h="812800" w="1378773">
                  <a:moveTo>
                    <a:pt x="12008" y="0"/>
                  </a:moveTo>
                  <a:lnTo>
                    <a:pt x="1366765" y="0"/>
                  </a:lnTo>
                  <a:cubicBezTo>
                    <a:pt x="1369950" y="0"/>
                    <a:pt x="1373004" y="1265"/>
                    <a:pt x="1375256" y="3517"/>
                  </a:cubicBezTo>
                  <a:cubicBezTo>
                    <a:pt x="1377508" y="5769"/>
                    <a:pt x="1378773" y="8823"/>
                    <a:pt x="1378773" y="12008"/>
                  </a:cubicBezTo>
                  <a:lnTo>
                    <a:pt x="1378773" y="800792"/>
                  </a:lnTo>
                  <a:cubicBezTo>
                    <a:pt x="1378773" y="807424"/>
                    <a:pt x="1373397" y="812800"/>
                    <a:pt x="1366765" y="812800"/>
                  </a:cubicBezTo>
                  <a:lnTo>
                    <a:pt x="12008" y="812800"/>
                  </a:lnTo>
                  <a:cubicBezTo>
                    <a:pt x="5376" y="812800"/>
                    <a:pt x="0" y="807424"/>
                    <a:pt x="0" y="800792"/>
                  </a:cubicBezTo>
                  <a:lnTo>
                    <a:pt x="0" y="12008"/>
                  </a:lnTo>
                  <a:cubicBezTo>
                    <a:pt x="0" y="5376"/>
                    <a:pt x="5376" y="0"/>
                    <a:pt x="12008" y="0"/>
                  </a:cubicBezTo>
                  <a:close/>
                </a:path>
              </a:pathLst>
            </a:custGeom>
            <a:blipFill>
              <a:blip r:embed="rId4"/>
              <a:stretch>
                <a:fillRect l="-11081" t="0" r="-2820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1874339" y="6346709"/>
            <a:ext cx="4881481" cy="2252671"/>
            <a:chOff x="0" y="0"/>
            <a:chExt cx="6508642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6159875" cy="3003561"/>
              <a:chOff x="0" y="0"/>
              <a:chExt cx="1216765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16765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216765">
                    <a:moveTo>
                      <a:pt x="25137" y="0"/>
                    </a:moveTo>
                    <a:lnTo>
                      <a:pt x="1191629" y="0"/>
                    </a:lnTo>
                    <a:cubicBezTo>
                      <a:pt x="1205511" y="0"/>
                      <a:pt x="1216765" y="11254"/>
                      <a:pt x="1216765" y="25137"/>
                    </a:cubicBezTo>
                    <a:lnTo>
                      <a:pt x="1216765" y="568159"/>
                    </a:lnTo>
                    <a:cubicBezTo>
                      <a:pt x="1216765" y="582042"/>
                      <a:pt x="1205511" y="593296"/>
                      <a:pt x="1191629" y="593296"/>
                    </a:cubicBezTo>
                    <a:lnTo>
                      <a:pt x="25137" y="593296"/>
                    </a:lnTo>
                    <a:cubicBezTo>
                      <a:pt x="11254" y="593296"/>
                      <a:pt x="0" y="582042"/>
                      <a:pt x="0" y="568159"/>
                    </a:cubicBezTo>
                    <a:lnTo>
                      <a:pt x="0" y="25137"/>
                    </a:lnTo>
                    <a:cubicBezTo>
                      <a:pt x="0" y="11254"/>
                      <a:pt x="11254" y="0"/>
                      <a:pt x="25137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216765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54635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흰색 배경 로고가 Antigravity 2.0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54635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관리자 권한은 필요하지 않음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54635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설치 후 바탕화면 아이콘 확인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874339" y="2898323"/>
            <a:ext cx="3903318" cy="555498"/>
            <a:chOff x="0" y="0"/>
            <a:chExt cx="5204424" cy="7406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64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설치 진행하기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 파일 실행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74339" y="3604117"/>
            <a:ext cx="5384961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내려받은 설치 파일을 더블클릭합니다.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설치 경로는 기본값을 그대로 둡니다.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설치가 끝나면 앱을 실행합니다.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AutoShape 34" id="34"/>
          <p:cNvSpPr/>
          <p:nvPr/>
        </p:nvSpPr>
        <p:spPr>
          <a:xfrm flipV="true">
            <a:off x="1028700" y="4082076"/>
            <a:ext cx="612832" cy="0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5" id="35"/>
          <p:cNvSpPr/>
          <p:nvPr/>
        </p:nvSpPr>
        <p:spPr>
          <a:xfrm>
            <a:off x="2281993" y="4101126"/>
            <a:ext cx="395755" cy="228796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6" id="36"/>
          <p:cNvSpPr/>
          <p:nvPr/>
        </p:nvSpPr>
        <p:spPr>
          <a:xfrm flipV="true">
            <a:off x="3507258" y="3964729"/>
            <a:ext cx="1447840" cy="3508315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7" id="37"/>
          <p:cNvSpPr/>
          <p:nvPr/>
        </p:nvSpPr>
        <p:spPr>
          <a:xfrm flipV="true">
            <a:off x="5448134" y="5186028"/>
            <a:ext cx="1388109" cy="872097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8" id="38"/>
          <p:cNvSpPr/>
          <p:nvPr/>
        </p:nvSpPr>
        <p:spPr>
          <a:xfrm flipV="true">
            <a:off x="7372401" y="4220741"/>
            <a:ext cx="659499" cy="4001476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9" id="3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- 30 -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1999002"/>
            <a:ext cx="7277574" cy="4940289"/>
            <a:chOff x="0" y="0"/>
            <a:chExt cx="1283210" cy="87109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871091"/>
            </a:xfrm>
            <a:custGeom>
              <a:avLst/>
              <a:gdLst/>
              <a:ahLst/>
              <a:cxnLst/>
              <a:rect r="r" b="b" t="t" l="l"/>
              <a:pathLst>
                <a:path h="871091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855134"/>
                  </a:lnTo>
                  <a:cubicBezTo>
                    <a:pt x="1283210" y="859366"/>
                    <a:pt x="1281529" y="863425"/>
                    <a:pt x="1278536" y="866417"/>
                  </a:cubicBezTo>
                  <a:cubicBezTo>
                    <a:pt x="1275544" y="869410"/>
                    <a:pt x="1271485" y="871091"/>
                    <a:pt x="1267253" y="871091"/>
                  </a:cubicBezTo>
                  <a:lnTo>
                    <a:pt x="15957" y="871091"/>
                  </a:lnTo>
                  <a:cubicBezTo>
                    <a:pt x="7144" y="871091"/>
                    <a:pt x="0" y="863947"/>
                    <a:pt x="0" y="855134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35736" r="0" b="-35736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8994870" y="1999002"/>
            <a:ext cx="3307543" cy="2565918"/>
          </a:xfrm>
          <a:custGeom>
            <a:avLst/>
            <a:gdLst/>
            <a:ahLst/>
            <a:cxnLst/>
            <a:rect r="r" b="b" t="t" l="l"/>
            <a:pathLst>
              <a:path h="2565918" w="3307543">
                <a:moveTo>
                  <a:pt x="0" y="0"/>
                </a:moveTo>
                <a:lnTo>
                  <a:pt x="3307544" y="0"/>
                </a:lnTo>
                <a:lnTo>
                  <a:pt x="3307544" y="2565917"/>
                </a:lnTo>
                <a:lnTo>
                  <a:pt x="0" y="25659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800860" y="3093462"/>
            <a:ext cx="2966784" cy="2319956"/>
          </a:xfrm>
          <a:custGeom>
            <a:avLst/>
            <a:gdLst/>
            <a:ahLst/>
            <a:cxnLst/>
            <a:rect r="r" b="b" t="t" l="l"/>
            <a:pathLst>
              <a:path h="2319956" w="2966784">
                <a:moveTo>
                  <a:pt x="0" y="0"/>
                </a:moveTo>
                <a:lnTo>
                  <a:pt x="2966783" y="0"/>
                </a:lnTo>
                <a:lnTo>
                  <a:pt x="2966783" y="2319956"/>
                </a:lnTo>
                <a:lnTo>
                  <a:pt x="0" y="23199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478921" y="1999002"/>
            <a:ext cx="3310686" cy="2565918"/>
          </a:xfrm>
          <a:custGeom>
            <a:avLst/>
            <a:gdLst/>
            <a:ahLst/>
            <a:cxnLst/>
            <a:rect r="r" b="b" t="t" l="l"/>
            <a:pathLst>
              <a:path h="2565918" w="3310686">
                <a:moveTo>
                  <a:pt x="0" y="0"/>
                </a:moveTo>
                <a:lnTo>
                  <a:pt x="3310686" y="0"/>
                </a:lnTo>
                <a:lnTo>
                  <a:pt x="3310686" y="2565917"/>
                </a:lnTo>
                <a:lnTo>
                  <a:pt x="0" y="256591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8994870" y="5305899"/>
            <a:ext cx="3393091" cy="2624738"/>
          </a:xfrm>
          <a:custGeom>
            <a:avLst/>
            <a:gdLst/>
            <a:ahLst/>
            <a:cxnLst/>
            <a:rect r="r" b="b" t="t" l="l"/>
            <a:pathLst>
              <a:path h="2624738" w="3393091">
                <a:moveTo>
                  <a:pt x="0" y="0"/>
                </a:moveTo>
                <a:lnTo>
                  <a:pt x="3393091" y="0"/>
                </a:lnTo>
                <a:lnTo>
                  <a:pt x="3393091" y="2624737"/>
                </a:lnTo>
                <a:lnTo>
                  <a:pt x="0" y="26247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719577" y="6939291"/>
            <a:ext cx="3336768" cy="2591611"/>
          </a:xfrm>
          <a:custGeom>
            <a:avLst/>
            <a:gdLst/>
            <a:ahLst/>
            <a:cxnLst/>
            <a:rect r="r" b="b" t="t" l="l"/>
            <a:pathLst>
              <a:path h="2591611" w="3336768">
                <a:moveTo>
                  <a:pt x="0" y="0"/>
                </a:moveTo>
                <a:lnTo>
                  <a:pt x="3336768" y="0"/>
                </a:lnTo>
                <a:lnTo>
                  <a:pt x="3336768" y="2591611"/>
                </a:lnTo>
                <a:lnTo>
                  <a:pt x="0" y="2591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452529" y="5305899"/>
            <a:ext cx="3363470" cy="2624738"/>
          </a:xfrm>
          <a:custGeom>
            <a:avLst/>
            <a:gdLst/>
            <a:ahLst/>
            <a:cxnLst/>
            <a:rect r="r" b="b" t="t" l="l"/>
            <a:pathLst>
              <a:path h="2624738" w="3363470">
                <a:moveTo>
                  <a:pt x="0" y="0"/>
                </a:moveTo>
                <a:lnTo>
                  <a:pt x="3363470" y="0"/>
                </a:lnTo>
                <a:lnTo>
                  <a:pt x="3363470" y="2624737"/>
                </a:lnTo>
                <a:lnTo>
                  <a:pt x="0" y="262473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2019354" y="7854436"/>
            <a:ext cx="6673459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같은 다운로드 페이지 접속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Antigravity IDE 항목 선택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설치 파일 실행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720283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다운로드</a:t>
            </a:r>
          </a:p>
        </p:txBody>
      </p:sp>
      <p:sp>
        <p:nvSpPr>
          <p:cNvPr name="Freeform 26" id="26"/>
          <p:cNvSpPr/>
          <p:nvPr/>
        </p:nvSpPr>
        <p:spPr>
          <a:xfrm>
            <a:off x="6247137" y="2115545"/>
            <a:ext cx="2747733" cy="6694103"/>
          </a:xfrm>
          <a:custGeom>
            <a:avLst/>
            <a:gdLst/>
            <a:ahLst/>
            <a:cxnLst/>
            <a:rect r="r" b="b" t="t" l="l"/>
            <a:pathLst>
              <a:path h="6694103" w="2747733">
                <a:moveTo>
                  <a:pt x="0" y="6694103"/>
                </a:moveTo>
                <a:lnTo>
                  <a:pt x="1600910" y="6694103"/>
                </a:lnTo>
                <a:cubicBezTo>
                  <a:pt x="1727162" y="6694103"/>
                  <a:pt x="1829510" y="6591755"/>
                  <a:pt x="1829510" y="6465503"/>
                </a:cubicBezTo>
                <a:lnTo>
                  <a:pt x="1829510" y="228600"/>
                </a:lnTo>
                <a:cubicBezTo>
                  <a:pt x="1829510" y="102347"/>
                  <a:pt x="1931858" y="0"/>
                  <a:pt x="2058110" y="0"/>
                </a:cubicBezTo>
                <a:lnTo>
                  <a:pt x="2747733" y="0"/>
                </a:lnTo>
              </a:path>
            </a:pathLst>
          </a:cu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9995320" y="2115545"/>
            <a:ext cx="846959" cy="999832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8" id="28"/>
          <p:cNvSpPr/>
          <p:nvPr/>
        </p:nvSpPr>
        <p:spPr>
          <a:xfrm flipV="true">
            <a:off x="11708415" y="2115545"/>
            <a:ext cx="1796424" cy="1087784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9" id="29"/>
          <p:cNvSpPr/>
          <p:nvPr/>
        </p:nvSpPr>
        <p:spPr>
          <a:xfrm flipH="true">
            <a:off x="10066595" y="4469146"/>
            <a:ext cx="5943090" cy="944271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0" id="30"/>
          <p:cNvSpPr/>
          <p:nvPr/>
        </p:nvSpPr>
        <p:spPr>
          <a:xfrm>
            <a:off x="10066595" y="5413418"/>
            <a:ext cx="734264" cy="1602475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1" id="31"/>
          <p:cNvSpPr/>
          <p:nvPr/>
        </p:nvSpPr>
        <p:spPr>
          <a:xfrm flipV="true">
            <a:off x="13300844" y="5481409"/>
            <a:ext cx="696845" cy="3881199"/>
          </a:xfrm>
          <a:prstGeom prst="line">
            <a:avLst/>
          </a:prstGeom>
          <a:ln cap="flat" w="38100">
            <a:solidFill>
              <a:srgbClr val="FF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2" id="32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IDE 설치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- 31 -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7277574" cy="3960145"/>
            <a:chOff x="0" y="0"/>
            <a:chExt cx="1283210" cy="6982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11333" r="0" b="-11333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302655" y="2174697"/>
            <a:ext cx="7277574" cy="4683771"/>
            <a:chOff x="0" y="0"/>
            <a:chExt cx="1283210" cy="82586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3210" cy="825861"/>
            </a:xfrm>
            <a:custGeom>
              <a:avLst/>
              <a:gdLst/>
              <a:ahLst/>
              <a:cxnLst/>
              <a:rect r="r" b="b" t="t" l="l"/>
              <a:pathLst>
                <a:path h="825861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809904"/>
                  </a:lnTo>
                  <a:cubicBezTo>
                    <a:pt x="1283210" y="814136"/>
                    <a:pt x="1281529" y="818194"/>
                    <a:pt x="1278536" y="821187"/>
                  </a:cubicBezTo>
                  <a:cubicBezTo>
                    <a:pt x="1275544" y="824179"/>
                    <a:pt x="1271485" y="825861"/>
                    <a:pt x="1267253" y="825861"/>
                  </a:cubicBezTo>
                  <a:lnTo>
                    <a:pt x="15957" y="825861"/>
                  </a:lnTo>
                  <a:cubicBezTo>
                    <a:pt x="7144" y="825861"/>
                    <a:pt x="0" y="818716"/>
                    <a:pt x="0" y="809904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5"/>
              <a:stretch>
                <a:fillRect l="-4772" t="0" r="-16222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Google 계정 로그인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19354" y="8044936"/>
            <a:ext cx="6673459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Sign in with Google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04712" y="7854436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브라우저에서 Gmail 계정 선택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인증 후 앱으로 자동 복귀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20283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로그인 시작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05641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계정 선택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- 32 -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4"/>
              <a:stretch>
                <a:fillRect l="-2012" t="0" r="-2012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Cursor 설정도 같은 방식으로 이전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실패하면 설정 화면에서 재시도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VS Code를 안 썼다면 건너뛰기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55498"/>
            <a:chOff x="0" y="0"/>
            <a:chExt cx="5204424" cy="7406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64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설정 이전하기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VS Code 설정 가져오기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설정 마법사에서 Import from VS Code를 선택합니다.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settings.json · 확장 · 단축키를 함께 가져옵니다.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새로 시작하려면 Start fresh를 선택합니다.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- 33 -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55167" y="1983244"/>
            <a:ext cx="5307184" cy="3496926"/>
          </a:xfrm>
          <a:custGeom>
            <a:avLst/>
            <a:gdLst/>
            <a:ahLst/>
            <a:cxnLst/>
            <a:rect r="r" b="b" t="t" l="l"/>
            <a:pathLst>
              <a:path h="3496926" w="5307184">
                <a:moveTo>
                  <a:pt x="0" y="0"/>
                </a:moveTo>
                <a:lnTo>
                  <a:pt x="5307184" y="0"/>
                </a:lnTo>
                <a:lnTo>
                  <a:pt x="5307184" y="3496926"/>
                </a:lnTo>
                <a:lnTo>
                  <a:pt x="0" y="34969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994602" y="1983244"/>
            <a:ext cx="4423807" cy="3762933"/>
          </a:xfrm>
          <a:custGeom>
            <a:avLst/>
            <a:gdLst/>
            <a:ahLst/>
            <a:cxnLst/>
            <a:rect r="r" b="b" t="t" l="l"/>
            <a:pathLst>
              <a:path h="3762933" w="4423807">
                <a:moveTo>
                  <a:pt x="0" y="0"/>
                </a:moveTo>
                <a:lnTo>
                  <a:pt x="4423806" y="0"/>
                </a:lnTo>
                <a:lnTo>
                  <a:pt x="4423806" y="3762933"/>
                </a:lnTo>
                <a:lnTo>
                  <a:pt x="0" y="376293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750659" y="1983244"/>
            <a:ext cx="4611787" cy="3496926"/>
          </a:xfrm>
          <a:custGeom>
            <a:avLst/>
            <a:gdLst/>
            <a:ahLst/>
            <a:cxnLst/>
            <a:rect r="r" b="b" t="t" l="l"/>
            <a:pathLst>
              <a:path h="3496926" w="4611787">
                <a:moveTo>
                  <a:pt x="0" y="0"/>
                </a:moveTo>
                <a:lnTo>
                  <a:pt x="4611787" y="0"/>
                </a:lnTo>
                <a:lnTo>
                  <a:pt x="4611787" y="3496926"/>
                </a:lnTo>
                <a:lnTo>
                  <a:pt x="0" y="34969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331355" y="5143500"/>
            <a:ext cx="3354807" cy="4098760"/>
          </a:xfrm>
          <a:custGeom>
            <a:avLst/>
            <a:gdLst/>
            <a:ahLst/>
            <a:cxnLst/>
            <a:rect r="r" b="b" t="t" l="l"/>
            <a:pathLst>
              <a:path h="4098760" w="3354807">
                <a:moveTo>
                  <a:pt x="0" y="0"/>
                </a:moveTo>
                <a:lnTo>
                  <a:pt x="3354808" y="0"/>
                </a:lnTo>
                <a:lnTo>
                  <a:pt x="3354808" y="4098760"/>
                </a:lnTo>
                <a:lnTo>
                  <a:pt x="0" y="409876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865587" y="5480170"/>
            <a:ext cx="4681836" cy="3933708"/>
          </a:xfrm>
          <a:custGeom>
            <a:avLst/>
            <a:gdLst/>
            <a:ahLst/>
            <a:cxnLst/>
            <a:rect r="r" b="b" t="t" l="l"/>
            <a:pathLst>
              <a:path h="3933708" w="4681836">
                <a:moveTo>
                  <a:pt x="0" y="0"/>
                </a:moveTo>
                <a:lnTo>
                  <a:pt x="4681836" y="0"/>
                </a:lnTo>
                <a:lnTo>
                  <a:pt x="4681836" y="3933707"/>
                </a:lnTo>
                <a:lnTo>
                  <a:pt x="0" y="393370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1672299" y="5855534"/>
            <a:ext cx="4768507" cy="3182979"/>
          </a:xfrm>
          <a:custGeom>
            <a:avLst/>
            <a:gdLst/>
            <a:ahLst/>
            <a:cxnLst/>
            <a:rect r="r" b="b" t="t" l="l"/>
            <a:pathLst>
              <a:path h="3182979" w="4768507">
                <a:moveTo>
                  <a:pt x="0" y="0"/>
                </a:moveTo>
                <a:lnTo>
                  <a:pt x="4768507" y="0"/>
                </a:lnTo>
                <a:lnTo>
                  <a:pt x="4768507" y="3182979"/>
                </a:lnTo>
                <a:lnTo>
                  <a:pt x="0" y="31829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117783" y="1620593"/>
            <a:ext cx="474768" cy="741825"/>
          </a:xfrm>
          <a:custGeom>
            <a:avLst/>
            <a:gdLst/>
            <a:ahLst/>
            <a:cxnLst/>
            <a:rect r="r" b="b" t="t" l="l"/>
            <a:pathLst>
              <a:path h="741825" w="474768">
                <a:moveTo>
                  <a:pt x="0" y="0"/>
                </a:moveTo>
                <a:lnTo>
                  <a:pt x="474768" y="0"/>
                </a:lnTo>
                <a:lnTo>
                  <a:pt x="474768" y="741825"/>
                </a:lnTo>
                <a:lnTo>
                  <a:pt x="0" y="74182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696783" y="1620593"/>
            <a:ext cx="567496" cy="741825"/>
          </a:xfrm>
          <a:custGeom>
            <a:avLst/>
            <a:gdLst/>
            <a:ahLst/>
            <a:cxnLst/>
            <a:rect r="r" b="b" t="t" l="l"/>
            <a:pathLst>
              <a:path h="741825" w="567496">
                <a:moveTo>
                  <a:pt x="0" y="0"/>
                </a:moveTo>
                <a:lnTo>
                  <a:pt x="567496" y="0"/>
                </a:lnTo>
                <a:lnTo>
                  <a:pt x="567496" y="741825"/>
                </a:lnTo>
                <a:lnTo>
                  <a:pt x="0" y="74182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1547423" y="1620593"/>
            <a:ext cx="515568" cy="741825"/>
          </a:xfrm>
          <a:custGeom>
            <a:avLst/>
            <a:gdLst/>
            <a:ahLst/>
            <a:cxnLst/>
            <a:rect r="r" b="b" t="t" l="l"/>
            <a:pathLst>
              <a:path h="741825" w="515568">
                <a:moveTo>
                  <a:pt x="0" y="0"/>
                </a:moveTo>
                <a:lnTo>
                  <a:pt x="515568" y="0"/>
                </a:lnTo>
                <a:lnTo>
                  <a:pt x="515568" y="741825"/>
                </a:lnTo>
                <a:lnTo>
                  <a:pt x="0" y="74182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2064343" y="4748656"/>
            <a:ext cx="534026" cy="712034"/>
          </a:xfrm>
          <a:custGeom>
            <a:avLst/>
            <a:gdLst/>
            <a:ahLst/>
            <a:cxnLst/>
            <a:rect r="r" b="b" t="t" l="l"/>
            <a:pathLst>
              <a:path h="712034" w="534026">
                <a:moveTo>
                  <a:pt x="0" y="0"/>
                </a:moveTo>
                <a:lnTo>
                  <a:pt x="534025" y="0"/>
                </a:lnTo>
                <a:lnTo>
                  <a:pt x="534025" y="712034"/>
                </a:lnTo>
                <a:lnTo>
                  <a:pt x="0" y="71203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6607803" y="5143500"/>
            <a:ext cx="515568" cy="741825"/>
          </a:xfrm>
          <a:custGeom>
            <a:avLst/>
            <a:gdLst/>
            <a:ahLst/>
            <a:cxnLst/>
            <a:rect r="r" b="b" t="t" l="l"/>
            <a:pathLst>
              <a:path h="741825" w="515568">
                <a:moveTo>
                  <a:pt x="0" y="0"/>
                </a:moveTo>
                <a:lnTo>
                  <a:pt x="515568" y="0"/>
                </a:lnTo>
                <a:lnTo>
                  <a:pt x="515568" y="741825"/>
                </a:lnTo>
                <a:lnTo>
                  <a:pt x="0" y="741825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1498438" y="5514412"/>
            <a:ext cx="504441" cy="741825"/>
          </a:xfrm>
          <a:custGeom>
            <a:avLst/>
            <a:gdLst/>
            <a:ahLst/>
            <a:cxnLst/>
            <a:rect r="r" b="b" t="t" l="l"/>
            <a:pathLst>
              <a:path h="741825" w="504441">
                <a:moveTo>
                  <a:pt x="0" y="0"/>
                </a:moveTo>
                <a:lnTo>
                  <a:pt x="504441" y="0"/>
                </a:lnTo>
                <a:lnTo>
                  <a:pt x="504441" y="741825"/>
                </a:lnTo>
                <a:lnTo>
                  <a:pt x="0" y="74182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 IDE 셋팅 마무리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382000" y="9375610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- 34 -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선택 도구 안내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090908" y="7082717"/>
            <a:ext cx="3613935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FF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Antigravity</a:t>
            </a:r>
            <a:r>
              <a:rPr lang="en-US" b="true" sz="2400" spc="-48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만 설치해도</a:t>
            </a:r>
          </a:p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8차시 수업</a:t>
            </a:r>
            <a:r>
              <a:rPr lang="en-US" b="true" sz="2400" spc="-48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을 들을 수 있어요!!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091784" y="7082717"/>
            <a:ext cx="4104431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Claude Pro 또는 ChatGPT Plus가</a:t>
            </a:r>
          </a:p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있어야 CLI에 로그인 가능!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05565" y="7311317"/>
            <a:ext cx="358816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도구별 결과 비교에 활용 가능!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845660" y="5336790"/>
            <a:ext cx="4104431" cy="9606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필수</a:t>
            </a:r>
          </a:p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아닙니다!!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091784" y="5336790"/>
            <a:ext cx="4104431" cy="9606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유료 구독</a:t>
            </a:r>
          </a:p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필요해요!!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47433" y="5574915"/>
            <a:ext cx="4104431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언제 쓰나요?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2944444" y="3048665"/>
            <a:ext cx="1906863" cy="1756697"/>
          </a:xfrm>
          <a:custGeom>
            <a:avLst/>
            <a:gdLst/>
            <a:ahLst/>
            <a:cxnLst/>
            <a:rect r="r" b="b" t="t" l="l"/>
            <a:pathLst>
              <a:path h="1756697" w="1906863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176076" y="3176873"/>
            <a:ext cx="1935847" cy="1500282"/>
          </a:xfrm>
          <a:custGeom>
            <a:avLst/>
            <a:gdLst/>
            <a:ahLst/>
            <a:cxnLst/>
            <a:rect r="r" b="b" t="t" l="l"/>
            <a:pathLst>
              <a:path h="1500282" w="1935847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80283" y="3112769"/>
            <a:ext cx="1638732" cy="1628490"/>
          </a:xfrm>
          <a:custGeom>
            <a:avLst/>
            <a:gdLst/>
            <a:ahLst/>
            <a:cxnLst/>
            <a:rect r="r" b="b" t="t" l="l"/>
            <a:pathLst>
              <a:path h="1628490" w="1638732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5400000">
            <a:off x="3810206" y="6690275"/>
            <a:ext cx="175340" cy="171395"/>
          </a:xfrm>
          <a:custGeom>
            <a:avLst/>
            <a:gdLst/>
            <a:ahLst/>
            <a:cxnLst/>
            <a:rect r="r" b="b" t="t" l="l"/>
            <a:pathLst>
              <a:path h="171395" w="175340">
                <a:moveTo>
                  <a:pt x="0" y="0"/>
                </a:moveTo>
                <a:lnTo>
                  <a:pt x="175340" y="0"/>
                </a:lnTo>
                <a:lnTo>
                  <a:pt x="175340" y="171394"/>
                </a:lnTo>
                <a:lnTo>
                  <a:pt x="0" y="17139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5400000">
            <a:off x="9056330" y="6690275"/>
            <a:ext cx="175340" cy="171395"/>
          </a:xfrm>
          <a:custGeom>
            <a:avLst/>
            <a:gdLst/>
            <a:ahLst/>
            <a:cxnLst/>
            <a:rect r="r" b="b" t="t" l="l"/>
            <a:pathLst>
              <a:path h="171395" w="175340">
                <a:moveTo>
                  <a:pt x="0" y="0"/>
                </a:moveTo>
                <a:lnTo>
                  <a:pt x="175340" y="0"/>
                </a:lnTo>
                <a:lnTo>
                  <a:pt x="175340" y="171394"/>
                </a:lnTo>
                <a:lnTo>
                  <a:pt x="0" y="17139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5400000">
            <a:off x="14226282" y="6690275"/>
            <a:ext cx="175340" cy="171395"/>
          </a:xfrm>
          <a:custGeom>
            <a:avLst/>
            <a:gdLst/>
            <a:ahLst/>
            <a:cxnLst/>
            <a:rect r="r" b="b" t="t" l="l"/>
            <a:pathLst>
              <a:path h="171395" w="175340">
                <a:moveTo>
                  <a:pt x="0" y="0"/>
                </a:moveTo>
                <a:lnTo>
                  <a:pt x="175340" y="0"/>
                </a:lnTo>
                <a:lnTo>
                  <a:pt x="175340" y="171394"/>
                </a:lnTo>
                <a:lnTo>
                  <a:pt x="0" y="17139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- 35 -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196625"/>
            <a:ext cx="7277574" cy="5384530"/>
            <a:chOff x="0" y="0"/>
            <a:chExt cx="1283210" cy="949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949421"/>
            </a:xfrm>
            <a:custGeom>
              <a:avLst/>
              <a:gdLst/>
              <a:ahLst/>
              <a:cxnLst/>
              <a:rect r="r" b="b" t="t" l="l"/>
              <a:pathLst>
                <a:path h="949421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933464"/>
                  </a:lnTo>
                  <a:cubicBezTo>
                    <a:pt x="1283210" y="937696"/>
                    <a:pt x="1281529" y="941755"/>
                    <a:pt x="1278536" y="944747"/>
                  </a:cubicBezTo>
                  <a:cubicBezTo>
                    <a:pt x="1275544" y="947740"/>
                    <a:pt x="1271485" y="949421"/>
                    <a:pt x="1267253" y="949421"/>
                  </a:cubicBezTo>
                  <a:lnTo>
                    <a:pt x="15957" y="949421"/>
                  </a:lnTo>
                  <a:cubicBezTo>
                    <a:pt x="7144" y="949421"/>
                    <a:pt x="0" y="942277"/>
                    <a:pt x="0" y="933464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-2449" t="-23122" r="-5301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302655" y="2898323"/>
            <a:ext cx="7277574" cy="3960145"/>
            <a:chOff x="0" y="0"/>
            <a:chExt cx="1283210" cy="6982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5"/>
              <a:stretch>
                <a:fillRect l="-7074" t="0" r="-7074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Claude 앱 설치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19354" y="8496300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claude.ai/download 접속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운영체제 선택 후 설치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04712" y="7854436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앱 실행 후 Anthropic 계정 로그인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④ 무료 계정은 CLI 사용 불가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20283" y="7905005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다운로드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05641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로그인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- 36 -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7277574" cy="3960145"/>
            <a:chOff x="0" y="0"/>
            <a:chExt cx="1283210" cy="6982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1710" r="0" b="-171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302655" y="2898323"/>
            <a:ext cx="7277574" cy="3960145"/>
            <a:chOff x="0" y="0"/>
            <a:chExt cx="1283210" cy="6982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5"/>
              <a:stretch>
                <a:fillRect l="-21721" t="0" r="-22021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Claude Code CLI 설치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19354" y="7854436"/>
            <a:ext cx="6673459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터미널 열기 - </a:t>
            </a: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Windows (PowerShell)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10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명령어 입력 : </a:t>
            </a:r>
            <a:r>
              <a:rPr lang="en-US" b="true" sz="2000" spc="10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irm https://claude.ai/install.ps1 | iex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 참고 : </a:t>
            </a:r>
            <a:r>
              <a:rPr lang="en-US" b="true" sz="2000" spc="-40" strike="noStrike" u="sng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  <a:hlinkClick r:id="rId6" tooltip="https://code.claude.com/docs/ko/quickstart"/>
              </a:rPr>
              <a:t>https://code.claude.com/docs/ko/quickstart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04712" y="7854436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명령창에 claude 입력 후, 브라우저 로그인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claude doctor 로 상태 점검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20283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 명령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05641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실행 · 확인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- 37 -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309864"/>
            <a:ext cx="7277574" cy="5271291"/>
            <a:chOff x="0" y="0"/>
            <a:chExt cx="1283210" cy="92945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929455"/>
            </a:xfrm>
            <a:custGeom>
              <a:avLst/>
              <a:gdLst/>
              <a:ahLst/>
              <a:cxnLst/>
              <a:rect r="r" b="b" t="t" l="l"/>
              <a:pathLst>
                <a:path h="929455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913497"/>
                  </a:lnTo>
                  <a:cubicBezTo>
                    <a:pt x="1283210" y="917730"/>
                    <a:pt x="1281529" y="921788"/>
                    <a:pt x="1278536" y="924781"/>
                  </a:cubicBezTo>
                  <a:cubicBezTo>
                    <a:pt x="1275544" y="927773"/>
                    <a:pt x="1271485" y="929455"/>
                    <a:pt x="1267253" y="929455"/>
                  </a:cubicBezTo>
                  <a:lnTo>
                    <a:pt x="15957" y="929455"/>
                  </a:lnTo>
                  <a:cubicBezTo>
                    <a:pt x="7144" y="929455"/>
                    <a:pt x="0" y="922310"/>
                    <a:pt x="0" y="913497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-19614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302655" y="2898323"/>
            <a:ext cx="7277574" cy="3960145"/>
            <a:chOff x="0" y="0"/>
            <a:chExt cx="1283210" cy="6982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5"/>
              <a:stretch>
                <a:fillRect l="-3435" t="0" r="0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ChatGPT 앱 설치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19354" y="8496300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chatgpt.com/download 접속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운영체제 선택 후 설치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04712" y="7854436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앱 실행 후 ChatGPT 계정 로그인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④ Plus 구독 상태 확인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20283" y="7905005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다운로드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05641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로그인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- 38 -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7277574" cy="3960145"/>
            <a:chOff x="0" y="0"/>
            <a:chExt cx="1283210" cy="6982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1824" r="0" b="-1824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302655" y="2898323"/>
            <a:ext cx="7277574" cy="3960145"/>
            <a:chOff x="0" y="0"/>
            <a:chExt cx="1283210" cy="6982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3210" cy="698268"/>
            </a:xfrm>
            <a:custGeom>
              <a:avLst/>
              <a:gdLst/>
              <a:ahLst/>
              <a:cxnLst/>
              <a:rect r="r" b="b" t="t" l="l"/>
              <a:pathLst>
                <a:path h="698268" w="1283210">
                  <a:moveTo>
                    <a:pt x="15957" y="0"/>
                  </a:moveTo>
                  <a:lnTo>
                    <a:pt x="1267253" y="0"/>
                  </a:lnTo>
                  <a:cubicBezTo>
                    <a:pt x="1276066" y="0"/>
                    <a:pt x="1283210" y="7144"/>
                    <a:pt x="1283210" y="15957"/>
                  </a:cubicBezTo>
                  <a:lnTo>
                    <a:pt x="1283210" y="682311"/>
                  </a:lnTo>
                  <a:cubicBezTo>
                    <a:pt x="1283210" y="691124"/>
                    <a:pt x="1276066" y="698268"/>
                    <a:pt x="1267253" y="698268"/>
                  </a:cubicBezTo>
                  <a:lnTo>
                    <a:pt x="15957" y="698268"/>
                  </a:lnTo>
                  <a:cubicBezTo>
                    <a:pt x="11725" y="698268"/>
                    <a:pt x="7666" y="696587"/>
                    <a:pt x="4674" y="693594"/>
                  </a:cubicBezTo>
                  <a:cubicBezTo>
                    <a:pt x="1681" y="690602"/>
                    <a:pt x="0" y="686543"/>
                    <a:pt x="0" y="682311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338" r="0" b="-338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Codex CLI 설치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19354" y="7854436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npm install -g @openai/codex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패키지명 주의: codex는 다른 프로젝트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04712" y="7854436"/>
            <a:ext cx="667345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codex 입력 → Sign in with ChatGPT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333333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codex --version 으로 확인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20283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 명령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05641" y="7263141"/>
            <a:ext cx="3528064" cy="41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2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실행 · 확인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- 39 -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 완료 체크리스트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3182207" y="3790471"/>
          <a:ext cx="11923585" cy="3917157"/>
        </p:xfrm>
        <a:graphic>
          <a:graphicData uri="http://schemas.openxmlformats.org/drawingml/2006/table">
            <a:tbl>
              <a:tblPr/>
              <a:tblGrid>
                <a:gridCol w="3495557"/>
                <a:gridCol w="1398541"/>
                <a:gridCol w="7029487"/>
              </a:tblGrid>
              <a:tr h="8999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확인 항목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구분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확인 방법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Git · Node.js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필수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☐  git --version · node --version 을 실행해 버전이 나오는지 확인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Antigravity 2.0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필수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☐  프로젝트를 열고 채팅창에서 답변이 나오는지 확인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Antigravity IDE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필수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☐  검은색 격자 아이콘 앱을 실행해 프로젝트 폴더를 열기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Claude · Codex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선택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☐  claude doctor · codex --version 으로 설치 상태 점검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- 40 -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자주 겪는 문제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7" id="17"/>
          <p:cNvSpPr/>
          <p:nvPr/>
        </p:nvSpPr>
        <p:spPr>
          <a:xfrm>
            <a:off x="6024486" y="2898323"/>
            <a:ext cx="0" cy="1053640"/>
          </a:xfrm>
          <a:prstGeom prst="line">
            <a:avLst/>
          </a:prstGeom>
          <a:ln cap="flat" w="9525">
            <a:solidFill>
              <a:srgbClr val="50535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8" id="18"/>
          <p:cNvSpPr txBox="true"/>
          <p:nvPr/>
        </p:nvSpPr>
        <p:spPr>
          <a:xfrm rot="0">
            <a:off x="3048547" y="3118668"/>
            <a:ext cx="263252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33333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대부분의 원인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983625" y="3078692"/>
            <a:ext cx="840475" cy="714403"/>
          </a:xfrm>
          <a:custGeom>
            <a:avLst/>
            <a:gdLst/>
            <a:ahLst/>
            <a:cxnLst/>
            <a:rect r="r" b="b" t="t" l="l"/>
            <a:pathLst>
              <a:path h="714403" w="840475">
                <a:moveTo>
                  <a:pt x="0" y="0"/>
                </a:moveTo>
                <a:lnTo>
                  <a:pt x="840474" y="0"/>
                </a:lnTo>
                <a:lnTo>
                  <a:pt x="840474" y="714404"/>
                </a:lnTo>
                <a:lnTo>
                  <a:pt x="0" y="7144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506746" y="2933210"/>
            <a:ext cx="981654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설치는 끝났지만 터미널이 실행 파일의 위치를 아직 모르거나, 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다른 셸에서 명령을 실행한 경우에요. 아래 세 가지만 확인하면 대부분 해결됩니다!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705928" y="4639191"/>
            <a:ext cx="4832311" cy="3960188"/>
            <a:chOff x="0" y="0"/>
            <a:chExt cx="1272707" cy="104301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26923" y="4639191"/>
            <a:ext cx="4832311" cy="3960188"/>
            <a:chOff x="0" y="0"/>
            <a:chExt cx="1272707" cy="104301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747917" y="4639191"/>
            <a:ext cx="4832311" cy="3960188"/>
            <a:chOff x="0" y="0"/>
            <a:chExt cx="1272707" cy="104301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72707" cy="1043012"/>
            </a:xfrm>
            <a:custGeom>
              <a:avLst/>
              <a:gdLst/>
              <a:ahLst/>
              <a:cxnLst/>
              <a:rect r="r" b="b" t="t" l="l"/>
              <a:pathLst>
                <a:path h="1043012" w="1272707">
                  <a:moveTo>
                    <a:pt x="24032" y="0"/>
                  </a:moveTo>
                  <a:lnTo>
                    <a:pt x="1248676" y="0"/>
                  </a:lnTo>
                  <a:cubicBezTo>
                    <a:pt x="1261948" y="0"/>
                    <a:pt x="1272707" y="10759"/>
                    <a:pt x="1272707" y="24032"/>
                  </a:cubicBezTo>
                  <a:lnTo>
                    <a:pt x="1272707" y="1018981"/>
                  </a:lnTo>
                  <a:cubicBezTo>
                    <a:pt x="1272707" y="1032253"/>
                    <a:pt x="1261948" y="1043012"/>
                    <a:pt x="1248676" y="1043012"/>
                  </a:cubicBezTo>
                  <a:lnTo>
                    <a:pt x="24032" y="1043012"/>
                  </a:lnTo>
                  <a:cubicBezTo>
                    <a:pt x="17658" y="1043012"/>
                    <a:pt x="11546" y="1040481"/>
                    <a:pt x="7039" y="1035974"/>
                  </a:cubicBezTo>
                  <a:cubicBezTo>
                    <a:pt x="2532" y="1031467"/>
                    <a:pt x="0" y="1025354"/>
                    <a:pt x="0" y="1018981"/>
                  </a:cubicBezTo>
                  <a:lnTo>
                    <a:pt x="0" y="24032"/>
                  </a:lnTo>
                  <a:cubicBezTo>
                    <a:pt x="0" y="10759"/>
                    <a:pt x="10759" y="0"/>
                    <a:pt x="24032" y="0"/>
                  </a:cubicBezTo>
                  <a:close/>
                </a:path>
              </a:pathLst>
            </a:custGeom>
            <a:solidFill>
              <a:srgbClr val="747EA3"/>
            </a:solidFill>
            <a:ln cap="sq">
              <a:noFill/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1272707" cy="1071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2212939" y="6825195"/>
            <a:ext cx="381154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터미널을 모두 닫고 새로 엽니다.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그래도 안 되면 재부팅합니다.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233350" y="6825195"/>
            <a:ext cx="381945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PS 로 시작하면 </a:t>
            </a:r>
            <a:r>
              <a:rPr lang="en-US" b="true" sz="2000" spc="-40" strike="noStrike" u="none">
                <a:solidFill>
                  <a:srgbClr val="000000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PowerShell</a:t>
            </a: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입니다.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Windows 키 + S</a:t>
            </a: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로 실행합니다.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250849" y="6825195"/>
            <a:ext cx="3767925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000000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흰색 로고</a:t>
            </a: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는 2.0, </a:t>
            </a:r>
            <a:r>
              <a:rPr lang="en-US" b="true" sz="2000" spc="-40" strike="noStrike" u="none">
                <a:solidFill>
                  <a:srgbClr val="000000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검은색</a:t>
            </a: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은 IDE입니다.</a:t>
            </a:r>
          </a:p>
          <a:p>
            <a:pPr algn="ctr" marL="0" indent="0" lvl="0">
              <a:lnSpc>
                <a:spcPts val="3000"/>
              </a:lnSpc>
              <a:spcBef>
                <a:spcPct val="0"/>
              </a:spcBef>
            </a:pPr>
            <a:r>
              <a:rPr lang="en-US" b="true" sz="2000" spc="-40" strike="noStrike" u="none">
                <a:solidFill>
                  <a:srgbClr val="FEFEFE">
                    <a:alpha val="81961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코드를 보려면 IDE를 실행합니다.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15302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command not found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839668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명령어 인식 불가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864034" y="5598734"/>
            <a:ext cx="4606821" cy="54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07"/>
              </a:lnSpc>
              <a:spcBef>
                <a:spcPct val="0"/>
              </a:spcBef>
            </a:pPr>
            <a:r>
              <a:rPr lang="en-US" b="true" sz="2799" spc="-97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두 앱 혼동</a:t>
            </a:r>
          </a:p>
        </p:txBody>
      </p:sp>
      <p:sp>
        <p:nvSpPr>
          <p:cNvPr name="AutoShape 36" id="36"/>
          <p:cNvSpPr/>
          <p:nvPr/>
        </p:nvSpPr>
        <p:spPr>
          <a:xfrm>
            <a:off x="2037627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7061993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12086359" y="6457826"/>
            <a:ext cx="4162171" cy="0"/>
          </a:xfrm>
          <a:prstGeom prst="line">
            <a:avLst/>
          </a:prstGeom>
          <a:ln cap="rnd" w="9525">
            <a:solidFill>
              <a:srgbClr val="FEFE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9" id="39"/>
          <p:cNvSpPr txBox="true"/>
          <p:nvPr/>
        </p:nvSpPr>
        <p:spPr>
          <a:xfrm rot="0">
            <a:off x="2893526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문제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947534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문제 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939267" y="5218788"/>
            <a:ext cx="2483896" cy="189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27"/>
              </a:lnSpc>
              <a:spcBef>
                <a:spcPct val="0"/>
              </a:spcBef>
            </a:pPr>
            <a:r>
              <a:rPr lang="en-US" b="true" sz="1599" spc="95" strike="noStrike" u="none">
                <a:solidFill>
                  <a:srgbClr val="FEFEFE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문제 03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3173163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3" y="0"/>
                </a:lnTo>
                <a:lnTo>
                  <a:pt x="180073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8233976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3" y="0"/>
                </a:lnTo>
                <a:lnTo>
                  <a:pt x="180073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13207771" y="5212756"/>
            <a:ext cx="180073" cy="137305"/>
          </a:xfrm>
          <a:custGeom>
            <a:avLst/>
            <a:gdLst/>
            <a:ahLst/>
            <a:cxnLst/>
            <a:rect r="r" b="b" t="t" l="l"/>
            <a:pathLst>
              <a:path h="137305" w="180073">
                <a:moveTo>
                  <a:pt x="0" y="0"/>
                </a:moveTo>
                <a:lnTo>
                  <a:pt x="180072" y="0"/>
                </a:lnTo>
                <a:lnTo>
                  <a:pt x="180072" y="137305"/>
                </a:lnTo>
                <a:lnTo>
                  <a:pt x="0" y="1373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- 41 -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오늘 배운 것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2944444" y="3048665"/>
            <a:ext cx="1906863" cy="1756697"/>
          </a:xfrm>
          <a:custGeom>
            <a:avLst/>
            <a:gdLst/>
            <a:ahLst/>
            <a:cxnLst/>
            <a:rect r="r" b="b" t="t" l="l"/>
            <a:pathLst>
              <a:path h="1756697" w="1906863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176076" y="3176873"/>
            <a:ext cx="1935847" cy="1500282"/>
          </a:xfrm>
          <a:custGeom>
            <a:avLst/>
            <a:gdLst/>
            <a:ahLst/>
            <a:cxnLst/>
            <a:rect r="r" b="b" t="t" l="l"/>
            <a:pathLst>
              <a:path h="1500282" w="1935847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80283" y="3112769"/>
            <a:ext cx="1638732" cy="1628490"/>
          </a:xfrm>
          <a:custGeom>
            <a:avLst/>
            <a:gdLst/>
            <a:ahLst/>
            <a:cxnLst/>
            <a:rect r="r" b="b" t="t" l="l"/>
            <a:pathLst>
              <a:path h="1628490" w="1638732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845660" y="5336790"/>
            <a:ext cx="4104431" cy="3031802"/>
            <a:chOff x="0" y="0"/>
            <a:chExt cx="5472575" cy="4042402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326998" y="2375527"/>
              <a:ext cx="4818580" cy="1666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원하는 것을 설명하고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AI가 만든 결과를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확인하는 것!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바이브코딩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== 말로 코딩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091784" y="5336790"/>
            <a:ext cx="4104431" cy="3031802"/>
            <a:chOff x="0" y="0"/>
            <a:chExt cx="5472575" cy="404240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275465" y="2375527"/>
              <a:ext cx="4921645" cy="1666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작업은 2.0에서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검토는 IDE에서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같은 폴더를 열기!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Antigravity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2.0 + IDE</a:t>
              </a:r>
            </a:p>
          </p:txBody>
        </p:sp>
        <p:sp>
          <p:nvSpPr>
            <p:cNvPr name="Freeform 28" id="28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347433" y="5336790"/>
            <a:ext cx="4104431" cy="3031802"/>
            <a:chOff x="0" y="0"/>
            <a:chExt cx="5472575" cy="404240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344175" y="2375527"/>
              <a:ext cx="4784225" cy="1666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구체적으로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한 번에 하나씩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확인하고 고치기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프롬프트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3원칙</a:t>
              </a:r>
            </a:p>
          </p:txBody>
        </p:sp>
        <p:sp>
          <p:nvSpPr>
            <p:cNvPr name="Freeform 32" id="32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- 42 -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AI와 소통하는 문서 형식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준비물: 오늘 셋팅한 노트북 하나면 OK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수업 후 해크닉 🧺🍱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7042754" cy="547878"/>
            <a:chOff x="0" y="0"/>
            <a:chExt cx="9390339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8890000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Markdown 이해와 실습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다음 수업 예고: 2차시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Markdown 언어란?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기본 문법 실습 (# 제목, - 목록, **굵게**)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Markdown vs HTML, 뭐가 더 나을까?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- 43 -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698836" y="2898323"/>
            <a:ext cx="8207164" cy="5701057"/>
            <a:chOff x="0" y="0"/>
            <a:chExt cx="1170096" cy="812800"/>
          </a:xfrm>
        </p:grpSpPr>
        <p:sp>
          <p:nvSpPr>
            <p:cNvPr name="Freeform 34" id="34" descr="기호가 들어간 원문이 예쁜 문서로 바뀌는 Markdown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9"/>
              <a:stretch>
                <a:fillRect l="0" t="-3714" r="0" b="-3714"/>
              </a:stretch>
            </a:blip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</a:pPr>
            <a:r>
              <a:rPr lang="en-US" b="true" sz="5000" spc="-100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질문과 답변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432477" y="5801544"/>
            <a:ext cx="11423046" cy="709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궁금한 점, 무엇이든 물어보세요!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32477" y="6600042"/>
            <a:ext cx="11423046" cy="709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수업 후에는 단톡방에서도 OK</a:t>
            </a:r>
          </a:p>
        </p:txBody>
      </p:sp>
      <p:sp>
        <p:nvSpPr>
          <p:cNvPr name="Freeform 19" id="19"/>
          <p:cNvSpPr/>
          <p:nvPr/>
        </p:nvSpPr>
        <p:spPr>
          <a:xfrm flipH="true" flipV="false" rot="0">
            <a:off x="7153634" y="3343132"/>
            <a:ext cx="2003592" cy="1570315"/>
          </a:xfrm>
          <a:custGeom>
            <a:avLst/>
            <a:gdLst/>
            <a:ahLst/>
            <a:cxnLst/>
            <a:rect r="r" b="b" t="t" l="l"/>
            <a:pathLst>
              <a:path h="1570315" w="2003592">
                <a:moveTo>
                  <a:pt x="2003593" y="0"/>
                </a:moveTo>
                <a:lnTo>
                  <a:pt x="0" y="0"/>
                </a:lnTo>
                <a:lnTo>
                  <a:pt x="0" y="1570316"/>
                </a:lnTo>
                <a:lnTo>
                  <a:pt x="2003593" y="1570316"/>
                </a:lnTo>
                <a:lnTo>
                  <a:pt x="2003593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9133758" y="3914364"/>
            <a:ext cx="2003592" cy="1570315"/>
          </a:xfrm>
          <a:custGeom>
            <a:avLst/>
            <a:gdLst/>
            <a:ahLst/>
            <a:cxnLst/>
            <a:rect r="r" b="b" t="t" l="l"/>
            <a:pathLst>
              <a:path h="1570315" w="2003592">
                <a:moveTo>
                  <a:pt x="0" y="0"/>
                </a:moveTo>
                <a:lnTo>
                  <a:pt x="2003592" y="0"/>
                </a:lnTo>
                <a:lnTo>
                  <a:pt x="2003592" y="1570315"/>
                </a:lnTo>
                <a:lnTo>
                  <a:pt x="0" y="15703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7291556" y="3386575"/>
            <a:ext cx="1727750" cy="1143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41"/>
              </a:lnSpc>
            </a:pPr>
            <a:r>
              <a:rPr lang="en-US" b="true" sz="6701" spc="-341">
                <a:solidFill>
                  <a:srgbClr val="FDFDFB"/>
                </a:solidFill>
                <a:latin typeface="DIN Next Bold"/>
                <a:ea typeface="DIN Next Bold"/>
                <a:cs typeface="DIN Next Bold"/>
                <a:sym typeface="DIN Next Bold"/>
              </a:rPr>
              <a:t>Q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71679" y="3957807"/>
            <a:ext cx="1727750" cy="1143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41"/>
              </a:lnSpc>
            </a:pPr>
            <a:r>
              <a:rPr lang="en-US" b="true" sz="6701" spc="-341">
                <a:solidFill>
                  <a:srgbClr val="FDFDFB"/>
                </a:solidFill>
                <a:latin typeface="DIN Next Bold"/>
                <a:ea typeface="DIN Next Bold"/>
                <a:cs typeface="DIN Next Bold"/>
                <a:sym typeface="DIN Next Bold"/>
              </a:rPr>
              <a:t>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408845" y="7574259"/>
            <a:ext cx="7496762" cy="593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셋팅이 아직 안 끝났다면 Antigravity 2.0과 IDE만 먼저 끝내 주세요.</a:t>
            </a:r>
          </a:p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에러 화면은 캡처해서 단톡방에 올려 주면 함께 해결합니다!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377195" y="3075893"/>
            <a:ext cx="14882105" cy="1543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93"/>
              </a:lnSpc>
            </a:pPr>
            <a:r>
              <a:rPr lang="en-US" b="true" sz="9601">
                <a:solidFill>
                  <a:srgbClr val="000000"/>
                </a:solidFill>
                <a:latin typeface="프리젠테이션 Ultra-Bold"/>
                <a:ea typeface="프리젠테이션 Ultra-Bold"/>
                <a:cs typeface="프리젠테이션 Ultra-Bold"/>
                <a:sym typeface="프리젠테이션 Ultra-Bold"/>
              </a:rPr>
              <a:t>THANK YOU!!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5160276"/>
            <a:ext cx="10520872" cy="380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79"/>
              </a:lnSpc>
              <a:spcBef>
                <a:spcPct val="0"/>
              </a:spcBef>
            </a:pPr>
            <a:r>
              <a:rPr lang="en-US" b="true" sz="1999" spc="-19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오늘 만든 자기소개 페이지, 단톡방에 공유해 주세요!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4572020"/>
            <a:ext cx="7287980" cy="587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715"/>
              </a:lnSpc>
              <a:spcBef>
                <a:spcPct val="0"/>
              </a:spcBef>
            </a:pPr>
            <a:r>
              <a:rPr lang="en-US" b="true" sz="3599" spc="-147" strike="noStrike" u="none">
                <a:solidFill>
                  <a:srgbClr val="5170FF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2차시에 만나요~!</a:t>
            </a:r>
          </a:p>
        </p:txBody>
      </p:sp>
      <p:sp>
        <p:nvSpPr>
          <p:cNvPr name="AutoShape 20" id="20"/>
          <p:cNvSpPr/>
          <p:nvPr/>
        </p:nvSpPr>
        <p:spPr>
          <a:xfrm flipH="true" flipV="true">
            <a:off x="4803882" y="6372794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2377195" y="6327216"/>
            <a:ext cx="2421924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19"/>
              </a:lnSpc>
              <a:spcBef>
                <a:spcPct val="0"/>
              </a:spcBef>
            </a:pPr>
            <a:r>
              <a:rPr lang="en-US" b="true" sz="1999" spc="-79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1999" spc="-79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275369" y="6427467"/>
            <a:ext cx="5819862" cy="246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59"/>
              </a:lnSpc>
              <a:spcBef>
                <a:spcPct val="0"/>
              </a:spcBef>
            </a:pPr>
            <a:r>
              <a:rPr lang="en-US" b="true" sz="1999" spc="33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 / zintn11@gmail.com</a:t>
            </a:r>
          </a:p>
        </p:txBody>
      </p:sp>
      <p:sp>
        <p:nvSpPr>
          <p:cNvPr name="AutoShape 23" id="23"/>
          <p:cNvSpPr/>
          <p:nvPr/>
        </p:nvSpPr>
        <p:spPr>
          <a:xfrm flipV="true">
            <a:off x="2377195" y="5933484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DAHWRvzFDgY</dc:identifier>
  <dcterms:modified xsi:type="dcterms:W3CDTF">2011-08-01T06:04:30Z</dcterms:modified>
  <cp:revision>1</cp:revision>
  <dc:title>[VibeCoding] 1차시 강의 자료</dc:title>
</cp:coreProperties>
</file>